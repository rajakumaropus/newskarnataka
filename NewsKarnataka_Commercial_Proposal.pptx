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346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FFFFFF"/>
                </a:solidFill>
              </a:defRPr>
            </a:pPr>
            <a:r>
              <a:t>NewsKarnataka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E67E22"/>
                </a:solidFill>
              </a:defRPr>
            </a:pPr>
            <a:r>
              <a:t>Commercial Proposal - Digital Content Management System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9346B"/>
          </a:solidFill>
          <a:ln>
            <a:solidFill>
              <a:srgbClr val="1934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spcAft>
                <a:spcPts val="800"/>
              </a:spcAft>
              <a:defRPr sz="4000" b="1">
                <a:solidFill>
                  <a:srgbClr val="FFFFFF"/>
                </a:solidFill>
              </a:defRPr>
            </a:pPr>
            <a:r>
              <a:t>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7772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33333"/>
                </a:solidFill>
              </a:defRPr>
            </a:pPr>
            <a:r>
              <a:t>• Multi-language news content management platform (English, Kannada, Telugu)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33333"/>
                </a:solidFill>
              </a:defRPr>
            </a:pPr>
            <a:r>
              <a:t>• WordPress migration and integration for seamless content transition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33333"/>
                </a:solidFill>
              </a:defRPr>
            </a:pPr>
            <a:r>
              <a:t>• Full-featured customer mobile &amp; web application for content consumption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33333"/>
                </a:solidFill>
              </a:defRPr>
            </a:pPr>
            <a:r>
              <a:t>• AI-enabled authoring and moderation console for content management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33333"/>
                </a:solidFill>
              </a:defRPr>
            </a:pPr>
            <a:r>
              <a:t>• PostgreSQL database with 32 tables, RBAC security, and full-text search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9346B"/>
          </a:solidFill>
          <a:ln>
            <a:solidFill>
              <a:srgbClr val="1934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spcAft>
                <a:spcPts val="800"/>
              </a:spcAft>
              <a:defRPr sz="4000" b="1">
                <a:solidFill>
                  <a:srgbClr val="FFFFFF"/>
                </a:solidFill>
              </a:defRPr>
            </a:pPr>
            <a:r>
              <a:t>Key Deliverables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7772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33333"/>
                </a:solidFill>
              </a:defRPr>
            </a:pPr>
            <a:r>
              <a:t>✓ Customer Application (Web &amp; Mobile) - React frontend with intuitive UI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33333"/>
                </a:solidFill>
              </a:defRPr>
            </a:pPr>
            <a:r>
              <a:t>✓ Backend API System - Strapi CMS with full REST/GraphQL support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33333"/>
                </a:solidFill>
              </a:defRPr>
            </a:pPr>
            <a:r>
              <a:t>✓ AI Authoring Console - AI-powered content creation and editing tools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33333"/>
                </a:solidFill>
              </a:defRPr>
            </a:pPr>
            <a:r>
              <a:t>✓ Moderation System - Intelligent content moderation with AI assistance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33333"/>
                </a:solidFill>
              </a:defRPr>
            </a:pPr>
            <a:r>
              <a:t>✓ Multi-language Support - Content in EN, KN, TU with full-text search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33333"/>
                </a:solidFill>
              </a:defRPr>
            </a:pPr>
            <a:r>
              <a:t>✓ Analytics &amp; Reporting - Usage analytics, engagement metrics, audit logs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9346B"/>
          </a:solidFill>
          <a:ln>
            <a:solidFill>
              <a:srgbClr val="1934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  <a:spcAft>
                <a:spcPts val="800"/>
              </a:spcAft>
              <a:defRPr sz="4000" b="1">
                <a:solidFill>
                  <a:srgbClr val="FFFFFF"/>
                </a:solidFill>
              </a:defRPr>
            </a:pPr>
            <a:r>
              <a:t>Project Scope &amp; Timeline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4114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Customer App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AI Console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Backend APIs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Database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Deployment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Documentation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097280"/>
            <a:ext cx="39319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600" b="1">
                <a:solidFill>
                  <a:srgbClr val="E67E22"/>
                </a:solidFill>
              </a:defRPr>
            </a:pPr>
            <a:r>
              <a:t>Timeline: 16 Weeks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 b="0">
                <a:solidFill>
                  <a:srgbClr val="333333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400" b="0">
                <a:solidFill>
                  <a:srgbClr val="333333"/>
                </a:solidFill>
              </a:defRPr>
            </a:pPr>
            <a:r>
              <a:t>Week 1-2: Setup &amp; Planning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 b="0">
                <a:solidFill>
                  <a:srgbClr val="333333"/>
                </a:solidFill>
              </a:defRPr>
            </a:pPr>
            <a:r>
              <a:t>Week 3-8: Development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 b="0">
                <a:solidFill>
                  <a:srgbClr val="333333"/>
                </a:solidFill>
              </a:defRPr>
            </a:pPr>
            <a:r>
              <a:t>Week 9-14: Testing &amp; AI Integration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 b="0">
                <a:solidFill>
                  <a:srgbClr val="333333"/>
                </a:solidFill>
              </a:defRPr>
            </a:pPr>
            <a:r>
              <a:t>Week 15-16: Deployment &amp; Handover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346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Investment &amp; Payment Terms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685800"/>
          </a:xfrm>
          <a:prstGeom prst="rect">
            <a:avLst/>
          </a:prstGeom>
          <a:solidFill>
            <a:srgbClr val="E67E22"/>
          </a:solidFill>
          <a:ln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  <a:defRPr sz="2400" b="1">
                <a:solidFill>
                  <a:srgbClr val="FFFFFF"/>
                </a:solidFill>
              </a:defRPr>
            </a:pPr>
            <a:r>
              <a:t>Total Project Cost: ₹20,00,000 + 18% GST (Total: ₹23,60,000)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Payment Schedule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286000"/>
            <a:ext cx="2651760" cy="2560320"/>
          </a:xfrm>
          <a:prstGeom prst="rect">
            <a:avLst/>
          </a:prstGeom>
          <a:solidFill>
            <a:srgbClr val="FFFFFF"/>
          </a:solidFill>
          <a:ln w="254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2377440"/>
            <a:ext cx="23774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400"/>
              </a:spcBef>
              <a:spcAft>
                <a:spcPts val="400"/>
              </a:spcAft>
              <a:defRPr sz="3200" b="1">
                <a:solidFill>
                  <a:srgbClr val="E67E22"/>
                </a:solidFill>
              </a:defRPr>
            </a:pPr>
            <a:r>
              <a:t>50%</a:t>
            </a:r>
          </a:p>
          <a:p>
            <a:pPr algn="ctr">
              <a:spcBef>
                <a:spcPts val="400"/>
              </a:spcBef>
              <a:spcAft>
                <a:spcPts val="400"/>
              </a:spcAft>
              <a:defRPr sz="1600" b="1">
                <a:solidFill>
                  <a:srgbClr val="333333"/>
                </a:solidFill>
              </a:defRPr>
            </a:pPr>
            <a:r>
              <a:t>On PO</a:t>
            </a:r>
          </a:p>
          <a:p>
            <a:pPr algn="ctr">
              <a:spcBef>
                <a:spcPts val="400"/>
              </a:spcBef>
              <a:spcAft>
                <a:spcPts val="400"/>
              </a:spcAft>
              <a:defRPr sz="800"/>
            </a:pPr>
          </a:p>
          <a:p>
            <a:pPr algn="ctr">
              <a:spcBef>
                <a:spcPts val="400"/>
              </a:spcBef>
              <a:spcAft>
                <a:spcPts val="400"/>
              </a:spcAft>
              <a:defRPr sz="1800" b="1">
                <a:solidFill>
                  <a:srgbClr val="19346B"/>
                </a:solidFill>
              </a:defRPr>
            </a:pPr>
            <a:r>
              <a:t>₹10,00,000</a:t>
            </a:r>
          </a:p>
        </p:txBody>
      </p:sp>
      <p:sp>
        <p:nvSpPr>
          <p:cNvPr id="7" name="Rectangle 6"/>
          <p:cNvSpPr/>
          <p:nvPr/>
        </p:nvSpPr>
        <p:spPr>
          <a:xfrm>
            <a:off x="3246120" y="2286000"/>
            <a:ext cx="2651760" cy="2560320"/>
          </a:xfrm>
          <a:prstGeom prst="rect">
            <a:avLst/>
          </a:prstGeom>
          <a:solidFill>
            <a:srgbClr val="FFFFFF"/>
          </a:solidFill>
          <a:ln w="254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83280" y="2377440"/>
            <a:ext cx="23774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400"/>
              </a:spcBef>
              <a:spcAft>
                <a:spcPts val="400"/>
              </a:spcAft>
              <a:defRPr sz="3200" b="1">
                <a:solidFill>
                  <a:srgbClr val="E67E22"/>
                </a:solidFill>
              </a:defRPr>
            </a:pPr>
            <a:r>
              <a:t>30%</a:t>
            </a:r>
          </a:p>
          <a:p>
            <a:pPr algn="ctr">
              <a:spcBef>
                <a:spcPts val="400"/>
              </a:spcBef>
              <a:spcAft>
                <a:spcPts val="400"/>
              </a:spcAft>
              <a:defRPr sz="1600" b="1">
                <a:solidFill>
                  <a:srgbClr val="333333"/>
                </a:solidFill>
              </a:defRPr>
            </a:pPr>
            <a:r>
              <a:t>On UAT</a:t>
            </a:r>
          </a:p>
          <a:p>
            <a:pPr algn="ctr">
              <a:spcBef>
                <a:spcPts val="400"/>
              </a:spcBef>
              <a:spcAft>
                <a:spcPts val="400"/>
              </a:spcAft>
              <a:defRPr sz="800"/>
            </a:pPr>
          </a:p>
          <a:p>
            <a:pPr algn="ctr">
              <a:spcBef>
                <a:spcPts val="400"/>
              </a:spcBef>
              <a:spcAft>
                <a:spcPts val="400"/>
              </a:spcAft>
              <a:defRPr sz="1800" b="1">
                <a:solidFill>
                  <a:srgbClr val="19346B"/>
                </a:solidFill>
              </a:defRPr>
            </a:pPr>
            <a:r>
              <a:t>₹6,00,000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5040" y="2286000"/>
            <a:ext cx="2651760" cy="2560320"/>
          </a:xfrm>
          <a:prstGeom prst="rect">
            <a:avLst/>
          </a:prstGeom>
          <a:solidFill>
            <a:srgbClr val="FFFFFF"/>
          </a:solidFill>
          <a:ln w="254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72200" y="2377440"/>
            <a:ext cx="23774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400"/>
              </a:spcBef>
              <a:spcAft>
                <a:spcPts val="400"/>
              </a:spcAft>
              <a:defRPr sz="3200" b="1">
                <a:solidFill>
                  <a:srgbClr val="E67E22"/>
                </a:solidFill>
              </a:defRPr>
            </a:pPr>
            <a:r>
              <a:t>20%</a:t>
            </a:r>
          </a:p>
          <a:p>
            <a:pPr algn="ctr">
              <a:spcBef>
                <a:spcPts val="400"/>
              </a:spcBef>
              <a:spcAft>
                <a:spcPts val="400"/>
              </a:spcAft>
              <a:defRPr sz="1600" b="1">
                <a:solidFill>
                  <a:srgbClr val="333333"/>
                </a:solidFill>
              </a:defRPr>
            </a:pPr>
            <a:r>
              <a:t>On Go Live</a:t>
            </a:r>
          </a:p>
          <a:p>
            <a:pPr algn="ctr">
              <a:spcBef>
                <a:spcPts val="400"/>
              </a:spcBef>
              <a:spcAft>
                <a:spcPts val="400"/>
              </a:spcAft>
              <a:defRPr sz="800"/>
            </a:pPr>
          </a:p>
          <a:p>
            <a:pPr algn="ctr">
              <a:spcBef>
                <a:spcPts val="400"/>
              </a:spcBef>
              <a:spcAft>
                <a:spcPts val="400"/>
              </a:spcAft>
              <a:defRPr sz="1800" b="1">
                <a:solidFill>
                  <a:srgbClr val="19346B"/>
                </a:solidFill>
              </a:defRPr>
            </a:pPr>
            <a:r>
              <a:t>₹4,00,000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