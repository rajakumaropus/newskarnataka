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7"/>
    <p:restoredTop sz="94610"/>
  </p:normalViewPr>
  <p:slideViewPr>
    <p:cSldViewPr snapToGrid="0" snapToObjects="1">
      <p:cViewPr varScale="1">
        <p:scale>
          <a:sx n="124" d="100"/>
          <a:sy n="124" d="100"/>
        </p:scale>
        <p:origin x="20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F1E3D"/>
                </a:solidFill>
                <a:latin typeface="Calibri"/>
              </a:defRPr>
            </a:pPr>
            <a:r>
              <a:rPr lang="en-US" sz="1200" b="0" i="0" u="none" strike="noStrike">
                <a:solidFill>
                  <a:srgbClr val="0F1E3D"/>
                </a:solidFill>
                <a:latin typeface="Calibri"/>
              </a:rPr>
              <a:t>Monthly revenue mix (</a:t>
            </a:r>
            <a:r>
              <a:rPr lang="en-AE" sz="1200" b="0" i="0" u="none" strike="noStrike">
                <a:solidFill>
                  <a:srgbClr val="0F1E3D"/>
                </a:solidFill>
                <a:latin typeface="Calibri"/>
              </a:rPr>
              <a:t>₹ '000, </a:t>
            </a:r>
            <a:r>
              <a:rPr lang="en-US" sz="1200" b="0" i="0" u="none" strike="noStrike">
                <a:solidFill>
                  <a:srgbClr val="0F1E3D"/>
                </a:solidFill>
                <a:latin typeface="Calibri"/>
              </a:rPr>
              <a:t>illustrative)</a:t>
            </a:r>
          </a:p>
        </c:rich>
      </c:tx>
      <c:overlay val="0"/>
    </c:title>
    <c:autoTitleDeleted val="0"/>
    <c:plotArea>
      <c:layout/>
      <c:barChart>
        <c:barDir val="col"/>
        <c:grouping val="stacked"/>
        <c:varyColors val="0"/>
        <c:ser>
          <c:idx val="0"/>
          <c:order val="0"/>
          <c:tx>
            <c:strRef>
              <c:f>Sheet1!$B$1</c:f>
              <c:strCache>
                <c:ptCount val="1"/>
                <c:pt idx="0">
                  <c:v>Advertising</c:v>
                </c:pt>
              </c:strCache>
            </c:strRef>
          </c:tx>
          <c:spPr>
            <a:solidFill>
              <a:srgbClr val="C8102E"/>
            </a:solidFill>
            <a:ln w="9525" cap="flat">
              <a:solidFill>
                <a:srgbClr val="FFFFFF"/>
              </a:solidFill>
              <a:prstDash val="solid"/>
              <a:round/>
            </a:ln>
            <a:effectLst/>
          </c:spPr>
          <c:invertIfNegative val="0"/>
          <c:cat>
            <c:strRef>
              <c:f>Sheet1!$A$2:$A$13</c:f>
              <c:strCache>
                <c:ptCount val="12"/>
                <c:pt idx="0">
                  <c:v>M1</c:v>
                </c:pt>
                <c:pt idx="1">
                  <c:v>M2</c:v>
                </c:pt>
                <c:pt idx="2">
                  <c:v>M3</c:v>
                </c:pt>
                <c:pt idx="3">
                  <c:v>M4</c:v>
                </c:pt>
                <c:pt idx="4">
                  <c:v>M5</c:v>
                </c:pt>
                <c:pt idx="5">
                  <c:v>M6</c:v>
                </c:pt>
                <c:pt idx="6">
                  <c:v>M7</c:v>
                </c:pt>
                <c:pt idx="7">
                  <c:v>M8</c:v>
                </c:pt>
                <c:pt idx="8">
                  <c:v>M9</c:v>
                </c:pt>
                <c:pt idx="9">
                  <c:v>M10</c:v>
                </c:pt>
                <c:pt idx="10">
                  <c:v>M11</c:v>
                </c:pt>
                <c:pt idx="11">
                  <c:v>M12</c:v>
                </c:pt>
              </c:strCache>
            </c:strRef>
          </c:cat>
          <c:val>
            <c:numRef>
              <c:f>Sheet1!$B$2:$B$13</c:f>
              <c:numCache>
                <c:formatCode>General</c:formatCode>
                <c:ptCount val="12"/>
                <c:pt idx="0">
                  <c:v>8</c:v>
                </c:pt>
                <c:pt idx="1">
                  <c:v>14</c:v>
                </c:pt>
                <c:pt idx="2">
                  <c:v>22</c:v>
                </c:pt>
                <c:pt idx="3">
                  <c:v>30</c:v>
                </c:pt>
                <c:pt idx="4">
                  <c:v>38</c:v>
                </c:pt>
                <c:pt idx="5">
                  <c:v>46</c:v>
                </c:pt>
                <c:pt idx="6">
                  <c:v>55</c:v>
                </c:pt>
                <c:pt idx="7">
                  <c:v>64</c:v>
                </c:pt>
                <c:pt idx="8">
                  <c:v>72</c:v>
                </c:pt>
                <c:pt idx="9">
                  <c:v>80</c:v>
                </c:pt>
                <c:pt idx="10">
                  <c:v>88</c:v>
                </c:pt>
                <c:pt idx="11">
                  <c:v>96</c:v>
                </c:pt>
              </c:numCache>
            </c:numRef>
          </c:val>
          <c:extLst>
            <c:ext xmlns:c16="http://schemas.microsoft.com/office/drawing/2014/chart" uri="{C3380CC4-5D6E-409C-BE32-E72D297353CC}">
              <c16:uniqueId val="{00000000-74A3-8C45-966B-C906E301378D}"/>
            </c:ext>
          </c:extLst>
        </c:ser>
        <c:ser>
          <c:idx val="1"/>
          <c:order val="1"/>
          <c:tx>
            <c:strRef>
              <c:f>Sheet1!$C$1</c:f>
              <c:strCache>
                <c:ptCount val="1"/>
                <c:pt idx="0">
                  <c:v>Subscriptions</c:v>
                </c:pt>
              </c:strCache>
            </c:strRef>
          </c:tx>
          <c:spPr>
            <a:solidFill>
              <a:srgbClr val="0F1E3D"/>
            </a:solidFill>
            <a:ln w="9525" cap="flat">
              <a:solidFill>
                <a:srgbClr val="FFFFFF"/>
              </a:solidFill>
              <a:prstDash val="solid"/>
              <a:round/>
            </a:ln>
            <a:effectLst/>
          </c:spPr>
          <c:invertIfNegative val="0"/>
          <c:cat>
            <c:strRef>
              <c:f>Sheet1!$A$2:$A$13</c:f>
              <c:strCache>
                <c:ptCount val="12"/>
                <c:pt idx="0">
                  <c:v>M1</c:v>
                </c:pt>
                <c:pt idx="1">
                  <c:v>M2</c:v>
                </c:pt>
                <c:pt idx="2">
                  <c:v>M3</c:v>
                </c:pt>
                <c:pt idx="3">
                  <c:v>M4</c:v>
                </c:pt>
                <c:pt idx="4">
                  <c:v>M5</c:v>
                </c:pt>
                <c:pt idx="5">
                  <c:v>M6</c:v>
                </c:pt>
                <c:pt idx="6">
                  <c:v>M7</c:v>
                </c:pt>
                <c:pt idx="7">
                  <c:v>M8</c:v>
                </c:pt>
                <c:pt idx="8">
                  <c:v>M9</c:v>
                </c:pt>
                <c:pt idx="9">
                  <c:v>M10</c:v>
                </c:pt>
                <c:pt idx="10">
                  <c:v>M11</c:v>
                </c:pt>
                <c:pt idx="11">
                  <c:v>M12</c:v>
                </c:pt>
              </c:strCache>
            </c:strRef>
          </c:cat>
          <c:val>
            <c:numRef>
              <c:f>Sheet1!$C$2:$C$13</c:f>
              <c:numCache>
                <c:formatCode>General</c:formatCode>
                <c:ptCount val="12"/>
                <c:pt idx="0">
                  <c:v>2</c:v>
                </c:pt>
                <c:pt idx="1">
                  <c:v>6</c:v>
                </c:pt>
                <c:pt idx="2">
                  <c:v>12</c:v>
                </c:pt>
                <c:pt idx="3">
                  <c:v>18</c:v>
                </c:pt>
                <c:pt idx="4">
                  <c:v>25</c:v>
                </c:pt>
                <c:pt idx="5">
                  <c:v>32</c:v>
                </c:pt>
                <c:pt idx="6">
                  <c:v>40</c:v>
                </c:pt>
                <c:pt idx="7">
                  <c:v>47</c:v>
                </c:pt>
                <c:pt idx="8">
                  <c:v>54</c:v>
                </c:pt>
                <c:pt idx="9">
                  <c:v>61</c:v>
                </c:pt>
                <c:pt idx="10">
                  <c:v>68</c:v>
                </c:pt>
                <c:pt idx="11">
                  <c:v>75</c:v>
                </c:pt>
              </c:numCache>
            </c:numRef>
          </c:val>
          <c:extLst>
            <c:ext xmlns:c16="http://schemas.microsoft.com/office/drawing/2014/chart" uri="{C3380CC4-5D6E-409C-BE32-E72D297353CC}">
              <c16:uniqueId val="{00000001-74A3-8C45-966B-C906E301378D}"/>
            </c:ext>
          </c:extLst>
        </c:ser>
        <c:ser>
          <c:idx val="2"/>
          <c:order val="2"/>
          <c:tx>
            <c:strRef>
              <c:f>Sheet1!$D$1</c:f>
              <c:strCache>
                <c:ptCount val="1"/>
                <c:pt idx="0">
                  <c:v>Classifieds &amp; real estate</c:v>
                </c:pt>
              </c:strCache>
            </c:strRef>
          </c:tx>
          <c:spPr>
            <a:solidFill>
              <a:srgbClr val="F0A81C"/>
            </a:solidFill>
            <a:ln w="9525" cap="flat">
              <a:solidFill>
                <a:srgbClr val="FFFFFF"/>
              </a:solidFill>
              <a:prstDash val="solid"/>
              <a:round/>
            </a:ln>
            <a:effectLst/>
          </c:spPr>
          <c:invertIfNegative val="0"/>
          <c:cat>
            <c:strRef>
              <c:f>Sheet1!$A$2:$A$13</c:f>
              <c:strCache>
                <c:ptCount val="12"/>
                <c:pt idx="0">
                  <c:v>M1</c:v>
                </c:pt>
                <c:pt idx="1">
                  <c:v>M2</c:v>
                </c:pt>
                <c:pt idx="2">
                  <c:v>M3</c:v>
                </c:pt>
                <c:pt idx="3">
                  <c:v>M4</c:v>
                </c:pt>
                <c:pt idx="4">
                  <c:v>M5</c:v>
                </c:pt>
                <c:pt idx="5">
                  <c:v>M6</c:v>
                </c:pt>
                <c:pt idx="6">
                  <c:v>M7</c:v>
                </c:pt>
                <c:pt idx="7">
                  <c:v>M8</c:v>
                </c:pt>
                <c:pt idx="8">
                  <c:v>M9</c:v>
                </c:pt>
                <c:pt idx="9">
                  <c:v>M10</c:v>
                </c:pt>
                <c:pt idx="10">
                  <c:v>M11</c:v>
                </c:pt>
                <c:pt idx="11">
                  <c:v>M12</c:v>
                </c:pt>
              </c:strCache>
            </c:strRef>
          </c:cat>
          <c:val>
            <c:numRef>
              <c:f>Sheet1!$D$2:$D$13</c:f>
              <c:numCache>
                <c:formatCode>General</c:formatCode>
                <c:ptCount val="12"/>
                <c:pt idx="0">
                  <c:v>0</c:v>
                </c:pt>
                <c:pt idx="1">
                  <c:v>0</c:v>
                </c:pt>
                <c:pt idx="2">
                  <c:v>5</c:v>
                </c:pt>
                <c:pt idx="3">
                  <c:v>10</c:v>
                </c:pt>
                <c:pt idx="4">
                  <c:v>16</c:v>
                </c:pt>
                <c:pt idx="5">
                  <c:v>22</c:v>
                </c:pt>
                <c:pt idx="6">
                  <c:v>28</c:v>
                </c:pt>
                <c:pt idx="7">
                  <c:v>34</c:v>
                </c:pt>
                <c:pt idx="8">
                  <c:v>40</c:v>
                </c:pt>
                <c:pt idx="9">
                  <c:v>46</c:v>
                </c:pt>
                <c:pt idx="10">
                  <c:v>52</c:v>
                </c:pt>
                <c:pt idx="11">
                  <c:v>58</c:v>
                </c:pt>
              </c:numCache>
            </c:numRef>
          </c:val>
          <c:extLst>
            <c:ext xmlns:c16="http://schemas.microsoft.com/office/drawing/2014/chart" uri="{C3380CC4-5D6E-409C-BE32-E72D297353CC}">
              <c16:uniqueId val="{00000002-74A3-8C45-966B-C906E301378D}"/>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77839B"/>
                </a:solidFill>
                <a:latin typeface="Calibri"/>
              </a:defRPr>
            </a:pPr>
            <a:endParaRPr lang="en-AE"/>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F1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77839B"/>
                </a:solidFill>
                <a:latin typeface="Calibri"/>
              </a:defRPr>
            </a:pPr>
            <a:endParaRPr lang="en-AE"/>
          </a:p>
        </c:txPr>
        <c:crossAx val="2094734554"/>
        <c:crosses val="autoZero"/>
        <c:crossBetween val="between"/>
      </c:valAx>
      <c:spPr>
        <a:noFill/>
        <a:ln>
          <a:noFill/>
        </a:ln>
        <a:effectLst/>
      </c:spPr>
    </c:plotArea>
    <c:legend>
      <c:legendPos val="b"/>
      <c:overlay val="0"/>
      <c:txPr>
        <a:bodyPr/>
        <a:lstStyle/>
        <a:p>
          <a:pPr>
            <a:defRPr sz="1000">
              <a:solidFill>
                <a:srgbClr val="4A5568"/>
              </a:solidFill>
            </a:defRPr>
          </a:pPr>
          <a:endParaRPr lang="en-AE"/>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161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Confirm client entity name, logo placement and proposal version before issuing.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 Page numbers match the printed slide numbers in the footer circles.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proposition, not the tech. The four tiles are the headline commitments.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newskarnataka.com home page and About Us, retrieved 03 Sep 2026. Verify readership figures with the client before quoting any.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The market claims here are directional, not cited statistics — replace with client-verified analytics if available.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column is the acceptance test. Agreeing this table up front is what prevents scope disputes in week 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for the rest of Part 02 — each following slide zooms into one column.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weights are a starting point tuned in week 5 against real reading data; editors can override per city.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card matters to an editorial buyer — lead with it if the room is newsroom-heavy rather than commercial.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Mockups are indicative only; week 1 produces the real Figma designs against the News Karnataka brand.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Moderation is the objection you will get from the editorial side. Answer it before it is asked.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'why am I seeing this' control is a differentiator with editorially-minded buyers and helps with DPDP transparency obligations.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did not exist in the earlier draft and is one of the strongest differentiators for this specific client.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early which CMS is in use — it is the single biggest unknown affecting the week 1–2 estimate.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vendor lock-in: the Groq classifier sits behind our own interface and can be swapped for another provider or a self-hosted model without touching the apps.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'alternative considered' column signals engineering judgement rather than fashion — it lands well with technical stakeholders.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that cloud cost is pass-through prevents an awkward conversation in month two.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overclaim legal compliance. The disclaimer at the bottom is deliberate and should stay.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degraded-mode answer is the one that impresses technical buyers. Uptime SLA applies post-launch under AMC.</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classifieds revenue depends on partner sales, not just on software. It protects credibility on the projections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guardrail column reassures the editorial side that monetisation will not wreck the product.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 app stores take 15–30%. Web-first billing where permitted keeps more margin — flag this in commercial discussion.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this chart be quoted as a forecast. Replace the values with client-data-based numbers before issuing the final version.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ambitious but defensible for a publisher with an existing audience to convert. Adjust once the client shares current web traffic.</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gates, four demos. Gate 1 (design sign-off) is the one that most often slips — flag the 3-business-day feedback assumption here.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discovery output determines whether the console replaces or wraps the existing CMS.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store-review risk here, rather than in week 8, is what keeps the client's trust when Apple takes five days.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SLA is the most important line on this slide. It is also your protection if the client's feedback is slow.</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PLACEHOLDERS: replace every ₹ ______ before sending. Effort figures are elapsed weeks per workstream, running in parallel, not additive person-weeks.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AMC is optional and begins after the two weeks of included hypercare; response-time tiers and the enhancement-hour pool are agreed before it starts. Milestone split is 25/25/25/25 — a change from the earlier draft's 50% advance, which is a hard sell and weakens your position at gate 1.</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risk slide raises credibility rather than lowering it. Walk through the top two and move 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Cross-references to pages 6 and 21 tie acceptance back to the objectives table — no ambiguity at sign-off.</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pause-at-gate commitment is commercially acceptable to you before issuing. It is a strong closer but it is a real obligation.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The bottom bar converts a nod in the room into four concrete client actions.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Fill in the phone number and confirm the three asks before issuing.</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9.png"/><Relationship Id="rId4" Type="http://schemas.openxmlformats.org/officeDocument/2006/relationships/image" Target="../media/image27.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9.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3.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0.png"/><Relationship Id="rId4" Type="http://schemas.openxmlformats.org/officeDocument/2006/relationships/image" Target="../media/image37.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2.png"/><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2.png"/><Relationship Id="rId7"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9.png"/><Relationship Id="rId7"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3.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8.png"/><Relationship Id="rId3" Type="http://schemas.openxmlformats.org/officeDocument/2006/relationships/image" Target="../media/image55.png"/><Relationship Id="rId7" Type="http://schemas.openxmlformats.org/officeDocument/2006/relationships/image" Target="../media/image27.png"/><Relationship Id="rId12"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7.png"/><Relationship Id="rId11" Type="http://schemas.openxmlformats.org/officeDocument/2006/relationships/image" Target="../media/image4.png"/><Relationship Id="rId5" Type="http://schemas.openxmlformats.org/officeDocument/2006/relationships/image" Target="../media/image56.png"/><Relationship Id="rId10" Type="http://schemas.openxmlformats.org/officeDocument/2006/relationships/image" Target="../media/image3.png"/><Relationship Id="rId4" Type="http://schemas.openxmlformats.org/officeDocument/2006/relationships/image" Target="../media/image10.png"/><Relationship Id="rId9" Type="http://schemas.openxmlformats.org/officeDocument/2006/relationships/image" Target="../media/image41.png"/><Relationship Id="rId14" Type="http://schemas.openxmlformats.org/officeDocument/2006/relationships/image" Target="../media/image5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0.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0.png"/><Relationship Id="rId7"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5.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66.pn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58368" y="658368"/>
            <a:ext cx="4572000" cy="237744"/>
          </a:xfrm>
          <a:prstGeom prst="rect">
            <a:avLst/>
          </a:prstGeom>
          <a:noFill/>
          <a:ln/>
        </p:spPr>
        <p:txBody>
          <a:bodyPr wrap="square" lIns="0" tIns="0" rIns="0" bIns="0" rtlCol="0" anchor="ctr"/>
          <a:lstStyle/>
          <a:p>
            <a:pPr marL="0" indent="0">
              <a:buNone/>
            </a:pPr>
            <a:r>
              <a:rPr lang="en-US" sz="1050" b="1" kern="0" spc="300" dirty="0">
                <a:solidFill>
                  <a:srgbClr val="F0A81C"/>
                </a:solidFill>
                <a:latin typeface="Calibri" pitchFamily="34" charset="0"/>
                <a:ea typeface="Calibri" pitchFamily="34" charset="-122"/>
                <a:cs typeface="Calibri" pitchFamily="34" charset="-120"/>
              </a:rPr>
              <a:t>PREPARED FOR</a:t>
            </a:r>
            <a:endParaRPr lang="en-US" sz="1050" dirty="0"/>
          </a:p>
        </p:txBody>
      </p:sp>
      <p:sp>
        <p:nvSpPr>
          <p:cNvPr id="4" name="Text 1"/>
          <p:cNvSpPr txBox="1"/>
          <p:nvPr/>
        </p:nvSpPr>
        <p:spPr>
          <a:xfrm>
            <a:off x="658368" y="914400"/>
            <a:ext cx="5486400" cy="50292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News</a:t>
            </a:r>
            <a:r>
              <a:rPr lang="en-US" sz="2700" b="1" dirty="0">
                <a:solidFill>
                  <a:srgbClr val="F0A81C"/>
                </a:solidFill>
                <a:latin typeface="Cambria" pitchFamily="34" charset="0"/>
                <a:ea typeface="Cambria" pitchFamily="34" charset="-122"/>
                <a:cs typeface="Cambria" pitchFamily="34" charset="-120"/>
              </a:rPr>
              <a:t>Karnataka</a:t>
            </a:r>
            <a:endParaRPr lang="en-US" sz="2700" dirty="0"/>
          </a:p>
        </p:txBody>
      </p:sp>
      <p:sp>
        <p:nvSpPr>
          <p:cNvPr id="5" name="Text 2"/>
          <p:cNvSpPr txBox="1"/>
          <p:nvPr/>
        </p:nvSpPr>
        <p:spPr>
          <a:xfrm>
            <a:off x="658368" y="1417320"/>
            <a:ext cx="5486400" cy="237744"/>
          </a:xfrm>
          <a:prstGeom prst="rect">
            <a:avLst/>
          </a:prstGeom>
          <a:noFill/>
          <a:ln/>
        </p:spPr>
        <p:txBody>
          <a:bodyPr wrap="square" lIns="0" tIns="0" rIns="0" bIns="0" rtlCol="0" anchor="ctr"/>
          <a:lstStyle/>
          <a:p>
            <a:pPr marL="0" indent="0">
              <a:buNone/>
            </a:pPr>
            <a:r>
              <a:rPr lang="en-US" sz="1150" dirty="0">
                <a:solidFill>
                  <a:srgbClr val="A9BAD8"/>
                </a:solidFill>
                <a:latin typeface="Calibri" pitchFamily="34" charset="0"/>
                <a:ea typeface="Calibri" pitchFamily="34" charset="-122"/>
                <a:cs typeface="Calibri" pitchFamily="34" charset="-120"/>
              </a:rPr>
              <a:t>Spearhead Media Pvt Ltd  ·  Mangaluru, Karnataka</a:t>
            </a:r>
            <a:endParaRPr lang="en-US" sz="1150" dirty="0"/>
          </a:p>
        </p:txBody>
      </p:sp>
      <p:sp>
        <p:nvSpPr>
          <p:cNvPr id="6" name="Text 3"/>
          <p:cNvSpPr txBox="1"/>
          <p:nvPr/>
        </p:nvSpPr>
        <p:spPr>
          <a:xfrm>
            <a:off x="658368" y="2212848"/>
            <a:ext cx="6766560" cy="1600200"/>
          </a:xfrm>
          <a:prstGeom prst="rect">
            <a:avLst/>
          </a:prstGeom>
          <a:noFill/>
          <a:ln/>
        </p:spPr>
        <p:txBody>
          <a:bodyPr wrap="square" lIns="0" tIns="0" rIns="0" bIns="0" rtlCol="0" anchor="ctr"/>
          <a:lstStyle/>
          <a:p>
            <a:pPr marL="0" indent="0">
              <a:lnSpc>
                <a:spcPct val="94000"/>
              </a:lnSpc>
              <a:buNone/>
            </a:pPr>
            <a:r>
              <a:rPr lang="en-US" sz="5000" b="1" dirty="0">
                <a:solidFill>
                  <a:srgbClr val="FFFFFF"/>
                </a:solidFill>
                <a:latin typeface="Cambria" pitchFamily="34" charset="0"/>
                <a:ea typeface="Cambria" pitchFamily="34" charset="-122"/>
                <a:cs typeface="Cambria" pitchFamily="34" charset="-120"/>
              </a:rPr>
              <a:t>Advanced</a:t>
            </a:r>
            <a:endParaRPr lang="en-US" sz="5000" dirty="0"/>
          </a:p>
          <a:p>
            <a:pPr marL="0" indent="0">
              <a:lnSpc>
                <a:spcPct val="94000"/>
              </a:lnSpc>
              <a:buNone/>
            </a:pPr>
            <a:r>
              <a:rPr lang="en-US" sz="5000" b="1" dirty="0">
                <a:solidFill>
                  <a:srgbClr val="FFFFFF"/>
                </a:solidFill>
                <a:latin typeface="Cambria" pitchFamily="34" charset="0"/>
                <a:ea typeface="Cambria" pitchFamily="34" charset="-122"/>
                <a:cs typeface="Cambria" pitchFamily="34" charset="-120"/>
              </a:rPr>
              <a:t>News Platform</a:t>
            </a:r>
            <a:endParaRPr lang="en-US" sz="5000" dirty="0"/>
          </a:p>
        </p:txBody>
      </p:sp>
      <p:sp>
        <p:nvSpPr>
          <p:cNvPr id="7" name="Text 4"/>
          <p:cNvSpPr txBox="1"/>
          <p:nvPr/>
        </p:nvSpPr>
        <p:spPr>
          <a:xfrm>
            <a:off x="658368" y="3950208"/>
            <a:ext cx="5943600" cy="731520"/>
          </a:xfrm>
          <a:prstGeom prst="rect">
            <a:avLst/>
          </a:prstGeom>
          <a:noFill/>
          <a:ln/>
        </p:spPr>
        <p:txBody>
          <a:bodyPr wrap="square" lIns="0" tIns="0" rIns="0" bIns="0" rtlCol="0" anchor="ctr"/>
          <a:lstStyle/>
          <a:p>
            <a:pPr marL="0" indent="0">
              <a:lnSpc>
                <a:spcPct val="115000"/>
              </a:lnSpc>
              <a:buNone/>
            </a:pPr>
            <a:r>
              <a:rPr lang="en-US" sz="1450" dirty="0">
                <a:solidFill>
                  <a:srgbClr val="C9D6EC"/>
                </a:solidFill>
                <a:latin typeface="Calibri" pitchFamily="34" charset="0"/>
                <a:ea typeface="Calibri" pitchFamily="34" charset="-122"/>
                <a:cs typeface="Calibri" pitchFamily="34" charset="-120"/>
              </a:rPr>
              <a:t>A premium iOS, Android and web experience with AI-driven hyperlocal news — built and shipped in eight weeks.</a:t>
            </a:r>
            <a:endParaRPr lang="en-US" sz="1450" dirty="0"/>
          </a:p>
        </p:txBody>
      </p:sp>
      <p:sp>
        <p:nvSpPr>
          <p:cNvPr id="8" name="Text 5"/>
          <p:cNvSpPr txBox="1"/>
          <p:nvPr/>
        </p:nvSpPr>
        <p:spPr>
          <a:xfrm>
            <a:off x="658368" y="4983480"/>
            <a:ext cx="2148840" cy="219456"/>
          </a:xfrm>
          <a:prstGeom prst="rect">
            <a:avLst/>
          </a:prstGeom>
          <a:noFill/>
          <a:ln/>
        </p:spPr>
        <p:txBody>
          <a:bodyPr wrap="square" lIns="0" tIns="0" rIns="0" bIns="0" rtlCol="0" anchor="ctr"/>
          <a:lstStyle/>
          <a:p>
            <a:pPr marL="0" indent="0">
              <a:buNone/>
            </a:pPr>
            <a:r>
              <a:rPr lang="en-US" sz="900" b="1" kern="0" spc="200" dirty="0">
                <a:solidFill>
                  <a:srgbClr val="8FA0BF"/>
                </a:solidFill>
                <a:latin typeface="Calibri" pitchFamily="34" charset="0"/>
                <a:ea typeface="Calibri" pitchFamily="34" charset="-122"/>
                <a:cs typeface="Calibri" pitchFamily="34" charset="-120"/>
              </a:rPr>
              <a:t>TIMELINE</a:t>
            </a:r>
            <a:endParaRPr lang="en-US" sz="900" dirty="0"/>
          </a:p>
        </p:txBody>
      </p:sp>
      <p:sp>
        <p:nvSpPr>
          <p:cNvPr id="9" name="Text 6"/>
          <p:cNvSpPr txBox="1"/>
          <p:nvPr/>
        </p:nvSpPr>
        <p:spPr>
          <a:xfrm>
            <a:off x="658368" y="5193792"/>
            <a:ext cx="21488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8 weeks to launch</a:t>
            </a:r>
            <a:endParaRPr lang="en-US" sz="1250" dirty="0"/>
          </a:p>
        </p:txBody>
      </p:sp>
      <p:sp>
        <p:nvSpPr>
          <p:cNvPr id="10" name="Text 7"/>
          <p:cNvSpPr txBox="1"/>
          <p:nvPr/>
        </p:nvSpPr>
        <p:spPr>
          <a:xfrm>
            <a:off x="2990088" y="4983480"/>
            <a:ext cx="2148840" cy="219456"/>
          </a:xfrm>
          <a:prstGeom prst="rect">
            <a:avLst/>
          </a:prstGeom>
          <a:noFill/>
          <a:ln/>
        </p:spPr>
        <p:txBody>
          <a:bodyPr wrap="square" lIns="0" tIns="0" rIns="0" bIns="0" rtlCol="0" anchor="ctr"/>
          <a:lstStyle/>
          <a:p>
            <a:pPr marL="0" indent="0">
              <a:buNone/>
            </a:pPr>
            <a:r>
              <a:rPr lang="en-US" sz="900" b="1" kern="0" spc="200" dirty="0">
                <a:solidFill>
                  <a:srgbClr val="8FA0BF"/>
                </a:solidFill>
                <a:latin typeface="Calibri" pitchFamily="34" charset="0"/>
                <a:ea typeface="Calibri" pitchFamily="34" charset="-122"/>
                <a:cs typeface="Calibri" pitchFamily="34" charset="-120"/>
              </a:rPr>
              <a:t>SCOPE</a:t>
            </a:r>
            <a:endParaRPr lang="en-US" sz="900" dirty="0"/>
          </a:p>
        </p:txBody>
      </p:sp>
      <p:sp>
        <p:nvSpPr>
          <p:cNvPr id="11" name="Text 8"/>
          <p:cNvSpPr txBox="1"/>
          <p:nvPr/>
        </p:nvSpPr>
        <p:spPr>
          <a:xfrm>
            <a:off x="2990088" y="5193792"/>
            <a:ext cx="21488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iOS · Android · Web · PWA</a:t>
            </a:r>
            <a:endParaRPr lang="en-US" sz="1250" dirty="0"/>
          </a:p>
        </p:txBody>
      </p:sp>
      <p:sp>
        <p:nvSpPr>
          <p:cNvPr id="12" name="Text 9"/>
          <p:cNvSpPr txBox="1"/>
          <p:nvPr/>
        </p:nvSpPr>
        <p:spPr>
          <a:xfrm>
            <a:off x="5321808" y="4983480"/>
            <a:ext cx="2148840" cy="219456"/>
          </a:xfrm>
          <a:prstGeom prst="rect">
            <a:avLst/>
          </a:prstGeom>
          <a:noFill/>
          <a:ln/>
        </p:spPr>
        <p:txBody>
          <a:bodyPr wrap="square" lIns="0" tIns="0" rIns="0" bIns="0" rtlCol="0" anchor="ctr"/>
          <a:lstStyle/>
          <a:p>
            <a:pPr marL="0" indent="0">
              <a:buNone/>
            </a:pPr>
            <a:r>
              <a:rPr lang="en-US" sz="900" b="1" kern="0" spc="200" dirty="0">
                <a:solidFill>
                  <a:srgbClr val="8FA0BF"/>
                </a:solidFill>
                <a:latin typeface="Calibri" pitchFamily="34" charset="0"/>
                <a:ea typeface="Calibri" pitchFamily="34" charset="-122"/>
                <a:cs typeface="Calibri" pitchFamily="34" charset="-120"/>
              </a:rPr>
              <a:t>VERSION</a:t>
            </a:r>
            <a:endParaRPr lang="en-US" sz="900" dirty="0"/>
          </a:p>
        </p:txBody>
      </p:sp>
      <p:sp>
        <p:nvSpPr>
          <p:cNvPr id="13" name="Text 10"/>
          <p:cNvSpPr txBox="1"/>
          <p:nvPr/>
        </p:nvSpPr>
        <p:spPr>
          <a:xfrm>
            <a:off x="5321808" y="5193792"/>
            <a:ext cx="21488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V1.0 · 03 Sep 2026</a:t>
            </a:r>
            <a:endParaRPr lang="en-US" sz="1250" dirty="0"/>
          </a:p>
        </p:txBody>
      </p:sp>
      <p:sp>
        <p:nvSpPr>
          <p:cNvPr id="14" name="Shape 11"/>
          <p:cNvSpPr/>
          <p:nvPr/>
        </p:nvSpPr>
        <p:spPr>
          <a:xfrm>
            <a:off x="8549640" y="4206240"/>
            <a:ext cx="3063240" cy="1481328"/>
          </a:xfrm>
          <a:prstGeom prst="roundRect">
            <a:avLst>
              <a:gd name="adj" fmla="val 7407"/>
            </a:avLst>
          </a:prstGeom>
          <a:solidFill>
            <a:srgbClr val="FFFFFF">
              <a:alpha val="10000"/>
            </a:srgbClr>
          </a:solidFill>
          <a:ln w="12700">
            <a:solidFill>
              <a:srgbClr val="FFFFFF">
                <a:alpha val="22000"/>
              </a:srgbClr>
            </a:solidFill>
            <a:prstDash val="solid"/>
          </a:ln>
        </p:spPr>
        <p:txBody>
          <a:bodyPr/>
          <a:lstStyle/>
          <a:p>
            <a:endParaRPr lang="en-AE"/>
          </a:p>
        </p:txBody>
      </p:sp>
      <p:sp>
        <p:nvSpPr>
          <p:cNvPr id="15" name="Text 12"/>
          <p:cNvSpPr txBox="1"/>
          <p:nvPr/>
        </p:nvSpPr>
        <p:spPr>
          <a:xfrm>
            <a:off x="8796528" y="4407408"/>
            <a:ext cx="2560320" cy="201168"/>
          </a:xfrm>
          <a:prstGeom prst="rect">
            <a:avLst/>
          </a:prstGeom>
          <a:noFill/>
          <a:ln/>
        </p:spPr>
        <p:txBody>
          <a:bodyPr wrap="square" lIns="0" tIns="0" rIns="0" bIns="0" rtlCol="0" anchor="ctr"/>
          <a:lstStyle/>
          <a:p>
            <a:pPr marL="0" indent="0">
              <a:buNone/>
            </a:pPr>
            <a:r>
              <a:rPr lang="en-US" sz="850" b="1" kern="0" spc="240" dirty="0">
                <a:solidFill>
                  <a:srgbClr val="F0A81C"/>
                </a:solidFill>
                <a:latin typeface="Calibri" pitchFamily="34" charset="0"/>
                <a:ea typeface="Calibri" pitchFamily="34" charset="-122"/>
                <a:cs typeface="Calibri" pitchFamily="34" charset="-120"/>
              </a:rPr>
              <a:t>PROPOSAL BY</a:t>
            </a:r>
            <a:endParaRPr lang="en-US" sz="850" dirty="0"/>
          </a:p>
        </p:txBody>
      </p:sp>
      <p:sp>
        <p:nvSpPr>
          <p:cNvPr id="16" name="Text 13"/>
          <p:cNvSpPr txBox="1"/>
          <p:nvPr/>
        </p:nvSpPr>
        <p:spPr>
          <a:xfrm>
            <a:off x="8796528" y="4617720"/>
            <a:ext cx="256032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Opus Infinite</a:t>
            </a:r>
            <a:endParaRPr lang="en-US" sz="2000" dirty="0"/>
          </a:p>
        </p:txBody>
      </p:sp>
      <p:sp>
        <p:nvSpPr>
          <p:cNvPr id="17" name="Text 14"/>
          <p:cNvSpPr txBox="1"/>
          <p:nvPr/>
        </p:nvSpPr>
        <p:spPr>
          <a:xfrm>
            <a:off x="8796528" y="4992624"/>
            <a:ext cx="2560320" cy="219456"/>
          </a:xfrm>
          <a:prstGeom prst="rect">
            <a:avLst/>
          </a:prstGeom>
          <a:noFill/>
          <a:ln/>
        </p:spPr>
        <p:txBody>
          <a:bodyPr wrap="square" lIns="0" tIns="0" rIns="0" bIns="0" rtlCol="0" anchor="ctr"/>
          <a:lstStyle/>
          <a:p>
            <a:pPr marL="0" indent="0">
              <a:buNone/>
            </a:pPr>
            <a:r>
              <a:rPr lang="en-US" sz="1000" dirty="0">
                <a:solidFill>
                  <a:srgbClr val="B9C8E2"/>
                </a:solidFill>
                <a:latin typeface="Calibri" pitchFamily="34" charset="0"/>
                <a:ea typeface="Calibri" pitchFamily="34" charset="-122"/>
                <a:cs typeface="Calibri" pitchFamily="34" charset="-120"/>
              </a:rPr>
              <a:t>Product engineering &amp; applied AI</a:t>
            </a:r>
            <a:endParaRPr lang="en-US" sz="1000" dirty="0"/>
          </a:p>
        </p:txBody>
      </p:sp>
      <p:sp>
        <p:nvSpPr>
          <p:cNvPr id="19" name="Text 16"/>
          <p:cNvSpPr txBox="1"/>
          <p:nvPr/>
        </p:nvSpPr>
        <p:spPr>
          <a:xfrm>
            <a:off x="658368" y="6355080"/>
            <a:ext cx="8229600" cy="256032"/>
          </a:xfrm>
          <a:prstGeom prst="rect">
            <a:avLst/>
          </a:prstGeom>
          <a:noFill/>
          <a:ln/>
        </p:spPr>
        <p:txBody>
          <a:bodyPr wrap="square" lIns="0" tIns="0" rIns="0" bIns="0" rtlCol="0" anchor="ctr"/>
          <a:lstStyle/>
          <a:p>
            <a:pPr marL="0" indent="0">
              <a:buNone/>
            </a:pPr>
            <a:r>
              <a:rPr lang="en-US" sz="900" dirty="0">
                <a:solidFill>
                  <a:srgbClr val="7A8AAA"/>
                </a:solidFill>
                <a:latin typeface="Calibri" pitchFamily="34" charset="0"/>
                <a:ea typeface="Calibri" pitchFamily="34" charset="-122"/>
                <a:cs typeface="Calibri" pitchFamily="34" charset="-120"/>
              </a:rPr>
              <a:t>Confidential — prepared solely for News Karnataka / Spearhead Media Pvt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475488"/>
            <a:ext cx="11057839" cy="256032"/>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CONTENTS</a:t>
            </a:r>
            <a:endParaRPr lang="en-US" sz="1050" dirty="0"/>
          </a:p>
        </p:txBody>
      </p:sp>
      <p:sp>
        <p:nvSpPr>
          <p:cNvPr id="3" name="Text 1"/>
          <p:cNvSpPr txBox="1"/>
          <p:nvPr/>
        </p:nvSpPr>
        <p:spPr>
          <a:xfrm>
            <a:off x="566928" y="731520"/>
            <a:ext cx="11057839" cy="548640"/>
          </a:xfrm>
          <a:prstGeom prst="rect">
            <a:avLst/>
          </a:prstGeom>
          <a:noFill/>
          <a:ln/>
        </p:spPr>
        <p:txBody>
          <a:bodyPr wrap="square" lIns="0" tIns="0" rIns="0" bIns="0" rtlCol="0" anchor="ctr"/>
          <a:lstStyle/>
          <a:p>
            <a:pPr marL="0" indent="0">
              <a:buNone/>
            </a:pPr>
            <a:r>
              <a:rPr lang="en-US" sz="3000" b="1" dirty="0">
                <a:solidFill>
                  <a:srgbClr val="0F1E3D"/>
                </a:solidFill>
                <a:latin typeface="Cambria" pitchFamily="34" charset="0"/>
                <a:ea typeface="Cambria" pitchFamily="34" charset="-122"/>
                <a:cs typeface="Cambria" pitchFamily="34" charset="-120"/>
              </a:rPr>
              <a:t>What's in this proposal</a:t>
            </a:r>
            <a:endParaRPr lang="en-US" sz="3000" dirty="0"/>
          </a:p>
        </p:txBody>
      </p:sp>
      <p:sp>
        <p:nvSpPr>
          <p:cNvPr id="4" name="Shape 2"/>
          <p:cNvSpPr/>
          <p:nvPr/>
        </p:nvSpPr>
        <p:spPr>
          <a:xfrm>
            <a:off x="566928" y="1481328"/>
            <a:ext cx="3429000" cy="402336"/>
          </a:xfrm>
          <a:prstGeom prst="roundRect">
            <a:avLst>
              <a:gd name="adj" fmla="val 13636"/>
            </a:avLst>
          </a:prstGeom>
          <a:solidFill>
            <a:srgbClr val="0F1E3D"/>
          </a:solidFill>
          <a:ln/>
        </p:spPr>
        <p:txBody>
          <a:bodyPr/>
          <a:lstStyle/>
          <a:p>
            <a:endParaRPr lang="en-AE"/>
          </a:p>
        </p:txBody>
      </p:sp>
      <p:sp>
        <p:nvSpPr>
          <p:cNvPr id="5" name="Text 3"/>
          <p:cNvSpPr txBox="1"/>
          <p:nvPr/>
        </p:nvSpPr>
        <p:spPr>
          <a:xfrm>
            <a:off x="713232" y="1481328"/>
            <a:ext cx="384048" cy="402336"/>
          </a:xfrm>
          <a:prstGeom prst="rect">
            <a:avLst/>
          </a:prstGeom>
          <a:noFill/>
          <a:ln/>
        </p:spPr>
        <p:txBody>
          <a:bodyPr wrap="square" lIns="0" tIns="0" rIns="0" bIns="0" rtlCol="0" anchor="ctr"/>
          <a:lstStyle/>
          <a:p>
            <a:pPr marL="0" indent="0">
              <a:buNone/>
            </a:pPr>
            <a:r>
              <a:rPr lang="en-US" sz="1400" b="1" dirty="0">
                <a:solidFill>
                  <a:srgbClr val="F0A81C"/>
                </a:solidFill>
                <a:latin typeface="Cambria" pitchFamily="34" charset="0"/>
                <a:ea typeface="Cambria" pitchFamily="34" charset="-122"/>
                <a:cs typeface="Cambria" pitchFamily="34" charset="-120"/>
              </a:rPr>
              <a:t>01</a:t>
            </a:r>
            <a:endParaRPr lang="en-US" sz="1400" dirty="0"/>
          </a:p>
        </p:txBody>
      </p:sp>
      <p:sp>
        <p:nvSpPr>
          <p:cNvPr id="6" name="Text 4"/>
          <p:cNvSpPr txBox="1"/>
          <p:nvPr/>
        </p:nvSpPr>
        <p:spPr>
          <a:xfrm>
            <a:off x="1133856" y="1481328"/>
            <a:ext cx="274320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Brief</a:t>
            </a:r>
            <a:endParaRPr lang="en-US" sz="1250" dirty="0"/>
          </a:p>
        </p:txBody>
      </p:sp>
      <p:sp>
        <p:nvSpPr>
          <p:cNvPr id="7" name="Text 5"/>
          <p:cNvSpPr txBox="1"/>
          <p:nvPr/>
        </p:nvSpPr>
        <p:spPr>
          <a:xfrm>
            <a:off x="713232" y="2011680"/>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Executive summary</a:t>
            </a:r>
            <a:endParaRPr lang="en-US" sz="1140" dirty="0"/>
          </a:p>
        </p:txBody>
      </p:sp>
      <p:sp>
        <p:nvSpPr>
          <p:cNvPr id="8" name="Text 6"/>
          <p:cNvSpPr txBox="1"/>
          <p:nvPr/>
        </p:nvSpPr>
        <p:spPr>
          <a:xfrm>
            <a:off x="3529584" y="2011680"/>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a:t>
            </a:r>
            <a:endParaRPr lang="en-US" sz="1100" dirty="0"/>
          </a:p>
        </p:txBody>
      </p:sp>
      <p:sp>
        <p:nvSpPr>
          <p:cNvPr id="9" name="Text 7"/>
          <p:cNvSpPr txBox="1"/>
          <p:nvPr/>
        </p:nvSpPr>
        <p:spPr>
          <a:xfrm>
            <a:off x="713232" y="2295144"/>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Understanding News Karnataka</a:t>
            </a:r>
            <a:endParaRPr lang="en-US" sz="1140" dirty="0"/>
          </a:p>
        </p:txBody>
      </p:sp>
      <p:sp>
        <p:nvSpPr>
          <p:cNvPr id="10" name="Text 8"/>
          <p:cNvSpPr txBox="1"/>
          <p:nvPr/>
        </p:nvSpPr>
        <p:spPr>
          <a:xfrm>
            <a:off x="3529584" y="2295144"/>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4</a:t>
            </a:r>
            <a:endParaRPr lang="en-US" sz="1100" dirty="0"/>
          </a:p>
        </p:txBody>
      </p:sp>
      <p:sp>
        <p:nvSpPr>
          <p:cNvPr id="11" name="Text 9"/>
          <p:cNvSpPr txBox="1"/>
          <p:nvPr/>
        </p:nvSpPr>
        <p:spPr>
          <a:xfrm>
            <a:off x="713232" y="2578608"/>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The opportunity</a:t>
            </a:r>
            <a:endParaRPr lang="en-US" sz="1140" dirty="0"/>
          </a:p>
        </p:txBody>
      </p:sp>
      <p:sp>
        <p:nvSpPr>
          <p:cNvPr id="12" name="Text 10"/>
          <p:cNvSpPr txBox="1"/>
          <p:nvPr/>
        </p:nvSpPr>
        <p:spPr>
          <a:xfrm>
            <a:off x="3529584" y="2578608"/>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5</a:t>
            </a:r>
            <a:endParaRPr lang="en-US" sz="1100" dirty="0"/>
          </a:p>
        </p:txBody>
      </p:sp>
      <p:sp>
        <p:nvSpPr>
          <p:cNvPr id="13" name="Text 11"/>
          <p:cNvSpPr txBox="1"/>
          <p:nvPr/>
        </p:nvSpPr>
        <p:spPr>
          <a:xfrm>
            <a:off x="713232" y="2862072"/>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Objectives &amp; definition of done</a:t>
            </a:r>
            <a:endParaRPr lang="en-US" sz="1140" dirty="0"/>
          </a:p>
        </p:txBody>
      </p:sp>
      <p:sp>
        <p:nvSpPr>
          <p:cNvPr id="14" name="Text 12"/>
          <p:cNvSpPr txBox="1"/>
          <p:nvPr/>
        </p:nvSpPr>
        <p:spPr>
          <a:xfrm>
            <a:off x="3529584" y="2862072"/>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6</a:t>
            </a:r>
            <a:endParaRPr lang="en-US" sz="1100" dirty="0"/>
          </a:p>
        </p:txBody>
      </p:sp>
      <p:sp>
        <p:nvSpPr>
          <p:cNvPr id="15" name="Shape 13"/>
          <p:cNvSpPr/>
          <p:nvPr/>
        </p:nvSpPr>
        <p:spPr>
          <a:xfrm>
            <a:off x="566928" y="3419856"/>
            <a:ext cx="3429000" cy="402336"/>
          </a:xfrm>
          <a:prstGeom prst="roundRect">
            <a:avLst>
              <a:gd name="adj" fmla="val 13636"/>
            </a:avLst>
          </a:prstGeom>
          <a:solidFill>
            <a:srgbClr val="0F1E3D"/>
          </a:solidFill>
          <a:ln/>
        </p:spPr>
        <p:txBody>
          <a:bodyPr/>
          <a:lstStyle/>
          <a:p>
            <a:endParaRPr lang="en-AE"/>
          </a:p>
        </p:txBody>
      </p:sp>
      <p:sp>
        <p:nvSpPr>
          <p:cNvPr id="16" name="Text 14"/>
          <p:cNvSpPr txBox="1"/>
          <p:nvPr/>
        </p:nvSpPr>
        <p:spPr>
          <a:xfrm>
            <a:off x="713232" y="3419856"/>
            <a:ext cx="384048" cy="402336"/>
          </a:xfrm>
          <a:prstGeom prst="rect">
            <a:avLst/>
          </a:prstGeom>
          <a:noFill/>
          <a:ln/>
        </p:spPr>
        <p:txBody>
          <a:bodyPr wrap="square" lIns="0" tIns="0" rIns="0" bIns="0" rtlCol="0" anchor="ctr"/>
          <a:lstStyle/>
          <a:p>
            <a:pPr marL="0" indent="0">
              <a:buNone/>
            </a:pPr>
            <a:r>
              <a:rPr lang="en-US" sz="1400" b="1" dirty="0">
                <a:solidFill>
                  <a:srgbClr val="F0A81C"/>
                </a:solidFill>
                <a:latin typeface="Cambria" pitchFamily="34" charset="0"/>
                <a:ea typeface="Cambria" pitchFamily="34" charset="-122"/>
                <a:cs typeface="Cambria" pitchFamily="34" charset="-120"/>
              </a:rPr>
              <a:t>02</a:t>
            </a:r>
            <a:endParaRPr lang="en-US" sz="1400" dirty="0"/>
          </a:p>
        </p:txBody>
      </p:sp>
      <p:sp>
        <p:nvSpPr>
          <p:cNvPr id="17" name="Text 15"/>
          <p:cNvSpPr txBox="1"/>
          <p:nvPr/>
        </p:nvSpPr>
        <p:spPr>
          <a:xfrm>
            <a:off x="1133856" y="3419856"/>
            <a:ext cx="274320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Product</a:t>
            </a:r>
            <a:endParaRPr lang="en-US" sz="1250" dirty="0"/>
          </a:p>
        </p:txBody>
      </p:sp>
      <p:sp>
        <p:nvSpPr>
          <p:cNvPr id="18" name="Text 16"/>
          <p:cNvSpPr txBox="1"/>
          <p:nvPr/>
        </p:nvSpPr>
        <p:spPr>
          <a:xfrm>
            <a:off x="713232" y="3950208"/>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Product at a glance</a:t>
            </a:r>
            <a:endParaRPr lang="en-US" sz="1140" dirty="0"/>
          </a:p>
        </p:txBody>
      </p:sp>
      <p:sp>
        <p:nvSpPr>
          <p:cNvPr id="19" name="Text 17"/>
          <p:cNvSpPr txBox="1"/>
          <p:nvPr/>
        </p:nvSpPr>
        <p:spPr>
          <a:xfrm>
            <a:off x="3529584" y="3950208"/>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8</a:t>
            </a:r>
            <a:endParaRPr lang="en-US" sz="1100" dirty="0"/>
          </a:p>
        </p:txBody>
      </p:sp>
      <p:sp>
        <p:nvSpPr>
          <p:cNvPr id="20" name="Text 18"/>
          <p:cNvSpPr txBox="1"/>
          <p:nvPr/>
        </p:nvSpPr>
        <p:spPr>
          <a:xfrm>
            <a:off x="713232" y="4233672"/>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Location-first news hierarchy</a:t>
            </a:r>
            <a:endParaRPr lang="en-US" sz="1140" dirty="0"/>
          </a:p>
        </p:txBody>
      </p:sp>
      <p:sp>
        <p:nvSpPr>
          <p:cNvPr id="21" name="Text 19"/>
          <p:cNvSpPr txBox="1"/>
          <p:nvPr/>
        </p:nvSpPr>
        <p:spPr>
          <a:xfrm>
            <a:off x="3529584" y="4233672"/>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9</a:t>
            </a:r>
            <a:endParaRPr lang="en-US" sz="1100" dirty="0"/>
          </a:p>
        </p:txBody>
      </p:sp>
      <p:sp>
        <p:nvSpPr>
          <p:cNvPr id="22" name="Text 20"/>
          <p:cNvSpPr txBox="1"/>
          <p:nvPr/>
        </p:nvSpPr>
        <p:spPr>
          <a:xfrm>
            <a:off x="713232" y="4517136"/>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The AI layer</a:t>
            </a:r>
            <a:endParaRPr lang="en-US" sz="1140" dirty="0"/>
          </a:p>
        </p:txBody>
      </p:sp>
      <p:sp>
        <p:nvSpPr>
          <p:cNvPr id="23" name="Text 21"/>
          <p:cNvSpPr txBox="1"/>
          <p:nvPr/>
        </p:nvSpPr>
        <p:spPr>
          <a:xfrm>
            <a:off x="3529584" y="4517136"/>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10</a:t>
            </a:r>
            <a:endParaRPr lang="en-US" sz="1100" dirty="0"/>
          </a:p>
        </p:txBody>
      </p:sp>
      <p:sp>
        <p:nvSpPr>
          <p:cNvPr id="24" name="Text 22"/>
          <p:cNvSpPr txBox="1"/>
          <p:nvPr/>
        </p:nvSpPr>
        <p:spPr>
          <a:xfrm>
            <a:off x="713232" y="4800600"/>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Reading experience</a:t>
            </a:r>
            <a:endParaRPr lang="en-US" sz="1140" dirty="0"/>
          </a:p>
        </p:txBody>
      </p:sp>
      <p:sp>
        <p:nvSpPr>
          <p:cNvPr id="25" name="Text 23"/>
          <p:cNvSpPr txBox="1"/>
          <p:nvPr/>
        </p:nvSpPr>
        <p:spPr>
          <a:xfrm>
            <a:off x="3529584" y="4800600"/>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11</a:t>
            </a:r>
            <a:endParaRPr lang="en-US" sz="1100" dirty="0"/>
          </a:p>
        </p:txBody>
      </p:sp>
      <p:sp>
        <p:nvSpPr>
          <p:cNvPr id="26" name="Text 24"/>
          <p:cNvSpPr txBox="1"/>
          <p:nvPr/>
        </p:nvSpPr>
        <p:spPr>
          <a:xfrm>
            <a:off x="713232" y="5084064"/>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Engagement &amp; community</a:t>
            </a:r>
            <a:endParaRPr lang="en-US" sz="1140" dirty="0"/>
          </a:p>
        </p:txBody>
      </p:sp>
      <p:sp>
        <p:nvSpPr>
          <p:cNvPr id="27" name="Text 25"/>
          <p:cNvSpPr txBox="1"/>
          <p:nvPr/>
        </p:nvSpPr>
        <p:spPr>
          <a:xfrm>
            <a:off x="3529584" y="5084064"/>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12</a:t>
            </a:r>
            <a:endParaRPr lang="en-US" sz="1100" dirty="0"/>
          </a:p>
        </p:txBody>
      </p:sp>
      <p:sp>
        <p:nvSpPr>
          <p:cNvPr id="28" name="Text 26"/>
          <p:cNvSpPr txBox="1"/>
          <p:nvPr/>
        </p:nvSpPr>
        <p:spPr>
          <a:xfrm>
            <a:off x="713232" y="5367528"/>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Discovery &amp; personalisation</a:t>
            </a:r>
            <a:endParaRPr lang="en-US" sz="1140" dirty="0"/>
          </a:p>
        </p:txBody>
      </p:sp>
      <p:sp>
        <p:nvSpPr>
          <p:cNvPr id="29" name="Text 27"/>
          <p:cNvSpPr txBox="1"/>
          <p:nvPr/>
        </p:nvSpPr>
        <p:spPr>
          <a:xfrm>
            <a:off x="3529584" y="5367528"/>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13</a:t>
            </a:r>
            <a:endParaRPr lang="en-US" sz="1100" dirty="0"/>
          </a:p>
        </p:txBody>
      </p:sp>
      <p:sp>
        <p:nvSpPr>
          <p:cNvPr id="30" name="Text 28"/>
          <p:cNvSpPr txBox="1"/>
          <p:nvPr/>
        </p:nvSpPr>
        <p:spPr>
          <a:xfrm>
            <a:off x="713232" y="5650992"/>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Kannada + English by design</a:t>
            </a:r>
            <a:endParaRPr lang="en-US" sz="1140" dirty="0"/>
          </a:p>
        </p:txBody>
      </p:sp>
      <p:sp>
        <p:nvSpPr>
          <p:cNvPr id="31" name="Text 29"/>
          <p:cNvSpPr txBox="1"/>
          <p:nvPr/>
        </p:nvSpPr>
        <p:spPr>
          <a:xfrm>
            <a:off x="3529584" y="5650992"/>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14</a:t>
            </a:r>
            <a:endParaRPr lang="en-US" sz="1100" dirty="0"/>
          </a:p>
        </p:txBody>
      </p:sp>
      <p:sp>
        <p:nvSpPr>
          <p:cNvPr id="32" name="Text 30"/>
          <p:cNvSpPr txBox="1"/>
          <p:nvPr/>
        </p:nvSpPr>
        <p:spPr>
          <a:xfrm>
            <a:off x="713232" y="5934456"/>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Newsroom console</a:t>
            </a:r>
            <a:endParaRPr lang="en-US" sz="1140" dirty="0"/>
          </a:p>
        </p:txBody>
      </p:sp>
      <p:sp>
        <p:nvSpPr>
          <p:cNvPr id="33" name="Text 31"/>
          <p:cNvSpPr txBox="1"/>
          <p:nvPr/>
        </p:nvSpPr>
        <p:spPr>
          <a:xfrm>
            <a:off x="3529584" y="5934456"/>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15</a:t>
            </a:r>
            <a:endParaRPr lang="en-US" sz="1100" dirty="0"/>
          </a:p>
        </p:txBody>
      </p:sp>
      <p:sp>
        <p:nvSpPr>
          <p:cNvPr id="34" name="Shape 32"/>
          <p:cNvSpPr/>
          <p:nvPr/>
        </p:nvSpPr>
        <p:spPr>
          <a:xfrm>
            <a:off x="4270248" y="1481328"/>
            <a:ext cx="3429000" cy="402336"/>
          </a:xfrm>
          <a:prstGeom prst="roundRect">
            <a:avLst>
              <a:gd name="adj" fmla="val 13636"/>
            </a:avLst>
          </a:prstGeom>
          <a:solidFill>
            <a:srgbClr val="0F1E3D"/>
          </a:solidFill>
          <a:ln/>
        </p:spPr>
        <p:txBody>
          <a:bodyPr/>
          <a:lstStyle/>
          <a:p>
            <a:endParaRPr lang="en-AE"/>
          </a:p>
        </p:txBody>
      </p:sp>
      <p:sp>
        <p:nvSpPr>
          <p:cNvPr id="35" name="Text 33"/>
          <p:cNvSpPr txBox="1"/>
          <p:nvPr/>
        </p:nvSpPr>
        <p:spPr>
          <a:xfrm>
            <a:off x="4416552" y="1481328"/>
            <a:ext cx="384048" cy="402336"/>
          </a:xfrm>
          <a:prstGeom prst="rect">
            <a:avLst/>
          </a:prstGeom>
          <a:noFill/>
          <a:ln/>
        </p:spPr>
        <p:txBody>
          <a:bodyPr wrap="square" lIns="0" tIns="0" rIns="0" bIns="0" rtlCol="0" anchor="ctr"/>
          <a:lstStyle/>
          <a:p>
            <a:pPr marL="0" indent="0">
              <a:buNone/>
            </a:pPr>
            <a:r>
              <a:rPr lang="en-US" sz="1400" b="1" dirty="0">
                <a:solidFill>
                  <a:srgbClr val="F0A81C"/>
                </a:solidFill>
                <a:latin typeface="Cambria" pitchFamily="34" charset="0"/>
                <a:ea typeface="Cambria" pitchFamily="34" charset="-122"/>
                <a:cs typeface="Cambria" pitchFamily="34" charset="-120"/>
              </a:rPr>
              <a:t>03</a:t>
            </a:r>
            <a:endParaRPr lang="en-US" sz="1400" dirty="0"/>
          </a:p>
        </p:txBody>
      </p:sp>
      <p:sp>
        <p:nvSpPr>
          <p:cNvPr id="36" name="Text 34"/>
          <p:cNvSpPr txBox="1"/>
          <p:nvPr/>
        </p:nvSpPr>
        <p:spPr>
          <a:xfrm>
            <a:off x="4837176" y="1481328"/>
            <a:ext cx="274320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Technology</a:t>
            </a:r>
            <a:endParaRPr lang="en-US" sz="1250" dirty="0"/>
          </a:p>
        </p:txBody>
      </p:sp>
      <p:sp>
        <p:nvSpPr>
          <p:cNvPr id="37" name="Text 35"/>
          <p:cNvSpPr txBox="1"/>
          <p:nvPr/>
        </p:nvSpPr>
        <p:spPr>
          <a:xfrm>
            <a:off x="4416552" y="2011680"/>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Solution architecture</a:t>
            </a:r>
            <a:endParaRPr lang="en-US" sz="1140" dirty="0"/>
          </a:p>
        </p:txBody>
      </p:sp>
      <p:sp>
        <p:nvSpPr>
          <p:cNvPr id="38" name="Text 36"/>
          <p:cNvSpPr txBox="1"/>
          <p:nvPr/>
        </p:nvSpPr>
        <p:spPr>
          <a:xfrm>
            <a:off x="7232904" y="2011680"/>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17</a:t>
            </a:r>
            <a:endParaRPr lang="en-US" sz="1100" dirty="0"/>
          </a:p>
        </p:txBody>
      </p:sp>
      <p:sp>
        <p:nvSpPr>
          <p:cNvPr id="39" name="Text 37"/>
          <p:cNvSpPr txBox="1"/>
          <p:nvPr/>
        </p:nvSpPr>
        <p:spPr>
          <a:xfrm>
            <a:off x="4416552" y="2295144"/>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Technology stack</a:t>
            </a:r>
            <a:endParaRPr lang="en-US" sz="1140" dirty="0"/>
          </a:p>
        </p:txBody>
      </p:sp>
      <p:sp>
        <p:nvSpPr>
          <p:cNvPr id="40" name="Text 38"/>
          <p:cNvSpPr txBox="1"/>
          <p:nvPr/>
        </p:nvSpPr>
        <p:spPr>
          <a:xfrm>
            <a:off x="7232904" y="2295144"/>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18</a:t>
            </a:r>
            <a:endParaRPr lang="en-US" sz="1100" dirty="0"/>
          </a:p>
        </p:txBody>
      </p:sp>
      <p:sp>
        <p:nvSpPr>
          <p:cNvPr id="41" name="Text 39"/>
          <p:cNvSpPr txBox="1"/>
          <p:nvPr/>
        </p:nvSpPr>
        <p:spPr>
          <a:xfrm>
            <a:off x="4416552" y="2578608"/>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Infrastructure &amp; scale</a:t>
            </a:r>
            <a:endParaRPr lang="en-US" sz="1140" dirty="0"/>
          </a:p>
        </p:txBody>
      </p:sp>
      <p:sp>
        <p:nvSpPr>
          <p:cNvPr id="42" name="Text 40"/>
          <p:cNvSpPr txBox="1"/>
          <p:nvPr/>
        </p:nvSpPr>
        <p:spPr>
          <a:xfrm>
            <a:off x="7232904" y="2578608"/>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19</a:t>
            </a:r>
            <a:endParaRPr lang="en-US" sz="1100" dirty="0"/>
          </a:p>
        </p:txBody>
      </p:sp>
      <p:sp>
        <p:nvSpPr>
          <p:cNvPr id="43" name="Text 41"/>
          <p:cNvSpPr txBox="1"/>
          <p:nvPr/>
        </p:nvSpPr>
        <p:spPr>
          <a:xfrm>
            <a:off x="4416552" y="2862072"/>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Security, privacy &amp; compliance</a:t>
            </a:r>
            <a:endParaRPr lang="en-US" sz="1140" dirty="0"/>
          </a:p>
        </p:txBody>
      </p:sp>
      <p:sp>
        <p:nvSpPr>
          <p:cNvPr id="44" name="Text 42"/>
          <p:cNvSpPr txBox="1"/>
          <p:nvPr/>
        </p:nvSpPr>
        <p:spPr>
          <a:xfrm>
            <a:off x="7232904" y="2862072"/>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20</a:t>
            </a:r>
            <a:endParaRPr lang="en-US" sz="1100" dirty="0"/>
          </a:p>
        </p:txBody>
      </p:sp>
      <p:sp>
        <p:nvSpPr>
          <p:cNvPr id="45" name="Text 43"/>
          <p:cNvSpPr txBox="1"/>
          <p:nvPr/>
        </p:nvSpPr>
        <p:spPr>
          <a:xfrm>
            <a:off x="4416552" y="3145536"/>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Performance &amp; SLA</a:t>
            </a:r>
            <a:endParaRPr lang="en-US" sz="1140" dirty="0"/>
          </a:p>
        </p:txBody>
      </p:sp>
      <p:sp>
        <p:nvSpPr>
          <p:cNvPr id="46" name="Text 44"/>
          <p:cNvSpPr txBox="1"/>
          <p:nvPr/>
        </p:nvSpPr>
        <p:spPr>
          <a:xfrm>
            <a:off x="7232904" y="3145536"/>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21</a:t>
            </a:r>
            <a:endParaRPr lang="en-US" sz="1100" dirty="0"/>
          </a:p>
        </p:txBody>
      </p:sp>
      <p:sp>
        <p:nvSpPr>
          <p:cNvPr id="47" name="Shape 45"/>
          <p:cNvSpPr/>
          <p:nvPr/>
        </p:nvSpPr>
        <p:spPr>
          <a:xfrm>
            <a:off x="4270248" y="3703320"/>
            <a:ext cx="3429000" cy="402336"/>
          </a:xfrm>
          <a:prstGeom prst="roundRect">
            <a:avLst>
              <a:gd name="adj" fmla="val 13636"/>
            </a:avLst>
          </a:prstGeom>
          <a:solidFill>
            <a:srgbClr val="0F1E3D"/>
          </a:solidFill>
          <a:ln/>
        </p:spPr>
        <p:txBody>
          <a:bodyPr/>
          <a:lstStyle/>
          <a:p>
            <a:endParaRPr lang="en-AE"/>
          </a:p>
        </p:txBody>
      </p:sp>
      <p:sp>
        <p:nvSpPr>
          <p:cNvPr id="48" name="Text 46"/>
          <p:cNvSpPr txBox="1"/>
          <p:nvPr/>
        </p:nvSpPr>
        <p:spPr>
          <a:xfrm>
            <a:off x="4416552" y="3703320"/>
            <a:ext cx="384048" cy="402336"/>
          </a:xfrm>
          <a:prstGeom prst="rect">
            <a:avLst/>
          </a:prstGeom>
          <a:noFill/>
          <a:ln/>
        </p:spPr>
        <p:txBody>
          <a:bodyPr wrap="square" lIns="0" tIns="0" rIns="0" bIns="0" rtlCol="0" anchor="ctr"/>
          <a:lstStyle/>
          <a:p>
            <a:pPr marL="0" indent="0">
              <a:buNone/>
            </a:pPr>
            <a:r>
              <a:rPr lang="en-US" sz="1400" b="1" dirty="0">
                <a:solidFill>
                  <a:srgbClr val="F0A81C"/>
                </a:solidFill>
                <a:latin typeface="Cambria" pitchFamily="34" charset="0"/>
                <a:ea typeface="Cambria" pitchFamily="34" charset="-122"/>
                <a:cs typeface="Cambria" pitchFamily="34" charset="-120"/>
              </a:rPr>
              <a:t>04</a:t>
            </a:r>
            <a:endParaRPr lang="en-US" sz="1400" dirty="0"/>
          </a:p>
        </p:txBody>
      </p:sp>
      <p:sp>
        <p:nvSpPr>
          <p:cNvPr id="49" name="Text 47"/>
          <p:cNvSpPr txBox="1"/>
          <p:nvPr/>
        </p:nvSpPr>
        <p:spPr>
          <a:xfrm>
            <a:off x="4837176" y="3703320"/>
            <a:ext cx="274320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Business Case</a:t>
            </a:r>
            <a:endParaRPr lang="en-US" sz="1250" dirty="0"/>
          </a:p>
        </p:txBody>
      </p:sp>
      <p:sp>
        <p:nvSpPr>
          <p:cNvPr id="50" name="Text 48"/>
          <p:cNvSpPr txBox="1"/>
          <p:nvPr/>
        </p:nvSpPr>
        <p:spPr>
          <a:xfrm>
            <a:off x="4416552" y="4233672"/>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Three revenue streams</a:t>
            </a:r>
            <a:endParaRPr lang="en-US" sz="1140" dirty="0"/>
          </a:p>
        </p:txBody>
      </p:sp>
      <p:sp>
        <p:nvSpPr>
          <p:cNvPr id="51" name="Text 49"/>
          <p:cNvSpPr txBox="1"/>
          <p:nvPr/>
        </p:nvSpPr>
        <p:spPr>
          <a:xfrm>
            <a:off x="7232904" y="4233672"/>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23</a:t>
            </a:r>
            <a:endParaRPr lang="en-US" sz="1100" dirty="0"/>
          </a:p>
        </p:txBody>
      </p:sp>
      <p:sp>
        <p:nvSpPr>
          <p:cNvPr id="52" name="Text 50"/>
          <p:cNvSpPr txBox="1"/>
          <p:nvPr/>
        </p:nvSpPr>
        <p:spPr>
          <a:xfrm>
            <a:off x="4416552" y="4517136"/>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Advertising &amp; real estate</a:t>
            </a:r>
            <a:endParaRPr lang="en-US" sz="1140" dirty="0"/>
          </a:p>
        </p:txBody>
      </p:sp>
      <p:sp>
        <p:nvSpPr>
          <p:cNvPr id="53" name="Text 51"/>
          <p:cNvSpPr txBox="1"/>
          <p:nvPr/>
        </p:nvSpPr>
        <p:spPr>
          <a:xfrm>
            <a:off x="7232904" y="4517136"/>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24</a:t>
            </a:r>
            <a:endParaRPr lang="en-US" sz="1100" dirty="0"/>
          </a:p>
        </p:txBody>
      </p:sp>
      <p:sp>
        <p:nvSpPr>
          <p:cNvPr id="54" name="Text 52"/>
          <p:cNvSpPr txBox="1"/>
          <p:nvPr/>
        </p:nvSpPr>
        <p:spPr>
          <a:xfrm>
            <a:off x="4416552" y="4800600"/>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Subscriptions</a:t>
            </a:r>
            <a:endParaRPr lang="en-US" sz="1140" dirty="0"/>
          </a:p>
        </p:txBody>
      </p:sp>
      <p:sp>
        <p:nvSpPr>
          <p:cNvPr id="55" name="Text 53"/>
          <p:cNvSpPr txBox="1"/>
          <p:nvPr/>
        </p:nvSpPr>
        <p:spPr>
          <a:xfrm>
            <a:off x="7232904" y="4800600"/>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25</a:t>
            </a:r>
            <a:endParaRPr lang="en-US" sz="1100" dirty="0"/>
          </a:p>
        </p:txBody>
      </p:sp>
      <p:sp>
        <p:nvSpPr>
          <p:cNvPr id="56" name="Text 54"/>
          <p:cNvSpPr txBox="1"/>
          <p:nvPr/>
        </p:nvSpPr>
        <p:spPr>
          <a:xfrm>
            <a:off x="4416552" y="5084064"/>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Revenue ramp</a:t>
            </a:r>
            <a:endParaRPr lang="en-US" sz="1140" dirty="0"/>
          </a:p>
        </p:txBody>
      </p:sp>
      <p:sp>
        <p:nvSpPr>
          <p:cNvPr id="57" name="Text 55"/>
          <p:cNvSpPr txBox="1"/>
          <p:nvPr/>
        </p:nvSpPr>
        <p:spPr>
          <a:xfrm>
            <a:off x="7232904" y="5084064"/>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26</a:t>
            </a:r>
            <a:endParaRPr lang="en-US" sz="1100" dirty="0"/>
          </a:p>
        </p:txBody>
      </p:sp>
      <p:sp>
        <p:nvSpPr>
          <p:cNvPr id="58" name="Text 56"/>
          <p:cNvSpPr txBox="1"/>
          <p:nvPr/>
        </p:nvSpPr>
        <p:spPr>
          <a:xfrm>
            <a:off x="4416552" y="5367528"/>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Success metrics</a:t>
            </a:r>
            <a:endParaRPr lang="en-US" sz="1140" dirty="0"/>
          </a:p>
        </p:txBody>
      </p:sp>
      <p:sp>
        <p:nvSpPr>
          <p:cNvPr id="59" name="Text 57"/>
          <p:cNvSpPr txBox="1"/>
          <p:nvPr/>
        </p:nvSpPr>
        <p:spPr>
          <a:xfrm>
            <a:off x="7232904" y="5367528"/>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27</a:t>
            </a:r>
            <a:endParaRPr lang="en-US" sz="1100" dirty="0"/>
          </a:p>
        </p:txBody>
      </p:sp>
      <p:sp>
        <p:nvSpPr>
          <p:cNvPr id="60" name="Shape 58"/>
          <p:cNvSpPr/>
          <p:nvPr/>
        </p:nvSpPr>
        <p:spPr>
          <a:xfrm>
            <a:off x="7973568" y="1481328"/>
            <a:ext cx="3429000" cy="402336"/>
          </a:xfrm>
          <a:prstGeom prst="roundRect">
            <a:avLst>
              <a:gd name="adj" fmla="val 13636"/>
            </a:avLst>
          </a:prstGeom>
          <a:solidFill>
            <a:srgbClr val="0F1E3D"/>
          </a:solidFill>
          <a:ln/>
        </p:spPr>
        <p:txBody>
          <a:bodyPr/>
          <a:lstStyle/>
          <a:p>
            <a:endParaRPr lang="en-AE"/>
          </a:p>
        </p:txBody>
      </p:sp>
      <p:sp>
        <p:nvSpPr>
          <p:cNvPr id="61" name="Text 59"/>
          <p:cNvSpPr txBox="1"/>
          <p:nvPr/>
        </p:nvSpPr>
        <p:spPr>
          <a:xfrm>
            <a:off x="8119872" y="1481328"/>
            <a:ext cx="384048" cy="402336"/>
          </a:xfrm>
          <a:prstGeom prst="rect">
            <a:avLst/>
          </a:prstGeom>
          <a:noFill/>
          <a:ln/>
        </p:spPr>
        <p:txBody>
          <a:bodyPr wrap="square" lIns="0" tIns="0" rIns="0" bIns="0" rtlCol="0" anchor="ctr"/>
          <a:lstStyle/>
          <a:p>
            <a:pPr marL="0" indent="0">
              <a:buNone/>
            </a:pPr>
            <a:r>
              <a:rPr lang="en-US" sz="1400" b="1" dirty="0">
                <a:solidFill>
                  <a:srgbClr val="F0A81C"/>
                </a:solidFill>
                <a:latin typeface="Cambria" pitchFamily="34" charset="0"/>
                <a:ea typeface="Cambria" pitchFamily="34" charset="-122"/>
                <a:cs typeface="Cambria" pitchFamily="34" charset="-120"/>
              </a:rPr>
              <a:t>05</a:t>
            </a:r>
            <a:endParaRPr lang="en-US" sz="1400" dirty="0"/>
          </a:p>
        </p:txBody>
      </p:sp>
      <p:sp>
        <p:nvSpPr>
          <p:cNvPr id="62" name="Text 60"/>
          <p:cNvSpPr txBox="1"/>
          <p:nvPr/>
        </p:nvSpPr>
        <p:spPr>
          <a:xfrm>
            <a:off x="8540496" y="1481328"/>
            <a:ext cx="274320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Delivery &amp; Commercials</a:t>
            </a:r>
            <a:endParaRPr lang="en-US" sz="1250" dirty="0"/>
          </a:p>
        </p:txBody>
      </p:sp>
      <p:sp>
        <p:nvSpPr>
          <p:cNvPr id="63" name="Text 61"/>
          <p:cNvSpPr txBox="1"/>
          <p:nvPr/>
        </p:nvSpPr>
        <p:spPr>
          <a:xfrm>
            <a:off x="8119872" y="2011680"/>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8-week plan</a:t>
            </a:r>
            <a:endParaRPr lang="en-US" sz="1140" dirty="0"/>
          </a:p>
        </p:txBody>
      </p:sp>
      <p:sp>
        <p:nvSpPr>
          <p:cNvPr id="64" name="Text 62"/>
          <p:cNvSpPr txBox="1"/>
          <p:nvPr/>
        </p:nvSpPr>
        <p:spPr>
          <a:xfrm>
            <a:off x="10936224" y="2011680"/>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29</a:t>
            </a:r>
            <a:endParaRPr lang="en-US" sz="1100" dirty="0"/>
          </a:p>
        </p:txBody>
      </p:sp>
      <p:sp>
        <p:nvSpPr>
          <p:cNvPr id="65" name="Text 63"/>
          <p:cNvSpPr txBox="1"/>
          <p:nvPr/>
        </p:nvSpPr>
        <p:spPr>
          <a:xfrm>
            <a:off x="8119872" y="2295144"/>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Weeks 1–4</a:t>
            </a:r>
            <a:endParaRPr lang="en-US" sz="1140" dirty="0"/>
          </a:p>
        </p:txBody>
      </p:sp>
      <p:sp>
        <p:nvSpPr>
          <p:cNvPr id="66" name="Text 64"/>
          <p:cNvSpPr txBox="1"/>
          <p:nvPr/>
        </p:nvSpPr>
        <p:spPr>
          <a:xfrm>
            <a:off x="10936224" y="2295144"/>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30</a:t>
            </a:r>
            <a:endParaRPr lang="en-US" sz="1100" dirty="0"/>
          </a:p>
        </p:txBody>
      </p:sp>
      <p:sp>
        <p:nvSpPr>
          <p:cNvPr id="67" name="Text 65"/>
          <p:cNvSpPr txBox="1"/>
          <p:nvPr/>
        </p:nvSpPr>
        <p:spPr>
          <a:xfrm>
            <a:off x="8119872" y="2578608"/>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Weeks 5–8</a:t>
            </a:r>
            <a:endParaRPr lang="en-US" sz="1140" dirty="0"/>
          </a:p>
        </p:txBody>
      </p:sp>
      <p:sp>
        <p:nvSpPr>
          <p:cNvPr id="68" name="Text 66"/>
          <p:cNvSpPr txBox="1"/>
          <p:nvPr/>
        </p:nvSpPr>
        <p:spPr>
          <a:xfrm>
            <a:off x="10936224" y="2578608"/>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31</a:t>
            </a:r>
            <a:endParaRPr lang="en-US" sz="1100" dirty="0"/>
          </a:p>
        </p:txBody>
      </p:sp>
      <p:sp>
        <p:nvSpPr>
          <p:cNvPr id="69" name="Text 67"/>
          <p:cNvSpPr txBox="1"/>
          <p:nvPr/>
        </p:nvSpPr>
        <p:spPr>
          <a:xfrm>
            <a:off x="8119872" y="2862072"/>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Team &amp; governance</a:t>
            </a:r>
            <a:endParaRPr lang="en-US" sz="1140" dirty="0"/>
          </a:p>
        </p:txBody>
      </p:sp>
      <p:sp>
        <p:nvSpPr>
          <p:cNvPr id="70" name="Text 68"/>
          <p:cNvSpPr txBox="1"/>
          <p:nvPr/>
        </p:nvSpPr>
        <p:spPr>
          <a:xfrm>
            <a:off x="10936224" y="2862072"/>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32</a:t>
            </a:r>
            <a:endParaRPr lang="en-US" sz="1100" dirty="0"/>
          </a:p>
        </p:txBody>
      </p:sp>
      <p:sp>
        <p:nvSpPr>
          <p:cNvPr id="71" name="Text 69"/>
          <p:cNvSpPr txBox="1"/>
          <p:nvPr/>
        </p:nvSpPr>
        <p:spPr>
          <a:xfrm>
            <a:off x="8119872" y="3145536"/>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Investment summary</a:t>
            </a:r>
            <a:endParaRPr lang="en-US" sz="1140" dirty="0"/>
          </a:p>
        </p:txBody>
      </p:sp>
      <p:sp>
        <p:nvSpPr>
          <p:cNvPr id="72" name="Text 70"/>
          <p:cNvSpPr txBox="1"/>
          <p:nvPr/>
        </p:nvSpPr>
        <p:spPr>
          <a:xfrm>
            <a:off x="10936224" y="3145536"/>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33</a:t>
            </a:r>
            <a:endParaRPr lang="en-US" sz="1100" dirty="0"/>
          </a:p>
        </p:txBody>
      </p:sp>
      <p:sp>
        <p:nvSpPr>
          <p:cNvPr id="73" name="Text 71"/>
          <p:cNvSpPr txBox="1"/>
          <p:nvPr/>
        </p:nvSpPr>
        <p:spPr>
          <a:xfrm>
            <a:off x="8119872" y="3429000"/>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Payment milestones &amp; AMC</a:t>
            </a:r>
            <a:endParaRPr lang="en-US" sz="1140" dirty="0"/>
          </a:p>
        </p:txBody>
      </p:sp>
      <p:sp>
        <p:nvSpPr>
          <p:cNvPr id="74" name="Text 72"/>
          <p:cNvSpPr txBox="1"/>
          <p:nvPr/>
        </p:nvSpPr>
        <p:spPr>
          <a:xfrm>
            <a:off x="10936224" y="3429000"/>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34</a:t>
            </a:r>
            <a:endParaRPr lang="en-US" sz="1100" dirty="0"/>
          </a:p>
        </p:txBody>
      </p:sp>
      <p:sp>
        <p:nvSpPr>
          <p:cNvPr id="75" name="Text 73"/>
          <p:cNvSpPr txBox="1"/>
          <p:nvPr/>
        </p:nvSpPr>
        <p:spPr>
          <a:xfrm>
            <a:off x="8119872" y="3712464"/>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Risks &amp; assumptions</a:t>
            </a:r>
            <a:endParaRPr lang="en-US" sz="1140" dirty="0"/>
          </a:p>
        </p:txBody>
      </p:sp>
      <p:sp>
        <p:nvSpPr>
          <p:cNvPr id="76" name="Text 74"/>
          <p:cNvSpPr txBox="1"/>
          <p:nvPr/>
        </p:nvSpPr>
        <p:spPr>
          <a:xfrm>
            <a:off x="10936224" y="3712464"/>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35</a:t>
            </a:r>
            <a:endParaRPr lang="en-US" sz="1100" dirty="0"/>
          </a:p>
        </p:txBody>
      </p:sp>
      <p:sp>
        <p:nvSpPr>
          <p:cNvPr id="77" name="Text 75"/>
          <p:cNvSpPr txBox="1"/>
          <p:nvPr/>
        </p:nvSpPr>
        <p:spPr>
          <a:xfrm>
            <a:off x="8119872" y="3995928"/>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Deliverables &amp; acceptance</a:t>
            </a:r>
            <a:endParaRPr lang="en-US" sz="1140" dirty="0"/>
          </a:p>
        </p:txBody>
      </p:sp>
      <p:sp>
        <p:nvSpPr>
          <p:cNvPr id="78" name="Text 76"/>
          <p:cNvSpPr txBox="1"/>
          <p:nvPr/>
        </p:nvSpPr>
        <p:spPr>
          <a:xfrm>
            <a:off x="10936224" y="3995928"/>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36</a:t>
            </a:r>
            <a:endParaRPr lang="en-US" sz="1100" dirty="0"/>
          </a:p>
        </p:txBody>
      </p:sp>
      <p:sp>
        <p:nvSpPr>
          <p:cNvPr id="79" name="Text 77"/>
          <p:cNvSpPr txBox="1"/>
          <p:nvPr/>
        </p:nvSpPr>
        <p:spPr>
          <a:xfrm>
            <a:off x="8119872" y="4279392"/>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Why Opus Infinite</a:t>
            </a:r>
            <a:endParaRPr lang="en-US" sz="1140" dirty="0"/>
          </a:p>
        </p:txBody>
      </p:sp>
      <p:sp>
        <p:nvSpPr>
          <p:cNvPr id="80" name="Text 78"/>
          <p:cNvSpPr txBox="1"/>
          <p:nvPr/>
        </p:nvSpPr>
        <p:spPr>
          <a:xfrm>
            <a:off x="10936224" y="4279392"/>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37</a:t>
            </a:r>
            <a:endParaRPr lang="en-US" sz="1100" dirty="0"/>
          </a:p>
        </p:txBody>
      </p:sp>
      <p:sp>
        <p:nvSpPr>
          <p:cNvPr id="81" name="Text 79"/>
          <p:cNvSpPr txBox="1"/>
          <p:nvPr/>
        </p:nvSpPr>
        <p:spPr>
          <a:xfrm>
            <a:off x="8119872" y="4562856"/>
            <a:ext cx="2788920" cy="265176"/>
          </a:xfrm>
          <a:prstGeom prst="rect">
            <a:avLst/>
          </a:prstGeom>
          <a:noFill/>
          <a:ln/>
        </p:spPr>
        <p:txBody>
          <a:bodyPr wrap="square" lIns="0" tIns="0" rIns="0" bIns="0" rtlCol="0" anchor="ctr"/>
          <a:lstStyle/>
          <a:p>
            <a:pPr marL="0" indent="0">
              <a:buNone/>
            </a:pPr>
            <a:r>
              <a:rPr lang="en-US" sz="1140" dirty="0">
                <a:solidFill>
                  <a:srgbClr val="4A5568"/>
                </a:solidFill>
                <a:latin typeface="Calibri" pitchFamily="34" charset="0"/>
                <a:ea typeface="Calibri" pitchFamily="34" charset="-122"/>
                <a:cs typeface="Calibri" pitchFamily="34" charset="-120"/>
              </a:rPr>
              <a:t>Next steps</a:t>
            </a:r>
            <a:endParaRPr lang="en-US" sz="1140" dirty="0"/>
          </a:p>
        </p:txBody>
      </p:sp>
      <p:sp>
        <p:nvSpPr>
          <p:cNvPr id="82" name="Text 80"/>
          <p:cNvSpPr txBox="1"/>
          <p:nvPr/>
        </p:nvSpPr>
        <p:spPr>
          <a:xfrm>
            <a:off x="10936224" y="4562856"/>
            <a:ext cx="329184" cy="265176"/>
          </a:xfrm>
          <a:prstGeom prst="rect">
            <a:avLst/>
          </a:prstGeom>
          <a:noFill/>
          <a:ln/>
        </p:spPr>
        <p:txBody>
          <a:bodyPr wrap="square" lIns="0" tIns="0" rIns="0" bIns="0" rtlCol="0" anchor="ctr"/>
          <a:lstStyle/>
          <a:p>
            <a:pPr marL="0" indent="0" algn="r">
              <a:buNone/>
            </a:pPr>
            <a:r>
              <a:rPr lang="en-US" sz="1100" b="1" dirty="0">
                <a:solidFill>
                  <a:srgbClr val="C8102E"/>
                </a:solidFill>
                <a:latin typeface="Calibri" pitchFamily="34" charset="0"/>
                <a:ea typeface="Calibri" pitchFamily="34" charset="-122"/>
                <a:cs typeface="Calibri" pitchFamily="34" charset="-120"/>
              </a:rPr>
              <a:t>38</a:t>
            </a:r>
            <a:endParaRPr lang="en-US" sz="1100" dirty="0"/>
          </a:p>
        </p:txBody>
      </p:sp>
      <p:sp>
        <p:nvSpPr>
          <p:cNvPr id="83" name="Text 81"/>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84" name="Text 82"/>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85" name="Shape 83"/>
          <p:cNvSpPr/>
          <p:nvPr/>
        </p:nvSpPr>
        <p:spPr>
          <a:xfrm>
            <a:off x="11240719" y="6300216"/>
            <a:ext cx="384048" cy="384048"/>
          </a:xfrm>
          <a:prstGeom prst="ellipse">
            <a:avLst/>
          </a:prstGeom>
          <a:solidFill>
            <a:srgbClr val="F4F7FC"/>
          </a:solidFill>
          <a:ln/>
        </p:spPr>
        <p:txBody>
          <a:bodyPr/>
          <a:lstStyle/>
          <a:p>
            <a:endParaRPr lang="en-AE"/>
          </a:p>
        </p:txBody>
      </p:sp>
      <p:sp>
        <p:nvSpPr>
          <p:cNvPr id="86" name="Text 84"/>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01 · THE BRIEF</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Executive summary</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What we propose to build, why it wins, and what it takes.</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a:t>
            </a:r>
            <a:endParaRPr lang="en-US" sz="1050" dirty="0"/>
          </a:p>
        </p:txBody>
      </p:sp>
      <p:sp>
        <p:nvSpPr>
          <p:cNvPr id="9" name="Shape 7"/>
          <p:cNvSpPr/>
          <p:nvPr/>
        </p:nvSpPr>
        <p:spPr>
          <a:xfrm>
            <a:off x="566928" y="1627632"/>
            <a:ext cx="2615184" cy="1572768"/>
          </a:xfrm>
          <a:prstGeom prst="roundRect">
            <a:avLst>
              <a:gd name="adj" fmla="val 697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Text 8"/>
          <p:cNvSpPr txBox="1"/>
          <p:nvPr/>
        </p:nvSpPr>
        <p:spPr>
          <a:xfrm>
            <a:off x="749808" y="1828800"/>
            <a:ext cx="2249424" cy="658368"/>
          </a:xfrm>
          <a:prstGeom prst="rect">
            <a:avLst/>
          </a:prstGeom>
          <a:noFill/>
          <a:ln/>
        </p:spPr>
        <p:txBody>
          <a:bodyPr wrap="square" lIns="0" tIns="0" rIns="0" bIns="0" rtlCol="0" anchor="ctr"/>
          <a:lstStyle/>
          <a:p>
            <a:pPr marL="0" indent="0" algn="ctr">
              <a:buNone/>
            </a:pPr>
            <a:r>
              <a:rPr lang="en-US" sz="3400" b="1" dirty="0">
                <a:solidFill>
                  <a:srgbClr val="C8102E"/>
                </a:solidFill>
                <a:latin typeface="Cambria" pitchFamily="34" charset="0"/>
                <a:ea typeface="Cambria" pitchFamily="34" charset="-122"/>
                <a:cs typeface="Cambria" pitchFamily="34" charset="-120"/>
              </a:rPr>
              <a:t>8 wks</a:t>
            </a:r>
            <a:endParaRPr lang="en-US" sz="3400" dirty="0"/>
          </a:p>
        </p:txBody>
      </p:sp>
      <p:sp>
        <p:nvSpPr>
          <p:cNvPr id="11" name="Text 9"/>
          <p:cNvSpPr txBox="1"/>
          <p:nvPr/>
        </p:nvSpPr>
        <p:spPr>
          <a:xfrm>
            <a:off x="713232" y="2487168"/>
            <a:ext cx="2322576" cy="274320"/>
          </a:xfrm>
          <a:prstGeom prst="rect">
            <a:avLst/>
          </a:prstGeom>
          <a:noFill/>
          <a:ln/>
        </p:spPr>
        <p:txBody>
          <a:bodyPr wrap="square" lIns="0" tIns="0" rIns="0" bIns="0" rtlCol="0" anchor="t"/>
          <a:lstStyle/>
          <a:p>
            <a:pPr marL="0" indent="0" algn="ctr">
              <a:buNone/>
            </a:pPr>
            <a:r>
              <a:rPr lang="en-US" sz="1150" b="1" dirty="0">
                <a:solidFill>
                  <a:srgbClr val="0F1E3D"/>
                </a:solidFill>
                <a:latin typeface="Calibri" pitchFamily="34" charset="0"/>
                <a:ea typeface="Calibri" pitchFamily="34" charset="-122"/>
                <a:cs typeface="Calibri" pitchFamily="34" charset="-120"/>
              </a:rPr>
              <a:t>Design to store launch</a:t>
            </a:r>
            <a:endParaRPr lang="en-US" sz="1150" dirty="0"/>
          </a:p>
        </p:txBody>
      </p:sp>
      <p:sp>
        <p:nvSpPr>
          <p:cNvPr id="12" name="Text 10"/>
          <p:cNvSpPr txBox="1"/>
          <p:nvPr/>
        </p:nvSpPr>
        <p:spPr>
          <a:xfrm>
            <a:off x="713232" y="2724912"/>
            <a:ext cx="2322576" cy="384048"/>
          </a:xfrm>
          <a:prstGeom prst="rect">
            <a:avLst/>
          </a:prstGeom>
          <a:noFill/>
          <a:ln/>
        </p:spPr>
        <p:txBody>
          <a:bodyPr wrap="square" lIns="0" tIns="0" rIns="0" bIns="0" rtlCol="0" anchor="t"/>
          <a:lstStyle/>
          <a:p>
            <a:pPr marL="0" indent="0" algn="ctr">
              <a:buNone/>
            </a:pPr>
            <a:r>
              <a:rPr lang="en-US" sz="980" dirty="0">
                <a:solidFill>
                  <a:srgbClr val="77839B"/>
                </a:solidFill>
                <a:latin typeface="Calibri" pitchFamily="34" charset="0"/>
                <a:ea typeface="Calibri" pitchFamily="34" charset="-122"/>
                <a:cs typeface="Calibri" pitchFamily="34" charset="-120"/>
              </a:rPr>
              <a:t>Four two-week sprints, demo at every gate</a:t>
            </a:r>
            <a:endParaRPr lang="en-US" sz="980" dirty="0"/>
          </a:p>
        </p:txBody>
      </p:sp>
      <p:sp>
        <p:nvSpPr>
          <p:cNvPr id="13" name="Shape 11"/>
          <p:cNvSpPr/>
          <p:nvPr/>
        </p:nvSpPr>
        <p:spPr>
          <a:xfrm>
            <a:off x="3392424" y="1627632"/>
            <a:ext cx="2615184" cy="1572768"/>
          </a:xfrm>
          <a:prstGeom prst="roundRect">
            <a:avLst>
              <a:gd name="adj" fmla="val 697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4" name="Text 12"/>
          <p:cNvSpPr txBox="1"/>
          <p:nvPr/>
        </p:nvSpPr>
        <p:spPr>
          <a:xfrm>
            <a:off x="3575304" y="1828800"/>
            <a:ext cx="2249424" cy="658368"/>
          </a:xfrm>
          <a:prstGeom prst="rect">
            <a:avLst/>
          </a:prstGeom>
          <a:noFill/>
          <a:ln/>
        </p:spPr>
        <p:txBody>
          <a:bodyPr wrap="square" lIns="0" tIns="0" rIns="0" bIns="0" rtlCol="0" anchor="ctr"/>
          <a:lstStyle/>
          <a:p>
            <a:pPr marL="0" indent="0" algn="ctr">
              <a:buNone/>
            </a:pPr>
            <a:r>
              <a:rPr lang="en-US" sz="3400" b="1" dirty="0">
                <a:solidFill>
                  <a:srgbClr val="0F1E3D"/>
                </a:solidFill>
                <a:latin typeface="Cambria" pitchFamily="34" charset="0"/>
                <a:ea typeface="Cambria" pitchFamily="34" charset="-122"/>
                <a:cs typeface="Cambria" pitchFamily="34" charset="-120"/>
              </a:rPr>
              <a:t>3</a:t>
            </a:r>
            <a:endParaRPr lang="en-US" sz="3400" dirty="0"/>
          </a:p>
        </p:txBody>
      </p:sp>
      <p:sp>
        <p:nvSpPr>
          <p:cNvPr id="15" name="Text 13"/>
          <p:cNvSpPr txBox="1"/>
          <p:nvPr/>
        </p:nvSpPr>
        <p:spPr>
          <a:xfrm>
            <a:off x="3538728" y="2487168"/>
            <a:ext cx="2322576" cy="274320"/>
          </a:xfrm>
          <a:prstGeom prst="rect">
            <a:avLst/>
          </a:prstGeom>
          <a:noFill/>
          <a:ln/>
        </p:spPr>
        <p:txBody>
          <a:bodyPr wrap="square" lIns="0" tIns="0" rIns="0" bIns="0" rtlCol="0" anchor="t"/>
          <a:lstStyle/>
          <a:p>
            <a:pPr marL="0" indent="0" algn="ctr">
              <a:buNone/>
            </a:pPr>
            <a:r>
              <a:rPr lang="en-US" sz="1150" b="1" dirty="0">
                <a:solidFill>
                  <a:srgbClr val="0F1E3D"/>
                </a:solidFill>
                <a:latin typeface="Calibri" pitchFamily="34" charset="0"/>
                <a:ea typeface="Calibri" pitchFamily="34" charset="-122"/>
                <a:cs typeface="Calibri" pitchFamily="34" charset="-120"/>
              </a:rPr>
              <a:t>Platforms from one codebase</a:t>
            </a:r>
            <a:endParaRPr lang="en-US" sz="1150" dirty="0"/>
          </a:p>
        </p:txBody>
      </p:sp>
      <p:sp>
        <p:nvSpPr>
          <p:cNvPr id="16" name="Text 14"/>
          <p:cNvSpPr txBox="1"/>
          <p:nvPr/>
        </p:nvSpPr>
        <p:spPr>
          <a:xfrm>
            <a:off x="3538728" y="2724912"/>
            <a:ext cx="2322576" cy="384048"/>
          </a:xfrm>
          <a:prstGeom prst="rect">
            <a:avLst/>
          </a:prstGeom>
          <a:noFill/>
          <a:ln/>
        </p:spPr>
        <p:txBody>
          <a:bodyPr wrap="square" lIns="0" tIns="0" rIns="0" bIns="0" rtlCol="0" anchor="t"/>
          <a:lstStyle/>
          <a:p>
            <a:pPr marL="0" indent="0" algn="ctr">
              <a:buNone/>
            </a:pPr>
            <a:r>
              <a:rPr lang="en-US" sz="980" dirty="0">
                <a:solidFill>
                  <a:srgbClr val="77839B"/>
                </a:solidFill>
                <a:latin typeface="Calibri" pitchFamily="34" charset="0"/>
                <a:ea typeface="Calibri" pitchFamily="34" charset="-122"/>
                <a:cs typeface="Calibri" pitchFamily="34" charset="-120"/>
              </a:rPr>
              <a:t>iOS, Android and web + installable PWA</a:t>
            </a:r>
            <a:endParaRPr lang="en-US" sz="980" dirty="0"/>
          </a:p>
        </p:txBody>
      </p:sp>
      <p:sp>
        <p:nvSpPr>
          <p:cNvPr id="17" name="Shape 15"/>
          <p:cNvSpPr/>
          <p:nvPr/>
        </p:nvSpPr>
        <p:spPr>
          <a:xfrm>
            <a:off x="6217920" y="1627632"/>
            <a:ext cx="2615184" cy="1572768"/>
          </a:xfrm>
          <a:prstGeom prst="roundRect">
            <a:avLst>
              <a:gd name="adj" fmla="val 697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8" name="Text 16"/>
          <p:cNvSpPr txBox="1"/>
          <p:nvPr/>
        </p:nvSpPr>
        <p:spPr>
          <a:xfrm>
            <a:off x="6400800" y="1828800"/>
            <a:ext cx="2249424" cy="658368"/>
          </a:xfrm>
          <a:prstGeom prst="rect">
            <a:avLst/>
          </a:prstGeom>
          <a:noFill/>
          <a:ln/>
        </p:spPr>
        <p:txBody>
          <a:bodyPr wrap="square" lIns="0" tIns="0" rIns="0" bIns="0" rtlCol="0" anchor="ctr"/>
          <a:lstStyle/>
          <a:p>
            <a:pPr marL="0" indent="0" algn="ctr">
              <a:buNone/>
            </a:pPr>
            <a:r>
              <a:rPr lang="en-US" sz="3400" b="1" dirty="0">
                <a:solidFill>
                  <a:srgbClr val="C8102E"/>
                </a:solidFill>
                <a:latin typeface="Cambria" pitchFamily="34" charset="0"/>
                <a:ea typeface="Cambria" pitchFamily="34" charset="-122"/>
                <a:cs typeface="Cambria" pitchFamily="34" charset="-120"/>
              </a:rPr>
              <a:t>2</a:t>
            </a:r>
            <a:endParaRPr lang="en-US" sz="3400" dirty="0"/>
          </a:p>
        </p:txBody>
      </p:sp>
      <p:sp>
        <p:nvSpPr>
          <p:cNvPr id="19" name="Text 17"/>
          <p:cNvSpPr txBox="1"/>
          <p:nvPr/>
        </p:nvSpPr>
        <p:spPr>
          <a:xfrm>
            <a:off x="6364224" y="2487168"/>
            <a:ext cx="2322576" cy="274320"/>
          </a:xfrm>
          <a:prstGeom prst="rect">
            <a:avLst/>
          </a:prstGeom>
          <a:noFill/>
          <a:ln/>
        </p:spPr>
        <p:txBody>
          <a:bodyPr wrap="square" lIns="0" tIns="0" rIns="0" bIns="0" rtlCol="0" anchor="t"/>
          <a:lstStyle/>
          <a:p>
            <a:pPr marL="0" indent="0" algn="ctr">
              <a:buNone/>
            </a:pPr>
            <a:r>
              <a:rPr lang="en-US" sz="1150" b="1" dirty="0">
                <a:solidFill>
                  <a:srgbClr val="0F1E3D"/>
                </a:solidFill>
                <a:latin typeface="Calibri" pitchFamily="34" charset="0"/>
                <a:ea typeface="Calibri" pitchFamily="34" charset="-122"/>
                <a:cs typeface="Calibri" pitchFamily="34" charset="-120"/>
              </a:rPr>
              <a:t>Languages at launch</a:t>
            </a:r>
            <a:endParaRPr lang="en-US" sz="1150" dirty="0"/>
          </a:p>
        </p:txBody>
      </p:sp>
      <p:sp>
        <p:nvSpPr>
          <p:cNvPr id="20" name="Text 18"/>
          <p:cNvSpPr txBox="1"/>
          <p:nvPr/>
        </p:nvSpPr>
        <p:spPr>
          <a:xfrm>
            <a:off x="6364224" y="2724912"/>
            <a:ext cx="2322576" cy="384048"/>
          </a:xfrm>
          <a:prstGeom prst="rect">
            <a:avLst/>
          </a:prstGeom>
          <a:noFill/>
          <a:ln/>
        </p:spPr>
        <p:txBody>
          <a:bodyPr wrap="square" lIns="0" tIns="0" rIns="0" bIns="0" rtlCol="0" anchor="t"/>
          <a:lstStyle/>
          <a:p>
            <a:pPr marL="0" indent="0" algn="ctr">
              <a:buNone/>
            </a:pPr>
            <a:r>
              <a:rPr lang="en-US" sz="980" dirty="0">
                <a:solidFill>
                  <a:srgbClr val="77839B"/>
                </a:solidFill>
                <a:latin typeface="Calibri" pitchFamily="34" charset="0"/>
                <a:ea typeface="Calibri" pitchFamily="34" charset="-122"/>
                <a:cs typeface="Calibri" pitchFamily="34" charset="-120"/>
              </a:rPr>
              <a:t>Kannada and English, switchable in-app</a:t>
            </a:r>
            <a:endParaRPr lang="en-US" sz="980" dirty="0"/>
          </a:p>
        </p:txBody>
      </p:sp>
      <p:sp>
        <p:nvSpPr>
          <p:cNvPr id="21" name="Shape 19"/>
          <p:cNvSpPr/>
          <p:nvPr/>
        </p:nvSpPr>
        <p:spPr>
          <a:xfrm>
            <a:off x="9043416" y="1627632"/>
            <a:ext cx="2615184" cy="1572768"/>
          </a:xfrm>
          <a:prstGeom prst="roundRect">
            <a:avLst>
              <a:gd name="adj" fmla="val 697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2" name="Text 20"/>
          <p:cNvSpPr txBox="1"/>
          <p:nvPr/>
        </p:nvSpPr>
        <p:spPr>
          <a:xfrm>
            <a:off x="9226296" y="1828800"/>
            <a:ext cx="2249424" cy="658368"/>
          </a:xfrm>
          <a:prstGeom prst="rect">
            <a:avLst/>
          </a:prstGeom>
          <a:noFill/>
          <a:ln/>
        </p:spPr>
        <p:txBody>
          <a:bodyPr wrap="square" lIns="0" tIns="0" rIns="0" bIns="0" rtlCol="0" anchor="ctr"/>
          <a:lstStyle/>
          <a:p>
            <a:pPr marL="0" indent="0" algn="ctr">
              <a:buNone/>
            </a:pPr>
            <a:r>
              <a:rPr lang="en-US" sz="3400" b="1" dirty="0">
                <a:solidFill>
                  <a:srgbClr val="0F1E3D"/>
                </a:solidFill>
                <a:latin typeface="Cambria" pitchFamily="34" charset="0"/>
                <a:ea typeface="Cambria" pitchFamily="34" charset="-122"/>
                <a:cs typeface="Cambria" pitchFamily="34" charset="-120"/>
              </a:rPr>
              <a:t>3</a:t>
            </a:r>
            <a:endParaRPr lang="en-US" sz="3400" dirty="0"/>
          </a:p>
        </p:txBody>
      </p:sp>
      <p:sp>
        <p:nvSpPr>
          <p:cNvPr id="23" name="Text 21"/>
          <p:cNvSpPr txBox="1"/>
          <p:nvPr/>
        </p:nvSpPr>
        <p:spPr>
          <a:xfrm>
            <a:off x="9189720" y="2487168"/>
            <a:ext cx="2322576" cy="274320"/>
          </a:xfrm>
          <a:prstGeom prst="rect">
            <a:avLst/>
          </a:prstGeom>
          <a:noFill/>
          <a:ln/>
        </p:spPr>
        <p:txBody>
          <a:bodyPr wrap="square" lIns="0" tIns="0" rIns="0" bIns="0" rtlCol="0" anchor="t"/>
          <a:lstStyle/>
          <a:p>
            <a:pPr marL="0" indent="0" algn="ctr">
              <a:buNone/>
            </a:pPr>
            <a:r>
              <a:rPr lang="en-US" sz="1150" b="1" dirty="0">
                <a:solidFill>
                  <a:srgbClr val="0F1E3D"/>
                </a:solidFill>
                <a:latin typeface="Calibri" pitchFamily="34" charset="0"/>
                <a:ea typeface="Calibri" pitchFamily="34" charset="-122"/>
                <a:cs typeface="Calibri" pitchFamily="34" charset="-120"/>
              </a:rPr>
              <a:t>Revenue streams live</a:t>
            </a:r>
            <a:endParaRPr lang="en-US" sz="1150" dirty="0"/>
          </a:p>
        </p:txBody>
      </p:sp>
      <p:sp>
        <p:nvSpPr>
          <p:cNvPr id="24" name="Text 22"/>
          <p:cNvSpPr txBox="1"/>
          <p:nvPr/>
        </p:nvSpPr>
        <p:spPr>
          <a:xfrm>
            <a:off x="9189720" y="2724912"/>
            <a:ext cx="2322576" cy="384048"/>
          </a:xfrm>
          <a:prstGeom prst="rect">
            <a:avLst/>
          </a:prstGeom>
          <a:noFill/>
          <a:ln/>
        </p:spPr>
        <p:txBody>
          <a:bodyPr wrap="square" lIns="0" tIns="0" rIns="0" bIns="0" rtlCol="0" anchor="t"/>
          <a:lstStyle/>
          <a:p>
            <a:pPr marL="0" indent="0" algn="ctr">
              <a:buNone/>
            </a:pPr>
            <a:r>
              <a:rPr lang="en-US" sz="980" dirty="0">
                <a:solidFill>
                  <a:srgbClr val="77839B"/>
                </a:solidFill>
                <a:latin typeface="Calibri" pitchFamily="34" charset="0"/>
                <a:ea typeface="Calibri" pitchFamily="34" charset="-122"/>
                <a:cs typeface="Calibri" pitchFamily="34" charset="-120"/>
              </a:rPr>
              <a:t>Advertising, subscriptions, classifieds</a:t>
            </a:r>
            <a:endParaRPr lang="en-US" sz="980" dirty="0"/>
          </a:p>
        </p:txBody>
      </p:sp>
      <p:sp>
        <p:nvSpPr>
          <p:cNvPr id="25" name="Shape 23"/>
          <p:cNvSpPr/>
          <p:nvPr/>
        </p:nvSpPr>
        <p:spPr>
          <a:xfrm>
            <a:off x="566928" y="3401568"/>
            <a:ext cx="5394960" cy="2651760"/>
          </a:xfrm>
          <a:prstGeom prst="roundRect">
            <a:avLst>
              <a:gd name="adj" fmla="val 4138"/>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6" name="Shape 24"/>
          <p:cNvSpPr/>
          <p:nvPr/>
        </p:nvSpPr>
        <p:spPr>
          <a:xfrm>
            <a:off x="822960" y="3675888"/>
            <a:ext cx="402336" cy="402336"/>
          </a:xfrm>
          <a:prstGeom prst="ellipse">
            <a:avLst/>
          </a:prstGeom>
          <a:solidFill>
            <a:srgbClr val="C8102E"/>
          </a:solidFill>
          <a:ln/>
        </p:spPr>
        <p:txBody>
          <a:bodyPr/>
          <a:lstStyle/>
          <a:p>
            <a:endParaRPr lang="en-AE"/>
          </a:p>
        </p:txBody>
      </p:sp>
      <p:pic>
        <p:nvPicPr>
          <p:cNvPr id="27" name="Image 0" descr="preencoded.png"/>
          <p:cNvPicPr>
            <a:picLocks noChangeAspect="1"/>
          </p:cNvPicPr>
          <p:nvPr/>
        </p:nvPicPr>
        <p:blipFill>
          <a:blip r:embed="rId3"/>
          <a:stretch>
            <a:fillRect/>
          </a:stretch>
        </p:blipFill>
        <p:spPr>
          <a:xfrm>
            <a:off x="918972" y="3776472"/>
            <a:ext cx="210312" cy="210312"/>
          </a:xfrm>
          <a:prstGeom prst="rect">
            <a:avLst/>
          </a:prstGeom>
        </p:spPr>
      </p:pic>
      <p:sp>
        <p:nvSpPr>
          <p:cNvPr id="28" name="Text 25"/>
          <p:cNvSpPr txBox="1"/>
          <p:nvPr/>
        </p:nvSpPr>
        <p:spPr>
          <a:xfrm>
            <a:off x="1371600" y="3657600"/>
            <a:ext cx="4334256"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The proposition</a:t>
            </a:r>
            <a:endParaRPr lang="en-US" sz="1450" dirty="0"/>
          </a:p>
        </p:txBody>
      </p:sp>
      <p:sp>
        <p:nvSpPr>
          <p:cNvPr id="29" name="Text 26"/>
          <p:cNvSpPr txBox="1"/>
          <p:nvPr/>
        </p:nvSpPr>
        <p:spPr>
          <a:xfrm>
            <a:off x="822960" y="4041648"/>
            <a:ext cx="4882896" cy="175564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40" dirty="0">
                <a:solidFill>
                  <a:srgbClr val="4A5568"/>
                </a:solidFill>
                <a:latin typeface="Calibri" pitchFamily="34" charset="0"/>
                <a:ea typeface="Calibri" pitchFamily="34" charset="-122"/>
                <a:cs typeface="Calibri" pitchFamily="34" charset="-120"/>
              </a:rPr>
              <a:t>14 years of trusted Karnataka reporting in two languages — the content advantage already exists.</a:t>
            </a:r>
            <a:endParaRPr lang="en-US" sz="1140" dirty="0"/>
          </a:p>
          <a:p>
            <a:pPr marL="165100" indent="-165100">
              <a:lnSpc>
                <a:spcPct val="106000"/>
              </a:lnSpc>
              <a:spcAft>
                <a:spcPts val="400"/>
              </a:spcAft>
              <a:buSzPct val="100000"/>
              <a:buChar char="•"/>
            </a:pPr>
            <a:r>
              <a:rPr lang="en-US" sz="1140" dirty="0">
                <a:solidFill>
                  <a:srgbClr val="4A5568"/>
                </a:solidFill>
                <a:latin typeface="Calibri" pitchFamily="34" charset="0"/>
                <a:ea typeface="Calibri" pitchFamily="34" charset="-122"/>
                <a:cs typeface="Calibri" pitchFamily="34" charset="-120"/>
              </a:rPr>
              <a:t>What is missing is a product that puts the right story in front of the right reader, in their language and their city, within seconds.</a:t>
            </a:r>
            <a:endParaRPr lang="en-US" sz="1140" dirty="0"/>
          </a:p>
          <a:p>
            <a:pPr marL="165100" indent="-165100">
              <a:lnSpc>
                <a:spcPct val="106000"/>
              </a:lnSpc>
              <a:spcAft>
                <a:spcPts val="400"/>
              </a:spcAft>
              <a:buSzPct val="100000"/>
              <a:buChar char="•"/>
            </a:pPr>
            <a:r>
              <a:rPr lang="en-US" sz="1140" dirty="0">
                <a:solidFill>
                  <a:srgbClr val="4A5568"/>
                </a:solidFill>
                <a:latin typeface="Calibri" pitchFamily="34" charset="0"/>
                <a:ea typeface="Calibri" pitchFamily="34" charset="-122"/>
                <a:cs typeface="Calibri" pitchFamily="34" charset="-120"/>
              </a:rPr>
              <a:t>We build it: a native-quality app and web experience where AI weights every feed toward the reader's own location first.</a:t>
            </a:r>
            <a:endParaRPr lang="en-US" sz="1140" dirty="0"/>
          </a:p>
          <a:p>
            <a:pPr marL="165100" indent="-165100">
              <a:lnSpc>
                <a:spcPct val="106000"/>
              </a:lnSpc>
              <a:spcAft>
                <a:spcPts val="400"/>
              </a:spcAft>
              <a:buSzPct val="100000"/>
              <a:buChar char="•"/>
            </a:pPr>
            <a:r>
              <a:rPr lang="en-US" sz="1140" dirty="0">
                <a:solidFill>
                  <a:srgbClr val="4A5568"/>
                </a:solidFill>
                <a:latin typeface="Calibri" pitchFamily="34" charset="0"/>
                <a:ea typeface="Calibri" pitchFamily="34" charset="-122"/>
                <a:cs typeface="Calibri" pitchFamily="34" charset="-120"/>
              </a:rPr>
              <a:t>Monetisation is designed in from sprint one, not retrofitted after launch.</a:t>
            </a:r>
            <a:endParaRPr lang="en-US" sz="1140" dirty="0"/>
          </a:p>
        </p:txBody>
      </p:sp>
      <p:sp>
        <p:nvSpPr>
          <p:cNvPr id="30" name="Shape 27"/>
          <p:cNvSpPr/>
          <p:nvPr/>
        </p:nvSpPr>
        <p:spPr>
          <a:xfrm>
            <a:off x="6236208" y="3401568"/>
            <a:ext cx="5394960" cy="2651760"/>
          </a:xfrm>
          <a:prstGeom prst="roundRect">
            <a:avLst>
              <a:gd name="adj" fmla="val 4138"/>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31" name="Shape 28"/>
          <p:cNvSpPr/>
          <p:nvPr/>
        </p:nvSpPr>
        <p:spPr>
          <a:xfrm>
            <a:off x="6492240" y="3675888"/>
            <a:ext cx="402336" cy="402336"/>
          </a:xfrm>
          <a:prstGeom prst="ellipse">
            <a:avLst/>
          </a:prstGeom>
          <a:solidFill>
            <a:srgbClr val="0F1E3D"/>
          </a:solidFill>
          <a:ln/>
        </p:spPr>
        <p:txBody>
          <a:bodyPr/>
          <a:lstStyle/>
          <a:p>
            <a:endParaRPr lang="en-AE"/>
          </a:p>
        </p:txBody>
      </p:sp>
      <p:pic>
        <p:nvPicPr>
          <p:cNvPr id="32" name="Image 1" descr="preencoded.png"/>
          <p:cNvPicPr>
            <a:picLocks noChangeAspect="1"/>
          </p:cNvPicPr>
          <p:nvPr/>
        </p:nvPicPr>
        <p:blipFill>
          <a:blip r:embed="rId4"/>
          <a:stretch>
            <a:fillRect/>
          </a:stretch>
        </p:blipFill>
        <p:spPr>
          <a:xfrm>
            <a:off x="6588252" y="3776472"/>
            <a:ext cx="210312" cy="210312"/>
          </a:xfrm>
          <a:prstGeom prst="rect">
            <a:avLst/>
          </a:prstGeom>
        </p:spPr>
      </p:pic>
      <p:sp>
        <p:nvSpPr>
          <p:cNvPr id="33" name="Text 29"/>
          <p:cNvSpPr txBox="1"/>
          <p:nvPr/>
        </p:nvSpPr>
        <p:spPr>
          <a:xfrm>
            <a:off x="7040880" y="3657600"/>
            <a:ext cx="4334256"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What you get at the end of week 8</a:t>
            </a:r>
            <a:endParaRPr lang="en-US" sz="1450" dirty="0"/>
          </a:p>
        </p:txBody>
      </p:sp>
      <p:sp>
        <p:nvSpPr>
          <p:cNvPr id="34" name="Text 30"/>
          <p:cNvSpPr txBox="1"/>
          <p:nvPr/>
        </p:nvSpPr>
        <p:spPr>
          <a:xfrm>
            <a:off x="6492240" y="4041648"/>
            <a:ext cx="4882896" cy="175564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40" dirty="0">
                <a:solidFill>
                  <a:srgbClr val="4A5568"/>
                </a:solidFill>
                <a:latin typeface="Calibri" pitchFamily="34" charset="0"/>
                <a:ea typeface="Calibri" pitchFamily="34" charset="-122"/>
                <a:cs typeface="Calibri" pitchFamily="34" charset="-120"/>
              </a:rPr>
              <a:t>Production apps on both stores, plus a web app and installable PWA.</a:t>
            </a:r>
            <a:endParaRPr lang="en-US" sz="1140" dirty="0"/>
          </a:p>
          <a:p>
            <a:pPr marL="165100" indent="-165100">
              <a:lnSpc>
                <a:spcPct val="106000"/>
              </a:lnSpc>
              <a:spcAft>
                <a:spcPts val="400"/>
              </a:spcAft>
              <a:buSzPct val="100000"/>
              <a:buChar char="•"/>
            </a:pPr>
            <a:r>
              <a:rPr lang="en-US" sz="1140" dirty="0">
                <a:solidFill>
                  <a:srgbClr val="4A5568"/>
                </a:solidFill>
                <a:latin typeface="Calibri" pitchFamily="34" charset="0"/>
                <a:ea typeface="Calibri" pitchFamily="34" charset="-122"/>
                <a:cs typeface="Calibri" pitchFamily="34" charset="-120"/>
              </a:rPr>
              <a:t>An AI service that tags every story by location, topic and urgency automatically.</a:t>
            </a:r>
            <a:endParaRPr lang="en-US" sz="1140" dirty="0"/>
          </a:p>
          <a:p>
            <a:pPr marL="165100" indent="-165100">
              <a:lnSpc>
                <a:spcPct val="106000"/>
              </a:lnSpc>
              <a:spcAft>
                <a:spcPts val="400"/>
              </a:spcAft>
              <a:buSzPct val="100000"/>
              <a:buChar char="•"/>
            </a:pPr>
            <a:r>
              <a:rPr lang="en-US" sz="1140" dirty="0">
                <a:solidFill>
                  <a:srgbClr val="4A5568"/>
                </a:solidFill>
                <a:latin typeface="Calibri" pitchFamily="34" charset="0"/>
                <a:ea typeface="Calibri" pitchFamily="34" charset="-122"/>
                <a:cs typeface="Calibri" pitchFamily="34" charset="-120"/>
              </a:rPr>
              <a:t>A newsroom console your editors control — no developer needed to push breaking news.</a:t>
            </a:r>
            <a:endParaRPr lang="en-US" sz="1140" dirty="0"/>
          </a:p>
          <a:p>
            <a:pPr marL="165100" indent="-165100">
              <a:lnSpc>
                <a:spcPct val="106000"/>
              </a:lnSpc>
              <a:spcAft>
                <a:spcPts val="400"/>
              </a:spcAft>
              <a:buSzPct val="100000"/>
              <a:buChar char="•"/>
            </a:pPr>
            <a:r>
              <a:rPr lang="en-US" sz="1140" dirty="0">
                <a:solidFill>
                  <a:srgbClr val="4A5568"/>
                </a:solidFill>
                <a:latin typeface="Calibri" pitchFamily="34" charset="0"/>
                <a:ea typeface="Calibri" pitchFamily="34" charset="-122"/>
                <a:cs typeface="Calibri" pitchFamily="34" charset="-120"/>
              </a:rPr>
              <a:t>Ads, subscriptions and classifieds wired, tested and reporting.</a:t>
            </a:r>
            <a:endParaRPr lang="en-US" sz="1140" dirty="0"/>
          </a:p>
          <a:p>
            <a:pPr marL="165100" indent="-165100">
              <a:lnSpc>
                <a:spcPct val="106000"/>
              </a:lnSpc>
              <a:spcAft>
                <a:spcPts val="400"/>
              </a:spcAft>
              <a:buSzPct val="100000"/>
              <a:buChar char="•"/>
            </a:pPr>
            <a:r>
              <a:rPr lang="en-US" sz="1140" dirty="0">
                <a:solidFill>
                  <a:srgbClr val="4A5568"/>
                </a:solidFill>
                <a:latin typeface="Calibri" pitchFamily="34" charset="0"/>
                <a:ea typeface="Calibri" pitchFamily="34" charset="-122"/>
                <a:cs typeface="Calibri" pitchFamily="34" charset="-120"/>
              </a:rPr>
              <a:t>Two weeks of hypercare, then an optional AMC.</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01 · THE BRIEF</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Understanding News Karnataka</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Everything below shapes a design decision later in this document.</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4</a:t>
            </a:r>
            <a:endParaRPr lang="en-US" sz="1050" dirty="0"/>
          </a:p>
        </p:txBody>
      </p:sp>
      <p:sp>
        <p:nvSpPr>
          <p:cNvPr id="9" name="Shape 7"/>
          <p:cNvSpPr/>
          <p:nvPr/>
        </p:nvSpPr>
        <p:spPr>
          <a:xfrm>
            <a:off x="566928" y="1719072"/>
            <a:ext cx="420624" cy="420624"/>
          </a:xfrm>
          <a:prstGeom prst="ellipse">
            <a:avLst/>
          </a:prstGeom>
          <a:solidFill>
            <a:srgbClr val="0F1E3D"/>
          </a:solidFill>
          <a:ln/>
        </p:spPr>
        <p:txBody>
          <a:bodyPr/>
          <a:lstStyle/>
          <a:p>
            <a:endParaRPr lang="en-AE"/>
          </a:p>
        </p:txBody>
      </p:sp>
      <p:pic>
        <p:nvPicPr>
          <p:cNvPr id="10" name="Image 0" descr="preencoded.png"/>
          <p:cNvPicPr>
            <a:picLocks noChangeAspect="1"/>
          </p:cNvPicPr>
          <p:nvPr/>
        </p:nvPicPr>
        <p:blipFill>
          <a:blip r:embed="rId3"/>
          <a:stretch>
            <a:fillRect/>
          </a:stretch>
        </p:blipFill>
        <p:spPr>
          <a:xfrm>
            <a:off x="672084" y="1824228"/>
            <a:ext cx="210312" cy="210312"/>
          </a:xfrm>
          <a:prstGeom prst="rect">
            <a:avLst/>
          </a:prstGeom>
        </p:spPr>
      </p:pic>
      <p:sp>
        <p:nvSpPr>
          <p:cNvPr id="11" name="Text 8"/>
          <p:cNvSpPr txBox="1"/>
          <p:nvPr/>
        </p:nvSpPr>
        <p:spPr>
          <a:xfrm>
            <a:off x="1133856" y="1700784"/>
            <a:ext cx="295351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Publishing since 2012</a:t>
            </a:r>
            <a:endParaRPr lang="en-US" sz="1300" dirty="0"/>
          </a:p>
        </p:txBody>
      </p:sp>
      <p:sp>
        <p:nvSpPr>
          <p:cNvPr id="12" name="Text 9"/>
          <p:cNvSpPr txBox="1"/>
          <p:nvPr/>
        </p:nvSpPr>
        <p:spPr>
          <a:xfrm>
            <a:off x="1133856" y="1965960"/>
            <a:ext cx="2953512" cy="6400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Launched as a Kannada platform in May 2012, with the English portal added in March 2013 — two established audiences, not one.</a:t>
            </a:r>
            <a:endParaRPr lang="en-US" sz="1140" dirty="0"/>
          </a:p>
        </p:txBody>
      </p:sp>
      <p:sp>
        <p:nvSpPr>
          <p:cNvPr id="13" name="Shape 10"/>
          <p:cNvSpPr/>
          <p:nvPr/>
        </p:nvSpPr>
        <p:spPr>
          <a:xfrm>
            <a:off x="4270248" y="1719072"/>
            <a:ext cx="420624" cy="420624"/>
          </a:xfrm>
          <a:prstGeom prst="ellipse">
            <a:avLst/>
          </a:prstGeom>
          <a:solidFill>
            <a:srgbClr val="0F1E3D"/>
          </a:solidFill>
          <a:ln/>
        </p:spPr>
        <p:txBody>
          <a:bodyPr/>
          <a:lstStyle/>
          <a:p>
            <a:endParaRPr lang="en-AE"/>
          </a:p>
        </p:txBody>
      </p:sp>
      <p:pic>
        <p:nvPicPr>
          <p:cNvPr id="14" name="Image 1" descr="preencoded.png"/>
          <p:cNvPicPr>
            <a:picLocks noChangeAspect="1"/>
          </p:cNvPicPr>
          <p:nvPr/>
        </p:nvPicPr>
        <p:blipFill>
          <a:blip r:embed="rId4"/>
          <a:stretch>
            <a:fillRect/>
          </a:stretch>
        </p:blipFill>
        <p:spPr>
          <a:xfrm>
            <a:off x="4375404" y="1824228"/>
            <a:ext cx="210312" cy="210312"/>
          </a:xfrm>
          <a:prstGeom prst="rect">
            <a:avLst/>
          </a:prstGeom>
        </p:spPr>
      </p:pic>
      <p:sp>
        <p:nvSpPr>
          <p:cNvPr id="15" name="Text 11"/>
          <p:cNvSpPr txBox="1"/>
          <p:nvPr/>
        </p:nvSpPr>
        <p:spPr>
          <a:xfrm>
            <a:off x="4837176" y="1700784"/>
            <a:ext cx="295351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Rooted in coastal Karnataka</a:t>
            </a:r>
            <a:endParaRPr lang="en-US" sz="1300" dirty="0"/>
          </a:p>
        </p:txBody>
      </p:sp>
      <p:sp>
        <p:nvSpPr>
          <p:cNvPr id="16" name="Text 12"/>
          <p:cNvSpPr txBox="1"/>
          <p:nvPr/>
        </p:nvSpPr>
        <p:spPr>
          <a:xfrm>
            <a:off x="4837176" y="1965960"/>
            <a:ext cx="2953512" cy="6400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Headquartered in Mangaluru with strong Mangaluru–Udupi readership, alongside Bengaluru and Mysuru coverage.</a:t>
            </a:r>
            <a:endParaRPr lang="en-US" sz="1140" dirty="0"/>
          </a:p>
        </p:txBody>
      </p:sp>
      <p:sp>
        <p:nvSpPr>
          <p:cNvPr id="17" name="Shape 13"/>
          <p:cNvSpPr/>
          <p:nvPr/>
        </p:nvSpPr>
        <p:spPr>
          <a:xfrm>
            <a:off x="7973568" y="1719072"/>
            <a:ext cx="420624" cy="420624"/>
          </a:xfrm>
          <a:prstGeom prst="ellipse">
            <a:avLst/>
          </a:prstGeom>
          <a:solidFill>
            <a:srgbClr val="0F1E3D"/>
          </a:solidFill>
          <a:ln/>
        </p:spPr>
        <p:txBody>
          <a:bodyPr/>
          <a:lstStyle/>
          <a:p>
            <a:endParaRPr lang="en-AE"/>
          </a:p>
        </p:txBody>
      </p:sp>
      <p:pic>
        <p:nvPicPr>
          <p:cNvPr id="18" name="Image 2" descr="preencoded.png"/>
          <p:cNvPicPr>
            <a:picLocks noChangeAspect="1"/>
          </p:cNvPicPr>
          <p:nvPr/>
        </p:nvPicPr>
        <p:blipFill>
          <a:blip r:embed="rId5"/>
          <a:stretch>
            <a:fillRect/>
          </a:stretch>
        </p:blipFill>
        <p:spPr>
          <a:xfrm>
            <a:off x="8078724" y="1824228"/>
            <a:ext cx="210312" cy="210312"/>
          </a:xfrm>
          <a:prstGeom prst="rect">
            <a:avLst/>
          </a:prstGeom>
        </p:spPr>
      </p:pic>
      <p:sp>
        <p:nvSpPr>
          <p:cNvPr id="19" name="Text 14"/>
          <p:cNvSpPr txBox="1"/>
          <p:nvPr/>
        </p:nvSpPr>
        <p:spPr>
          <a:xfrm>
            <a:off x="8540496" y="1700784"/>
            <a:ext cx="295351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Genuinely bilingual</a:t>
            </a:r>
            <a:endParaRPr lang="en-US" sz="1300" dirty="0"/>
          </a:p>
        </p:txBody>
      </p:sp>
      <p:sp>
        <p:nvSpPr>
          <p:cNvPr id="20" name="Text 15"/>
          <p:cNvSpPr txBox="1"/>
          <p:nvPr/>
        </p:nvSpPr>
        <p:spPr>
          <a:xfrm>
            <a:off x="8540496" y="1965960"/>
            <a:ext cx="2953512" cy="6400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Kannada and English editions running in parallel. Language is a first-class product axis, not a translation afterthought.</a:t>
            </a:r>
            <a:endParaRPr lang="en-US" sz="1140" dirty="0"/>
          </a:p>
        </p:txBody>
      </p:sp>
      <p:sp>
        <p:nvSpPr>
          <p:cNvPr id="21" name="Shape 16"/>
          <p:cNvSpPr/>
          <p:nvPr/>
        </p:nvSpPr>
        <p:spPr>
          <a:xfrm>
            <a:off x="566928" y="3108960"/>
            <a:ext cx="420624" cy="420624"/>
          </a:xfrm>
          <a:prstGeom prst="ellipse">
            <a:avLst/>
          </a:prstGeom>
          <a:solidFill>
            <a:srgbClr val="C8102E"/>
          </a:solidFill>
          <a:ln/>
        </p:spPr>
        <p:txBody>
          <a:bodyPr/>
          <a:lstStyle/>
          <a:p>
            <a:endParaRPr lang="en-AE"/>
          </a:p>
        </p:txBody>
      </p:sp>
      <p:pic>
        <p:nvPicPr>
          <p:cNvPr id="22" name="Image 3" descr="preencoded.png"/>
          <p:cNvPicPr>
            <a:picLocks noChangeAspect="1"/>
          </p:cNvPicPr>
          <p:nvPr/>
        </p:nvPicPr>
        <p:blipFill>
          <a:blip r:embed="rId6"/>
          <a:stretch>
            <a:fillRect/>
          </a:stretch>
        </p:blipFill>
        <p:spPr>
          <a:xfrm>
            <a:off x="672084" y="3214116"/>
            <a:ext cx="210312" cy="210312"/>
          </a:xfrm>
          <a:prstGeom prst="rect">
            <a:avLst/>
          </a:prstGeom>
        </p:spPr>
      </p:pic>
      <p:sp>
        <p:nvSpPr>
          <p:cNvPr id="23" name="Text 17"/>
          <p:cNvSpPr txBox="1"/>
          <p:nvPr/>
        </p:nvSpPr>
        <p:spPr>
          <a:xfrm>
            <a:off x="1133856" y="3090672"/>
            <a:ext cx="295351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Broad desk coverage</a:t>
            </a:r>
            <a:endParaRPr lang="en-US" sz="1300" dirty="0"/>
          </a:p>
        </p:txBody>
      </p:sp>
      <p:sp>
        <p:nvSpPr>
          <p:cNvPr id="24" name="Text 18"/>
          <p:cNvSpPr txBox="1"/>
          <p:nvPr/>
        </p:nvSpPr>
        <p:spPr>
          <a:xfrm>
            <a:off x="1133856" y="3355848"/>
            <a:ext cx="2953512" cy="6400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Karnataka, India, World, Sports, Entertainment, Business, Education, Technology, Gaming and Lifestyle.</a:t>
            </a:r>
            <a:endParaRPr lang="en-US" sz="1140" dirty="0"/>
          </a:p>
        </p:txBody>
      </p:sp>
      <p:sp>
        <p:nvSpPr>
          <p:cNvPr id="25" name="Shape 19"/>
          <p:cNvSpPr/>
          <p:nvPr/>
        </p:nvSpPr>
        <p:spPr>
          <a:xfrm>
            <a:off x="4270248" y="3108960"/>
            <a:ext cx="420624" cy="420624"/>
          </a:xfrm>
          <a:prstGeom prst="ellipse">
            <a:avLst/>
          </a:prstGeom>
          <a:solidFill>
            <a:srgbClr val="C8102E"/>
          </a:solidFill>
          <a:ln/>
        </p:spPr>
        <p:txBody>
          <a:bodyPr/>
          <a:lstStyle/>
          <a:p>
            <a:endParaRPr lang="en-AE"/>
          </a:p>
        </p:txBody>
      </p:sp>
      <p:pic>
        <p:nvPicPr>
          <p:cNvPr id="26" name="Image 4" descr="preencoded.png"/>
          <p:cNvPicPr>
            <a:picLocks noChangeAspect="1"/>
          </p:cNvPicPr>
          <p:nvPr/>
        </p:nvPicPr>
        <p:blipFill>
          <a:blip r:embed="rId7"/>
          <a:stretch>
            <a:fillRect/>
          </a:stretch>
        </p:blipFill>
        <p:spPr>
          <a:xfrm>
            <a:off x="4375404" y="3214116"/>
            <a:ext cx="210312" cy="210312"/>
          </a:xfrm>
          <a:prstGeom prst="rect">
            <a:avLst/>
          </a:prstGeom>
        </p:spPr>
      </p:pic>
      <p:sp>
        <p:nvSpPr>
          <p:cNvPr id="27" name="Text 20"/>
          <p:cNvSpPr txBox="1"/>
          <p:nvPr/>
        </p:nvSpPr>
        <p:spPr>
          <a:xfrm>
            <a:off x="4837176" y="3090672"/>
            <a:ext cx="295351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Already multi-platform</a:t>
            </a:r>
            <a:endParaRPr lang="en-US" sz="1300" dirty="0"/>
          </a:p>
        </p:txBody>
      </p:sp>
      <p:sp>
        <p:nvSpPr>
          <p:cNvPr id="28" name="Text 21"/>
          <p:cNvSpPr txBox="1"/>
          <p:nvPr/>
        </p:nvSpPr>
        <p:spPr>
          <a:xfrm>
            <a:off x="4837176" y="3355848"/>
            <a:ext cx="2953512" cy="6400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Active on Facebook, Instagram, WhatsApp, YouTube, X, Threads and Google News — an owned app closes the loop.</a:t>
            </a:r>
            <a:endParaRPr lang="en-US" sz="1140" dirty="0"/>
          </a:p>
        </p:txBody>
      </p:sp>
      <p:sp>
        <p:nvSpPr>
          <p:cNvPr id="29" name="Shape 22"/>
          <p:cNvSpPr/>
          <p:nvPr/>
        </p:nvSpPr>
        <p:spPr>
          <a:xfrm>
            <a:off x="7973568" y="3108960"/>
            <a:ext cx="420624" cy="420624"/>
          </a:xfrm>
          <a:prstGeom prst="ellipse">
            <a:avLst/>
          </a:prstGeom>
          <a:solidFill>
            <a:srgbClr val="C8102E"/>
          </a:solidFill>
          <a:ln/>
        </p:spPr>
        <p:txBody>
          <a:bodyPr/>
          <a:lstStyle/>
          <a:p>
            <a:endParaRPr lang="en-AE"/>
          </a:p>
        </p:txBody>
      </p:sp>
      <p:pic>
        <p:nvPicPr>
          <p:cNvPr id="30" name="Image 5" descr="preencoded.png"/>
          <p:cNvPicPr>
            <a:picLocks noChangeAspect="1"/>
          </p:cNvPicPr>
          <p:nvPr/>
        </p:nvPicPr>
        <p:blipFill>
          <a:blip r:embed="rId8"/>
          <a:stretch>
            <a:fillRect/>
          </a:stretch>
        </p:blipFill>
        <p:spPr>
          <a:xfrm>
            <a:off x="8078724" y="3214116"/>
            <a:ext cx="210312" cy="210312"/>
          </a:xfrm>
          <a:prstGeom prst="rect">
            <a:avLst/>
          </a:prstGeom>
        </p:spPr>
      </p:pic>
      <p:sp>
        <p:nvSpPr>
          <p:cNvPr id="31" name="Text 23"/>
          <p:cNvSpPr txBox="1"/>
          <p:nvPr/>
        </p:nvSpPr>
        <p:spPr>
          <a:xfrm>
            <a:off x="8540496" y="3090672"/>
            <a:ext cx="295351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Standards-led newsroom</a:t>
            </a:r>
            <a:endParaRPr lang="en-US" sz="1300" dirty="0"/>
          </a:p>
        </p:txBody>
      </p:sp>
      <p:sp>
        <p:nvSpPr>
          <p:cNvPr id="32" name="Text 24"/>
          <p:cNvSpPr txBox="1"/>
          <p:nvPr/>
        </p:nvSpPr>
        <p:spPr>
          <a:xfrm>
            <a:off x="8540496" y="3355848"/>
            <a:ext cx="2953512" cy="6400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Published ethics, fact-checking and corrections policies. The product must visibly reflect that credibility.</a:t>
            </a:r>
            <a:endParaRPr lang="en-US" sz="1140" dirty="0"/>
          </a:p>
        </p:txBody>
      </p:sp>
      <p:sp>
        <p:nvSpPr>
          <p:cNvPr id="33" name="Shape 25"/>
          <p:cNvSpPr/>
          <p:nvPr/>
        </p:nvSpPr>
        <p:spPr>
          <a:xfrm>
            <a:off x="566928" y="4681728"/>
            <a:ext cx="11057839" cy="1371600"/>
          </a:xfrm>
          <a:prstGeom prst="roundRect">
            <a:avLst>
              <a:gd name="adj" fmla="val 8000"/>
            </a:avLst>
          </a:prstGeom>
          <a:solidFill>
            <a:srgbClr val="F4F7FC"/>
          </a:solidFill>
          <a:ln/>
        </p:spPr>
        <p:txBody>
          <a:bodyPr/>
          <a:lstStyle/>
          <a:p>
            <a:endParaRPr lang="en-AE"/>
          </a:p>
        </p:txBody>
      </p:sp>
      <p:sp>
        <p:nvSpPr>
          <p:cNvPr id="34" name="Text 26"/>
          <p:cNvSpPr txBox="1"/>
          <p:nvPr/>
        </p:nvSpPr>
        <p:spPr>
          <a:xfrm>
            <a:off x="841248" y="4681728"/>
            <a:ext cx="10509199" cy="1371600"/>
          </a:xfrm>
          <a:prstGeom prst="rect">
            <a:avLst/>
          </a:prstGeom>
          <a:noFill/>
          <a:ln/>
        </p:spPr>
        <p:txBody>
          <a:bodyPr wrap="square" lIns="0" tIns="0" rIns="0" bIns="0" rtlCol="0" anchor="ctr"/>
          <a:lstStyle/>
          <a:p>
            <a:pPr marL="0" indent="0">
              <a:lnSpc>
                <a:spcPct val="112000"/>
              </a:lnSpc>
              <a:buNone/>
            </a:pPr>
            <a:r>
              <a:rPr lang="en-US" sz="1250" b="1" dirty="0">
                <a:solidFill>
                  <a:srgbClr val="0F1E3D"/>
                </a:solidFill>
                <a:latin typeface="Calibri" pitchFamily="34" charset="0"/>
                <a:ea typeface="Calibri" pitchFamily="34" charset="-122"/>
                <a:cs typeface="Calibri" pitchFamily="34" charset="-120"/>
              </a:rPr>
              <a:t>The design consequence:  </a:t>
            </a:r>
            <a:r>
              <a:rPr lang="en-US" sz="1250" dirty="0">
                <a:solidFill>
                  <a:srgbClr val="4A5568"/>
                </a:solidFill>
                <a:latin typeface="Calibri" pitchFamily="34" charset="0"/>
                <a:ea typeface="Calibri" pitchFamily="34" charset="-122"/>
                <a:cs typeface="Calibri" pitchFamily="34" charset="-120"/>
              </a:rPr>
              <a:t>a reader in Udupi and a reader in Bengaluru should not see the same feed, and a Kannada reader should never be served an English-only experience. Location and language are the two axes every screen in this proposal is built around.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01 · THE BRIEF</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Why an owned app, and why now</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Four structural shifts that make this the right build at the right time.</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5</a:t>
            </a:r>
            <a:endParaRPr lang="en-US" sz="1050" dirty="0"/>
          </a:p>
        </p:txBody>
      </p:sp>
      <p:sp>
        <p:nvSpPr>
          <p:cNvPr id="9" name="Shape 7"/>
          <p:cNvSpPr/>
          <p:nvPr/>
        </p:nvSpPr>
        <p:spPr>
          <a:xfrm>
            <a:off x="566928" y="1645920"/>
            <a:ext cx="2615184" cy="279806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822960" y="1901952"/>
            <a:ext cx="457200" cy="457200"/>
          </a:xfrm>
          <a:prstGeom prst="ellipse">
            <a:avLst/>
          </a:prstGeom>
          <a:solidFill>
            <a:srgbClr val="C8102E"/>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928116" y="2007108"/>
            <a:ext cx="246888" cy="246888"/>
          </a:xfrm>
          <a:prstGeom prst="rect">
            <a:avLst/>
          </a:prstGeom>
        </p:spPr>
      </p:pic>
      <p:sp>
        <p:nvSpPr>
          <p:cNvPr id="12" name="Text 9"/>
          <p:cNvSpPr txBox="1"/>
          <p:nvPr/>
        </p:nvSpPr>
        <p:spPr>
          <a:xfrm>
            <a:off x="822960" y="2505456"/>
            <a:ext cx="2103120" cy="292608"/>
          </a:xfrm>
          <a:prstGeom prst="rect">
            <a:avLst/>
          </a:prstGeom>
          <a:noFill/>
          <a:ln/>
        </p:spPr>
        <p:txBody>
          <a:bodyPr wrap="square" lIns="0" tIns="0" rIns="0" bIns="0" rtlCol="0" anchor="t"/>
          <a:lstStyle/>
          <a:p>
            <a:pPr marL="0" indent="0">
              <a:lnSpc>
                <a:spcPct val="95000"/>
              </a:lnSpc>
              <a:buNone/>
            </a:pPr>
            <a:r>
              <a:rPr lang="en-US" sz="1350" b="1" dirty="0">
                <a:solidFill>
                  <a:srgbClr val="0F1E3D"/>
                </a:solidFill>
                <a:latin typeface="Cambria" pitchFamily="34" charset="0"/>
                <a:ea typeface="Cambria" pitchFamily="34" charset="-122"/>
                <a:cs typeface="Cambria" pitchFamily="34" charset="-120"/>
              </a:rPr>
              <a:t>Mobile-first readership</a:t>
            </a:r>
            <a:endParaRPr lang="en-US" sz="1350" dirty="0"/>
          </a:p>
        </p:txBody>
      </p:sp>
      <p:sp>
        <p:nvSpPr>
          <p:cNvPr id="13" name="Text 10"/>
          <p:cNvSpPr txBox="1"/>
          <p:nvPr/>
        </p:nvSpPr>
        <p:spPr>
          <a:xfrm>
            <a:off x="822960" y="2889504"/>
            <a:ext cx="2103120" cy="1298448"/>
          </a:xfrm>
          <a:prstGeom prst="rect">
            <a:avLst/>
          </a:prstGeom>
          <a:noFill/>
          <a:ln/>
        </p:spPr>
        <p:txBody>
          <a:bodyPr wrap="square" lIns="0" tIns="0" rIns="0" bIns="0" rtlCol="0" anchor="t">
            <a:normAutofit/>
          </a:bodyPr>
          <a:lstStyle/>
          <a:p>
            <a:pPr marL="0" indent="0">
              <a:lnSpc>
                <a:spcPct val="106000"/>
              </a:lnSpc>
              <a:spcAft>
                <a:spcPts val="400"/>
              </a:spcAft>
              <a:buNone/>
            </a:pPr>
            <a:r>
              <a:rPr lang="en-US" sz="1120" dirty="0">
                <a:solidFill>
                  <a:srgbClr val="4A5568"/>
                </a:solidFill>
                <a:latin typeface="Calibri" pitchFamily="34" charset="0"/>
                <a:ea typeface="Calibri" pitchFamily="34" charset="-122"/>
                <a:cs typeface="Calibri" pitchFamily="34" charset="-120"/>
              </a:rPr>
              <a:t>Regional news reading in India is overwhelmingly mobile and increasingly app-led. A browser tab competes for attention; a home-screen icon owns it.</a:t>
            </a:r>
            <a:endParaRPr lang="en-US" sz="1120" dirty="0"/>
          </a:p>
        </p:txBody>
      </p:sp>
      <p:sp>
        <p:nvSpPr>
          <p:cNvPr id="14" name="Shape 11"/>
          <p:cNvSpPr/>
          <p:nvPr/>
        </p:nvSpPr>
        <p:spPr>
          <a:xfrm>
            <a:off x="3392424" y="1645920"/>
            <a:ext cx="2615184" cy="279806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5" name="Shape 12"/>
          <p:cNvSpPr/>
          <p:nvPr/>
        </p:nvSpPr>
        <p:spPr>
          <a:xfrm>
            <a:off x="3648456" y="1901952"/>
            <a:ext cx="457200" cy="457200"/>
          </a:xfrm>
          <a:prstGeom prst="ellipse">
            <a:avLst/>
          </a:prstGeom>
          <a:solidFill>
            <a:srgbClr val="0F1E3D"/>
          </a:solidFill>
          <a:ln/>
        </p:spPr>
        <p:txBody>
          <a:bodyPr/>
          <a:lstStyle/>
          <a:p>
            <a:endParaRPr lang="en-AE"/>
          </a:p>
        </p:txBody>
      </p:sp>
      <p:pic>
        <p:nvPicPr>
          <p:cNvPr id="16" name="Image 1" descr="preencoded.png"/>
          <p:cNvPicPr>
            <a:picLocks noChangeAspect="1"/>
          </p:cNvPicPr>
          <p:nvPr/>
        </p:nvPicPr>
        <p:blipFill>
          <a:blip r:embed="rId4"/>
          <a:stretch>
            <a:fillRect/>
          </a:stretch>
        </p:blipFill>
        <p:spPr>
          <a:xfrm>
            <a:off x="3753612" y="2007108"/>
            <a:ext cx="246888" cy="246888"/>
          </a:xfrm>
          <a:prstGeom prst="rect">
            <a:avLst/>
          </a:prstGeom>
        </p:spPr>
      </p:pic>
      <p:sp>
        <p:nvSpPr>
          <p:cNvPr id="17" name="Text 13"/>
          <p:cNvSpPr txBox="1"/>
          <p:nvPr/>
        </p:nvSpPr>
        <p:spPr>
          <a:xfrm>
            <a:off x="3648456" y="2505456"/>
            <a:ext cx="2103120" cy="292608"/>
          </a:xfrm>
          <a:prstGeom prst="rect">
            <a:avLst/>
          </a:prstGeom>
          <a:noFill/>
          <a:ln/>
        </p:spPr>
        <p:txBody>
          <a:bodyPr wrap="square" lIns="0" tIns="0" rIns="0" bIns="0" rtlCol="0" anchor="t"/>
          <a:lstStyle/>
          <a:p>
            <a:pPr marL="0" indent="0">
              <a:lnSpc>
                <a:spcPct val="95000"/>
              </a:lnSpc>
              <a:buNone/>
            </a:pPr>
            <a:r>
              <a:rPr lang="en-US" sz="1350" b="1" dirty="0">
                <a:solidFill>
                  <a:srgbClr val="0F1E3D"/>
                </a:solidFill>
                <a:latin typeface="Cambria" pitchFamily="34" charset="0"/>
                <a:ea typeface="Cambria" pitchFamily="34" charset="-122"/>
                <a:cs typeface="Cambria" pitchFamily="34" charset="-120"/>
              </a:rPr>
              <a:t>Push beats the algorithm</a:t>
            </a:r>
            <a:endParaRPr lang="en-US" sz="1350" dirty="0"/>
          </a:p>
        </p:txBody>
      </p:sp>
      <p:sp>
        <p:nvSpPr>
          <p:cNvPr id="18" name="Text 14"/>
          <p:cNvSpPr txBox="1"/>
          <p:nvPr/>
        </p:nvSpPr>
        <p:spPr>
          <a:xfrm>
            <a:off x="3648456" y="2889504"/>
            <a:ext cx="2103120" cy="1298448"/>
          </a:xfrm>
          <a:prstGeom prst="rect">
            <a:avLst/>
          </a:prstGeom>
          <a:noFill/>
          <a:ln/>
        </p:spPr>
        <p:txBody>
          <a:bodyPr wrap="square" lIns="0" tIns="0" rIns="0" bIns="0" rtlCol="0" anchor="t">
            <a:normAutofit/>
          </a:bodyPr>
          <a:lstStyle/>
          <a:p>
            <a:pPr marL="0" indent="0">
              <a:lnSpc>
                <a:spcPct val="106000"/>
              </a:lnSpc>
              <a:spcAft>
                <a:spcPts val="400"/>
              </a:spcAft>
              <a:buNone/>
            </a:pPr>
            <a:r>
              <a:rPr lang="en-US" sz="1120" dirty="0">
                <a:solidFill>
                  <a:srgbClr val="4A5568"/>
                </a:solidFill>
                <a:latin typeface="Calibri" pitchFamily="34" charset="0"/>
                <a:ea typeface="Calibri" pitchFamily="34" charset="-122"/>
                <a:cs typeface="Calibri" pitchFamily="34" charset="-120"/>
              </a:rPr>
              <a:t>Social reach is rented and volatile. Push notifications to your own installed base are a direct, unmediated channel to readers you already earned.</a:t>
            </a:r>
            <a:endParaRPr lang="en-US" sz="1120" dirty="0"/>
          </a:p>
        </p:txBody>
      </p:sp>
      <p:sp>
        <p:nvSpPr>
          <p:cNvPr id="19" name="Shape 15"/>
          <p:cNvSpPr/>
          <p:nvPr/>
        </p:nvSpPr>
        <p:spPr>
          <a:xfrm>
            <a:off x="6217920" y="1645920"/>
            <a:ext cx="2615184" cy="279806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0" name="Shape 16"/>
          <p:cNvSpPr/>
          <p:nvPr/>
        </p:nvSpPr>
        <p:spPr>
          <a:xfrm>
            <a:off x="6473952" y="1901952"/>
            <a:ext cx="457200" cy="457200"/>
          </a:xfrm>
          <a:prstGeom prst="ellipse">
            <a:avLst/>
          </a:prstGeom>
          <a:solidFill>
            <a:srgbClr val="C8102E"/>
          </a:solidFill>
          <a:ln/>
        </p:spPr>
        <p:txBody>
          <a:bodyPr/>
          <a:lstStyle/>
          <a:p>
            <a:endParaRPr lang="en-AE"/>
          </a:p>
        </p:txBody>
      </p:sp>
      <p:pic>
        <p:nvPicPr>
          <p:cNvPr id="21" name="Image 2" descr="preencoded.png"/>
          <p:cNvPicPr>
            <a:picLocks noChangeAspect="1"/>
          </p:cNvPicPr>
          <p:nvPr/>
        </p:nvPicPr>
        <p:blipFill>
          <a:blip r:embed="rId5"/>
          <a:stretch>
            <a:fillRect/>
          </a:stretch>
        </p:blipFill>
        <p:spPr>
          <a:xfrm>
            <a:off x="6579108" y="2007108"/>
            <a:ext cx="246888" cy="246888"/>
          </a:xfrm>
          <a:prstGeom prst="rect">
            <a:avLst/>
          </a:prstGeom>
        </p:spPr>
      </p:pic>
      <p:sp>
        <p:nvSpPr>
          <p:cNvPr id="22" name="Text 17"/>
          <p:cNvSpPr txBox="1"/>
          <p:nvPr/>
        </p:nvSpPr>
        <p:spPr>
          <a:xfrm>
            <a:off x="6473952" y="2505456"/>
            <a:ext cx="2103120" cy="292608"/>
          </a:xfrm>
          <a:prstGeom prst="rect">
            <a:avLst/>
          </a:prstGeom>
          <a:noFill/>
          <a:ln/>
        </p:spPr>
        <p:txBody>
          <a:bodyPr wrap="square" lIns="0" tIns="0" rIns="0" bIns="0" rtlCol="0" anchor="t"/>
          <a:lstStyle/>
          <a:p>
            <a:pPr marL="0" indent="0">
              <a:lnSpc>
                <a:spcPct val="95000"/>
              </a:lnSpc>
              <a:buNone/>
            </a:pPr>
            <a:r>
              <a:rPr lang="en-US" sz="1350" b="1" dirty="0">
                <a:solidFill>
                  <a:srgbClr val="0F1E3D"/>
                </a:solidFill>
                <a:latin typeface="Cambria" pitchFamily="34" charset="0"/>
                <a:ea typeface="Cambria" pitchFamily="34" charset="-122"/>
                <a:cs typeface="Cambria" pitchFamily="34" charset="-120"/>
              </a:rPr>
              <a:t>Hyperlocal is under-served</a:t>
            </a:r>
            <a:endParaRPr lang="en-US" sz="1350" dirty="0"/>
          </a:p>
        </p:txBody>
      </p:sp>
      <p:sp>
        <p:nvSpPr>
          <p:cNvPr id="23" name="Text 18"/>
          <p:cNvSpPr txBox="1"/>
          <p:nvPr/>
        </p:nvSpPr>
        <p:spPr>
          <a:xfrm>
            <a:off x="6473952" y="2889504"/>
            <a:ext cx="2103120" cy="1298448"/>
          </a:xfrm>
          <a:prstGeom prst="rect">
            <a:avLst/>
          </a:prstGeom>
          <a:noFill/>
          <a:ln/>
        </p:spPr>
        <p:txBody>
          <a:bodyPr wrap="square" lIns="0" tIns="0" rIns="0" bIns="0" rtlCol="0" anchor="t">
            <a:normAutofit/>
          </a:bodyPr>
          <a:lstStyle/>
          <a:p>
            <a:pPr marL="0" indent="0">
              <a:lnSpc>
                <a:spcPct val="106000"/>
              </a:lnSpc>
              <a:spcAft>
                <a:spcPts val="400"/>
              </a:spcAft>
              <a:buNone/>
            </a:pPr>
            <a:r>
              <a:rPr lang="en-US" sz="1120" dirty="0">
                <a:solidFill>
                  <a:srgbClr val="4A5568"/>
                </a:solidFill>
                <a:latin typeface="Calibri" pitchFamily="34" charset="0"/>
                <a:ea typeface="Calibri" pitchFamily="34" charset="-122"/>
                <a:cs typeface="Calibri" pitchFamily="34" charset="-120"/>
              </a:rPr>
              <a:t>National apps cover Karnataka thinly and the coast barely at all. A location-first feed is a position they cannot copy cheaply.</a:t>
            </a:r>
            <a:endParaRPr lang="en-US" sz="1120" dirty="0"/>
          </a:p>
        </p:txBody>
      </p:sp>
      <p:sp>
        <p:nvSpPr>
          <p:cNvPr id="24" name="Shape 19"/>
          <p:cNvSpPr/>
          <p:nvPr/>
        </p:nvSpPr>
        <p:spPr>
          <a:xfrm>
            <a:off x="9043416" y="1645920"/>
            <a:ext cx="2615184" cy="279806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5" name="Shape 20"/>
          <p:cNvSpPr/>
          <p:nvPr/>
        </p:nvSpPr>
        <p:spPr>
          <a:xfrm>
            <a:off x="9299448" y="1901952"/>
            <a:ext cx="457200" cy="457200"/>
          </a:xfrm>
          <a:prstGeom prst="ellipse">
            <a:avLst/>
          </a:prstGeom>
          <a:solidFill>
            <a:srgbClr val="0F1E3D"/>
          </a:solidFill>
          <a:ln/>
        </p:spPr>
        <p:txBody>
          <a:bodyPr/>
          <a:lstStyle/>
          <a:p>
            <a:endParaRPr lang="en-AE"/>
          </a:p>
        </p:txBody>
      </p:sp>
      <p:pic>
        <p:nvPicPr>
          <p:cNvPr id="26" name="Image 3" descr="preencoded.png"/>
          <p:cNvPicPr>
            <a:picLocks noChangeAspect="1"/>
          </p:cNvPicPr>
          <p:nvPr/>
        </p:nvPicPr>
        <p:blipFill>
          <a:blip r:embed="rId6"/>
          <a:stretch>
            <a:fillRect/>
          </a:stretch>
        </p:blipFill>
        <p:spPr>
          <a:xfrm>
            <a:off x="9404604" y="2007108"/>
            <a:ext cx="246888" cy="246888"/>
          </a:xfrm>
          <a:prstGeom prst="rect">
            <a:avLst/>
          </a:prstGeom>
        </p:spPr>
      </p:pic>
      <p:sp>
        <p:nvSpPr>
          <p:cNvPr id="27" name="Text 21"/>
          <p:cNvSpPr txBox="1"/>
          <p:nvPr/>
        </p:nvSpPr>
        <p:spPr>
          <a:xfrm>
            <a:off x="9299448" y="2505456"/>
            <a:ext cx="2103120" cy="292608"/>
          </a:xfrm>
          <a:prstGeom prst="rect">
            <a:avLst/>
          </a:prstGeom>
          <a:noFill/>
          <a:ln/>
        </p:spPr>
        <p:txBody>
          <a:bodyPr wrap="square" lIns="0" tIns="0" rIns="0" bIns="0" rtlCol="0" anchor="t"/>
          <a:lstStyle/>
          <a:p>
            <a:pPr marL="0" indent="0">
              <a:lnSpc>
                <a:spcPct val="95000"/>
              </a:lnSpc>
              <a:buNone/>
            </a:pPr>
            <a:r>
              <a:rPr lang="en-US" sz="1350" b="1" dirty="0">
                <a:solidFill>
                  <a:srgbClr val="0F1E3D"/>
                </a:solidFill>
                <a:latin typeface="Cambria" pitchFamily="34" charset="0"/>
                <a:ea typeface="Cambria" pitchFamily="34" charset="-122"/>
                <a:cs typeface="Cambria" pitchFamily="34" charset="-120"/>
              </a:rPr>
              <a:t>First-party data sells</a:t>
            </a:r>
            <a:endParaRPr lang="en-US" sz="1350" dirty="0"/>
          </a:p>
        </p:txBody>
      </p:sp>
      <p:sp>
        <p:nvSpPr>
          <p:cNvPr id="28" name="Text 22"/>
          <p:cNvSpPr txBox="1"/>
          <p:nvPr/>
        </p:nvSpPr>
        <p:spPr>
          <a:xfrm>
            <a:off x="9299448" y="2889504"/>
            <a:ext cx="2103120" cy="1298448"/>
          </a:xfrm>
          <a:prstGeom prst="rect">
            <a:avLst/>
          </a:prstGeom>
          <a:noFill/>
          <a:ln/>
        </p:spPr>
        <p:txBody>
          <a:bodyPr wrap="square" lIns="0" tIns="0" rIns="0" bIns="0" rtlCol="0" anchor="t">
            <a:normAutofit/>
          </a:bodyPr>
          <a:lstStyle/>
          <a:p>
            <a:pPr marL="0" indent="0">
              <a:lnSpc>
                <a:spcPct val="106000"/>
              </a:lnSpc>
              <a:spcAft>
                <a:spcPts val="400"/>
              </a:spcAft>
              <a:buNone/>
            </a:pPr>
            <a:r>
              <a:rPr lang="en-US" sz="1120" dirty="0">
                <a:solidFill>
                  <a:srgbClr val="4A5568"/>
                </a:solidFill>
                <a:latin typeface="Calibri" pitchFamily="34" charset="0"/>
                <a:ea typeface="Calibri" pitchFamily="34" charset="-122"/>
                <a:cs typeface="Calibri" pitchFamily="34" charset="-120"/>
              </a:rPr>
              <a:t>Logged-in readers with known city, language and topic interests let you sell geo- and interest-targeted inventory at far better rates than generic banners.</a:t>
            </a:r>
            <a:endParaRPr lang="en-US" sz="1120" dirty="0"/>
          </a:p>
        </p:txBody>
      </p:sp>
      <p:sp>
        <p:nvSpPr>
          <p:cNvPr id="29" name="Shape 23"/>
          <p:cNvSpPr/>
          <p:nvPr/>
        </p:nvSpPr>
        <p:spPr>
          <a:xfrm>
            <a:off x="566928" y="4645152"/>
            <a:ext cx="11057839" cy="1426464"/>
          </a:xfrm>
          <a:prstGeom prst="roundRect">
            <a:avLst>
              <a:gd name="adj" fmla="val 7692"/>
            </a:avLst>
          </a:prstGeom>
          <a:solidFill>
            <a:srgbClr val="0F1E3D"/>
          </a:solidFill>
          <a:ln/>
        </p:spPr>
        <p:txBody>
          <a:bodyPr/>
          <a:lstStyle/>
          <a:p>
            <a:endParaRPr lang="en-AE"/>
          </a:p>
        </p:txBody>
      </p:sp>
      <p:sp>
        <p:nvSpPr>
          <p:cNvPr id="30" name="Text 24"/>
          <p:cNvSpPr txBox="1"/>
          <p:nvPr/>
        </p:nvSpPr>
        <p:spPr>
          <a:xfrm>
            <a:off x="877824" y="4791456"/>
            <a:ext cx="3657600" cy="310896"/>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The risk of waiting</a:t>
            </a:r>
            <a:endParaRPr lang="en-US" sz="1600" dirty="0"/>
          </a:p>
        </p:txBody>
      </p:sp>
      <p:sp>
        <p:nvSpPr>
          <p:cNvPr id="31" name="Text 25"/>
          <p:cNvSpPr txBox="1"/>
          <p:nvPr/>
        </p:nvSpPr>
        <p:spPr>
          <a:xfrm>
            <a:off x="877824" y="5138928"/>
            <a:ext cx="10436047" cy="877824"/>
          </a:xfrm>
          <a:prstGeom prst="rect">
            <a:avLst/>
          </a:prstGeom>
          <a:noFill/>
          <a:ln/>
        </p:spPr>
        <p:txBody>
          <a:bodyPr wrap="square" lIns="0" tIns="0" rIns="0" bIns="0" rtlCol="0" anchor="t"/>
          <a:lstStyle/>
          <a:p>
            <a:pPr marL="0" indent="0">
              <a:lnSpc>
                <a:spcPct val="114000"/>
              </a:lnSpc>
              <a:buNone/>
            </a:pPr>
            <a:r>
              <a:rPr lang="en-US" sz="1220" dirty="0">
                <a:solidFill>
                  <a:srgbClr val="C6D2E6"/>
                </a:solidFill>
                <a:latin typeface="Calibri" pitchFamily="34" charset="0"/>
                <a:ea typeface="Calibri" pitchFamily="34" charset="-122"/>
                <a:cs typeface="Calibri" pitchFamily="34" charset="-120"/>
              </a:rPr>
              <a:t>Every month without an owned app is a month of reader relationships mediated by someone else's ranking algorithm — and a month of ad inventory sold on someone else's terms. Regional publishers who moved early on apps now own their most valuable audience segment outright; those who waited are still buying reach back from platforms.</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01 · THE BRIEF</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Objectives &amp; definition of done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Five objectives, each with the test that proves we met it.</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6</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11045952" cy="3593592"/>
        </p:xfrm>
        <a:graphic>
          <a:graphicData uri="http://schemas.openxmlformats.org/drawingml/2006/table">
            <a:tbl>
              <a:tblPr/>
              <a:tblGrid>
                <a:gridCol w="502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3547872">
                  <a:extLst>
                    <a:ext uri="{9D8B030D-6E8A-4147-A177-3AD203B41FA5}">
                      <a16:colId xmlns:a16="http://schemas.microsoft.com/office/drawing/2014/main" val="20003"/>
                    </a:ext>
                  </a:extLst>
                </a:gridCol>
              </a:tblGrid>
              <a:tr h="598932">
                <a:tc>
                  <a:txBody>
                    <a:bodyPr/>
                    <a:lstStyle/>
                    <a:p>
                      <a:pPr marL="0" indent="0" algn="l">
                        <a:buNone/>
                      </a:pPr>
                      <a:r>
                        <a:rPr lang="en-US" sz="1060" b="1" dirty="0">
                          <a:solidFill>
                            <a:srgbClr val="FFFFFF"/>
                          </a:solidFill>
                          <a:latin typeface="Calibri" pitchFamily="34" charset="0"/>
                          <a:ea typeface="Calibri" pitchFamily="34" charset="-122"/>
                          <a:cs typeface="Calibri" pitchFamily="34" charset="-120"/>
                        </a:rPr>
                        <a:t>#</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60" b="1" dirty="0">
                          <a:solidFill>
                            <a:srgbClr val="FFFFFF"/>
                          </a:solidFill>
                          <a:latin typeface="Calibri" pitchFamily="34" charset="0"/>
                          <a:ea typeface="Calibri" pitchFamily="34" charset="-122"/>
                          <a:cs typeface="Calibri" pitchFamily="34" charset="-120"/>
                        </a:rPr>
                        <a:t>Objective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60" b="1" dirty="0">
                          <a:solidFill>
                            <a:srgbClr val="FFFFFF"/>
                          </a:solidFill>
                          <a:latin typeface="Calibri" pitchFamily="34" charset="0"/>
                          <a:ea typeface="Calibri" pitchFamily="34" charset="-122"/>
                          <a:cs typeface="Calibri" pitchFamily="34" charset="-120"/>
                        </a:rPr>
                        <a:t>What it means in the product</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60" b="1" dirty="0">
                          <a:solidFill>
                            <a:srgbClr val="FFFFFF"/>
                          </a:solidFill>
                          <a:latin typeface="Calibri" pitchFamily="34" charset="0"/>
                          <a:ea typeface="Calibri" pitchFamily="34" charset="-122"/>
                          <a:cs typeface="Calibri" pitchFamily="34" charset="-120"/>
                        </a:rPr>
                        <a:t>How we prove it at handover</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extLst>
                  <a:ext uri="{0D108BD9-81ED-4DB2-BD59-A6C34878D82A}">
                    <a16:rowId xmlns:a16="http://schemas.microsoft.com/office/drawing/2014/main" val="10000"/>
                  </a:ext>
                </a:extLst>
              </a:tr>
              <a:tr h="598932">
                <a:tc>
                  <a:txBody>
                    <a:bodyPr/>
                    <a:lstStyle/>
                    <a:p>
                      <a:pPr marL="0" indent="0" algn="l">
                        <a:buNone/>
                      </a:pPr>
                      <a:r>
                        <a:rPr lang="en-US" sz="1100" b="1" dirty="0">
                          <a:solidFill>
                            <a:srgbClr val="0F1E3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Launch on all three platforms</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Native-quality iOS and Android apps plus a responsive web app and installable PWA</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Live store listings and a public web URL, all serving the same content API</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1"/>
                  </a:ext>
                </a:extLst>
              </a:tr>
              <a:tr h="598932">
                <a:tc>
                  <a:txBody>
                    <a:bodyPr/>
                    <a:lstStyle/>
                    <a:p>
                      <a:pPr marL="0" indent="0" algn="l">
                        <a:buNone/>
                      </a:pPr>
                      <a:r>
                        <a:rPr lang="en-US" sz="1100" b="1" dirty="0">
                          <a:solidFill>
                            <a:srgbClr val="0F1E3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Make the feed feel local</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AI weights every reader's feed toward their own city before regional, national and world news</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Two test accounts in different cities produce measurably different feeds</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8932">
                <a:tc>
                  <a:txBody>
                    <a:bodyPr/>
                    <a:lstStyle/>
                    <a:p>
                      <a:pPr marL="0" indent="0" algn="l">
                        <a:buNone/>
                      </a:pPr>
                      <a:r>
                        <a:rPr lang="en-US" sz="1100" b="1" dirty="0">
                          <a:solidFill>
                            <a:srgbClr val="0F1E3D"/>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Serve both languages equally</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Kannada and English throughout, switchable without losing session or position</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Full UI, notifications and feed verified in both languages</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3"/>
                  </a:ext>
                </a:extLst>
              </a:tr>
              <a:tr h="598932">
                <a:tc>
                  <a:txBody>
                    <a:bodyPr/>
                    <a:lstStyle/>
                    <a:p>
                      <a:pPr marL="0" indent="0" algn="l">
                        <a:buNone/>
                      </a:pPr>
                      <a:r>
                        <a:rPr lang="en-US" sz="1100" b="1" dirty="0">
                          <a:solidFill>
                            <a:srgbClr val="0F1E3D"/>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Turn readers into a community</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Threaded comments, reactions, bookmarks and one-tap sharing on every story</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Moderation queue live; engagement events flowing into analytics</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8932">
                <a:tc>
                  <a:txBody>
                    <a:bodyPr/>
                    <a:lstStyle/>
                    <a:p>
                      <a:pPr marL="0" indent="0" algn="l">
                        <a:buNone/>
                      </a:pPr>
                      <a:r>
                        <a:rPr lang="en-US" sz="1100" b="1" dirty="0">
                          <a:solidFill>
                            <a:srgbClr val="0F1E3D"/>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Earn from day one</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Ad slots, subscription billing and classifieds all wired before launch, not after</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Test transactions completed end to end in each of the three streams</a:t>
                      </a:r>
                      <a:endParaRPr lang="en-US" sz="110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5"/>
                  </a:ext>
                </a:extLst>
              </a:tr>
            </a:tbl>
          </a:graphicData>
        </a:graphic>
      </p:graphicFrame>
      <p:sp>
        <p:nvSpPr>
          <p:cNvPr id="10" name="Shape 7"/>
          <p:cNvSpPr/>
          <p:nvPr/>
        </p:nvSpPr>
        <p:spPr>
          <a:xfrm>
            <a:off x="566928" y="5449824"/>
            <a:ext cx="11057839" cy="640080"/>
          </a:xfrm>
          <a:prstGeom prst="roundRect">
            <a:avLst>
              <a:gd name="adj" fmla="val 14286"/>
            </a:avLst>
          </a:prstGeom>
          <a:solidFill>
            <a:srgbClr val="F4F7FC"/>
          </a:solidFill>
          <a:ln/>
        </p:spPr>
        <p:txBody>
          <a:bodyPr/>
          <a:lstStyle/>
          <a:p>
            <a:endParaRPr lang="en-AE"/>
          </a:p>
        </p:txBody>
      </p:sp>
      <p:sp>
        <p:nvSpPr>
          <p:cNvPr id="11" name="Text 8"/>
          <p:cNvSpPr txBox="1"/>
          <p:nvPr/>
        </p:nvSpPr>
        <p:spPr>
          <a:xfrm>
            <a:off x="841248" y="5449824"/>
            <a:ext cx="10509199" cy="640080"/>
          </a:xfrm>
          <a:prstGeom prst="rect">
            <a:avLst/>
          </a:prstGeom>
          <a:noFill/>
          <a:ln/>
        </p:spPr>
        <p:txBody>
          <a:bodyPr wrap="square" lIns="0" tIns="0" rIns="0" bIns="0" rtlCol="0" anchor="ctr"/>
          <a:lstStyle/>
          <a:p>
            <a:pPr marL="0" indent="0">
              <a:buNone/>
            </a:pPr>
            <a:r>
              <a:rPr lang="en-US" sz="1140" b="1" dirty="0">
                <a:solidFill>
                  <a:srgbClr val="0F1E3D"/>
                </a:solidFill>
                <a:latin typeface="Calibri" pitchFamily="34" charset="0"/>
                <a:ea typeface="Calibri" pitchFamily="34" charset="-122"/>
                <a:cs typeface="Calibri" pitchFamily="34" charset="-120"/>
              </a:rPr>
              <a:t>Out of scope for these eight weeks:  </a:t>
            </a:r>
            <a:r>
              <a:rPr lang="en-US" sz="1140" dirty="0">
                <a:solidFill>
                  <a:srgbClr val="4A5568"/>
                </a:solidFill>
                <a:latin typeface="Calibri" pitchFamily="34" charset="0"/>
                <a:ea typeface="Calibri" pitchFamily="34" charset="-122"/>
                <a:cs typeface="Calibri" pitchFamily="34" charset="-120"/>
              </a:rPr>
              <a:t>content migration of the existing archive beyond a defined cut-off, video production, a redesign of newskarnataka.com itself, and print workflows. Each can be quoted separately.</a:t>
            </a:r>
            <a:endParaRPr lang="en-US" sz="11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E3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58368" y="2286000"/>
            <a:ext cx="4572000" cy="274320"/>
          </a:xfrm>
          <a:prstGeom prst="rect">
            <a:avLst/>
          </a:prstGeom>
          <a:noFill/>
          <a:ln/>
        </p:spPr>
        <p:txBody>
          <a:bodyPr wrap="square" lIns="0" tIns="0" rIns="0" bIns="0" rtlCol="0" anchor="ctr"/>
          <a:lstStyle/>
          <a:p>
            <a:pPr marL="0" indent="0">
              <a:buNone/>
            </a:pPr>
            <a:r>
              <a:rPr lang="en-US" sz="1200" b="1" kern="0" spc="300" dirty="0">
                <a:solidFill>
                  <a:srgbClr val="F0A81C"/>
                </a:solidFill>
                <a:latin typeface="Calibri" pitchFamily="34" charset="0"/>
                <a:ea typeface="Calibri" pitchFamily="34" charset="-122"/>
                <a:cs typeface="Calibri" pitchFamily="34" charset="-120"/>
              </a:rPr>
              <a:t>PART 02</a:t>
            </a:r>
            <a:endParaRPr lang="en-US" sz="1200" dirty="0"/>
          </a:p>
        </p:txBody>
      </p:sp>
      <p:sp>
        <p:nvSpPr>
          <p:cNvPr id="4" name="Text 1"/>
          <p:cNvSpPr txBox="1"/>
          <p:nvPr/>
        </p:nvSpPr>
        <p:spPr>
          <a:xfrm>
            <a:off x="658368" y="2651760"/>
            <a:ext cx="6309360" cy="10058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Product</a:t>
            </a:r>
            <a:endParaRPr lang="en-US" sz="4000" dirty="0"/>
          </a:p>
        </p:txBody>
      </p:sp>
      <p:sp>
        <p:nvSpPr>
          <p:cNvPr id="5" name="Text 2"/>
          <p:cNvSpPr txBox="1"/>
          <p:nvPr/>
        </p:nvSpPr>
        <p:spPr>
          <a:xfrm>
            <a:off x="658368" y="3703320"/>
            <a:ext cx="5669280" cy="731520"/>
          </a:xfrm>
          <a:prstGeom prst="rect">
            <a:avLst/>
          </a:prstGeom>
          <a:noFill/>
          <a:ln/>
        </p:spPr>
        <p:txBody>
          <a:bodyPr wrap="square" lIns="0" tIns="0" rIns="0" bIns="0" rtlCol="0" anchor="ctr"/>
          <a:lstStyle/>
          <a:p>
            <a:pPr marL="0" indent="0">
              <a:buNone/>
            </a:pPr>
            <a:r>
              <a:rPr lang="en-US" sz="1400" dirty="0">
                <a:solidFill>
                  <a:srgbClr val="C6D2E6"/>
                </a:solidFill>
                <a:latin typeface="Calibri" pitchFamily="34" charset="0"/>
                <a:ea typeface="Calibri" pitchFamily="34" charset="-122"/>
                <a:cs typeface="Calibri" pitchFamily="34" charset="-120"/>
              </a:rPr>
              <a:t>What the reader sees, what the newsroom controls, and the intelligence between them.</a:t>
            </a:r>
            <a:endParaRPr lang="en-US" sz="1400" dirty="0"/>
          </a:p>
        </p:txBody>
      </p:sp>
      <p:sp>
        <p:nvSpPr>
          <p:cNvPr id="6" name="Shape 3"/>
          <p:cNvSpPr/>
          <p:nvPr/>
        </p:nvSpPr>
        <p:spPr>
          <a:xfrm>
            <a:off x="7772400" y="1599057"/>
            <a:ext cx="274320" cy="274320"/>
          </a:xfrm>
          <a:prstGeom prst="ellipse">
            <a:avLst/>
          </a:prstGeom>
          <a:solidFill>
            <a:srgbClr val="C8102E"/>
          </a:solidFill>
          <a:ln/>
        </p:spPr>
        <p:txBody>
          <a:bodyPr/>
          <a:lstStyle/>
          <a:p>
            <a:endParaRPr lang="en-AE"/>
          </a:p>
        </p:txBody>
      </p:sp>
      <p:sp>
        <p:nvSpPr>
          <p:cNvPr id="7" name="Text 4"/>
          <p:cNvSpPr txBox="1"/>
          <p:nvPr/>
        </p:nvSpPr>
        <p:spPr>
          <a:xfrm>
            <a:off x="7772400" y="159905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5"/>
          <p:cNvSpPr txBox="1"/>
          <p:nvPr/>
        </p:nvSpPr>
        <p:spPr>
          <a:xfrm>
            <a:off x="8211312" y="1490472"/>
            <a:ext cx="3520440" cy="491490"/>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Product at a glance</a:t>
            </a:r>
            <a:endParaRPr lang="en-US" sz="1250" dirty="0"/>
          </a:p>
        </p:txBody>
      </p:sp>
      <p:sp>
        <p:nvSpPr>
          <p:cNvPr id="9" name="Shape 6"/>
          <p:cNvSpPr/>
          <p:nvPr/>
        </p:nvSpPr>
        <p:spPr>
          <a:xfrm>
            <a:off x="7772400" y="2090547"/>
            <a:ext cx="274320" cy="274320"/>
          </a:xfrm>
          <a:prstGeom prst="ellipse">
            <a:avLst/>
          </a:prstGeom>
          <a:solidFill>
            <a:srgbClr val="C8102E"/>
          </a:solidFill>
          <a:ln/>
        </p:spPr>
        <p:txBody>
          <a:bodyPr/>
          <a:lstStyle/>
          <a:p>
            <a:endParaRPr lang="en-AE"/>
          </a:p>
        </p:txBody>
      </p:sp>
      <p:sp>
        <p:nvSpPr>
          <p:cNvPr id="10" name="Text 7"/>
          <p:cNvSpPr txBox="1"/>
          <p:nvPr/>
        </p:nvSpPr>
        <p:spPr>
          <a:xfrm>
            <a:off x="7772400" y="209054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8"/>
          <p:cNvSpPr txBox="1"/>
          <p:nvPr/>
        </p:nvSpPr>
        <p:spPr>
          <a:xfrm>
            <a:off x="8211312" y="1981962"/>
            <a:ext cx="3520440" cy="491490"/>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Location-first news hierarchy</a:t>
            </a:r>
            <a:endParaRPr lang="en-US" sz="1250" dirty="0"/>
          </a:p>
        </p:txBody>
      </p:sp>
      <p:sp>
        <p:nvSpPr>
          <p:cNvPr id="12" name="Shape 9"/>
          <p:cNvSpPr/>
          <p:nvPr/>
        </p:nvSpPr>
        <p:spPr>
          <a:xfrm>
            <a:off x="7772400" y="2582037"/>
            <a:ext cx="274320" cy="274320"/>
          </a:xfrm>
          <a:prstGeom prst="ellipse">
            <a:avLst/>
          </a:prstGeom>
          <a:solidFill>
            <a:srgbClr val="C8102E"/>
          </a:solidFill>
          <a:ln/>
        </p:spPr>
        <p:txBody>
          <a:bodyPr/>
          <a:lstStyle/>
          <a:p>
            <a:endParaRPr lang="en-AE"/>
          </a:p>
        </p:txBody>
      </p:sp>
      <p:sp>
        <p:nvSpPr>
          <p:cNvPr id="13" name="Text 10"/>
          <p:cNvSpPr txBox="1"/>
          <p:nvPr/>
        </p:nvSpPr>
        <p:spPr>
          <a:xfrm>
            <a:off x="7772400" y="258203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4" name="Text 11"/>
          <p:cNvSpPr txBox="1"/>
          <p:nvPr/>
        </p:nvSpPr>
        <p:spPr>
          <a:xfrm>
            <a:off x="8211312" y="2473452"/>
            <a:ext cx="3520440" cy="491490"/>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The AI layer</a:t>
            </a:r>
            <a:endParaRPr lang="en-US" sz="1250" dirty="0"/>
          </a:p>
        </p:txBody>
      </p:sp>
      <p:sp>
        <p:nvSpPr>
          <p:cNvPr id="15" name="Shape 12"/>
          <p:cNvSpPr/>
          <p:nvPr/>
        </p:nvSpPr>
        <p:spPr>
          <a:xfrm>
            <a:off x="7772400" y="3073527"/>
            <a:ext cx="274320" cy="274320"/>
          </a:xfrm>
          <a:prstGeom prst="ellipse">
            <a:avLst/>
          </a:prstGeom>
          <a:solidFill>
            <a:srgbClr val="C8102E"/>
          </a:solidFill>
          <a:ln/>
        </p:spPr>
        <p:txBody>
          <a:bodyPr/>
          <a:lstStyle/>
          <a:p>
            <a:endParaRPr lang="en-AE"/>
          </a:p>
        </p:txBody>
      </p:sp>
      <p:sp>
        <p:nvSpPr>
          <p:cNvPr id="16" name="Text 13"/>
          <p:cNvSpPr txBox="1"/>
          <p:nvPr/>
        </p:nvSpPr>
        <p:spPr>
          <a:xfrm>
            <a:off x="7772400" y="307352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Text 14"/>
          <p:cNvSpPr txBox="1"/>
          <p:nvPr/>
        </p:nvSpPr>
        <p:spPr>
          <a:xfrm>
            <a:off x="8211312" y="2964942"/>
            <a:ext cx="3520440" cy="491490"/>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Reading experience</a:t>
            </a:r>
            <a:endParaRPr lang="en-US" sz="1250" dirty="0"/>
          </a:p>
        </p:txBody>
      </p:sp>
      <p:sp>
        <p:nvSpPr>
          <p:cNvPr id="18" name="Shape 15"/>
          <p:cNvSpPr/>
          <p:nvPr/>
        </p:nvSpPr>
        <p:spPr>
          <a:xfrm>
            <a:off x="7772400" y="3565017"/>
            <a:ext cx="274320" cy="274320"/>
          </a:xfrm>
          <a:prstGeom prst="ellipse">
            <a:avLst/>
          </a:prstGeom>
          <a:solidFill>
            <a:srgbClr val="C8102E"/>
          </a:solidFill>
          <a:ln/>
        </p:spPr>
        <p:txBody>
          <a:bodyPr/>
          <a:lstStyle/>
          <a:p>
            <a:endParaRPr lang="en-AE"/>
          </a:p>
        </p:txBody>
      </p:sp>
      <p:sp>
        <p:nvSpPr>
          <p:cNvPr id="19" name="Text 16"/>
          <p:cNvSpPr txBox="1"/>
          <p:nvPr/>
        </p:nvSpPr>
        <p:spPr>
          <a:xfrm>
            <a:off x="7772400" y="356501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7"/>
          <p:cNvSpPr txBox="1"/>
          <p:nvPr/>
        </p:nvSpPr>
        <p:spPr>
          <a:xfrm>
            <a:off x="8211312" y="3456432"/>
            <a:ext cx="3520440" cy="491490"/>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Engagement &amp; community</a:t>
            </a:r>
            <a:endParaRPr lang="en-US" sz="1250" dirty="0"/>
          </a:p>
        </p:txBody>
      </p:sp>
      <p:sp>
        <p:nvSpPr>
          <p:cNvPr id="21" name="Shape 18"/>
          <p:cNvSpPr/>
          <p:nvPr/>
        </p:nvSpPr>
        <p:spPr>
          <a:xfrm>
            <a:off x="7772400" y="4056507"/>
            <a:ext cx="274320" cy="274320"/>
          </a:xfrm>
          <a:prstGeom prst="ellipse">
            <a:avLst/>
          </a:prstGeom>
          <a:solidFill>
            <a:srgbClr val="C8102E"/>
          </a:solidFill>
          <a:ln/>
        </p:spPr>
        <p:txBody>
          <a:bodyPr/>
          <a:lstStyle/>
          <a:p>
            <a:endParaRPr lang="en-AE"/>
          </a:p>
        </p:txBody>
      </p:sp>
      <p:sp>
        <p:nvSpPr>
          <p:cNvPr id="22" name="Text 19"/>
          <p:cNvSpPr txBox="1"/>
          <p:nvPr/>
        </p:nvSpPr>
        <p:spPr>
          <a:xfrm>
            <a:off x="7772400" y="405650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3" name="Text 20"/>
          <p:cNvSpPr txBox="1"/>
          <p:nvPr/>
        </p:nvSpPr>
        <p:spPr>
          <a:xfrm>
            <a:off x="8211312" y="3947922"/>
            <a:ext cx="3520440" cy="491490"/>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Discovery &amp; personalisation</a:t>
            </a:r>
            <a:endParaRPr lang="en-US" sz="1250" dirty="0"/>
          </a:p>
        </p:txBody>
      </p:sp>
      <p:sp>
        <p:nvSpPr>
          <p:cNvPr id="24" name="Shape 21"/>
          <p:cNvSpPr/>
          <p:nvPr/>
        </p:nvSpPr>
        <p:spPr>
          <a:xfrm>
            <a:off x="7772400" y="4547997"/>
            <a:ext cx="274320" cy="274320"/>
          </a:xfrm>
          <a:prstGeom prst="ellipse">
            <a:avLst/>
          </a:prstGeom>
          <a:solidFill>
            <a:srgbClr val="C8102E"/>
          </a:solidFill>
          <a:ln/>
        </p:spPr>
        <p:txBody>
          <a:bodyPr/>
          <a:lstStyle/>
          <a:p>
            <a:endParaRPr lang="en-AE"/>
          </a:p>
        </p:txBody>
      </p:sp>
      <p:sp>
        <p:nvSpPr>
          <p:cNvPr id="25" name="Text 22"/>
          <p:cNvSpPr txBox="1"/>
          <p:nvPr/>
        </p:nvSpPr>
        <p:spPr>
          <a:xfrm>
            <a:off x="7772400" y="454799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6" name="Text 23"/>
          <p:cNvSpPr txBox="1"/>
          <p:nvPr/>
        </p:nvSpPr>
        <p:spPr>
          <a:xfrm>
            <a:off x="8211312" y="4439412"/>
            <a:ext cx="3520440" cy="491490"/>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Kannada + English by design</a:t>
            </a:r>
            <a:endParaRPr lang="en-US" sz="1250" dirty="0"/>
          </a:p>
        </p:txBody>
      </p:sp>
      <p:sp>
        <p:nvSpPr>
          <p:cNvPr id="27" name="Shape 24"/>
          <p:cNvSpPr/>
          <p:nvPr/>
        </p:nvSpPr>
        <p:spPr>
          <a:xfrm>
            <a:off x="7772400" y="5039487"/>
            <a:ext cx="274320" cy="274320"/>
          </a:xfrm>
          <a:prstGeom prst="ellipse">
            <a:avLst/>
          </a:prstGeom>
          <a:solidFill>
            <a:srgbClr val="C8102E"/>
          </a:solidFill>
          <a:ln/>
        </p:spPr>
        <p:txBody>
          <a:bodyPr/>
          <a:lstStyle/>
          <a:p>
            <a:endParaRPr lang="en-AE"/>
          </a:p>
        </p:txBody>
      </p:sp>
      <p:sp>
        <p:nvSpPr>
          <p:cNvPr id="28" name="Text 25"/>
          <p:cNvSpPr txBox="1"/>
          <p:nvPr/>
        </p:nvSpPr>
        <p:spPr>
          <a:xfrm>
            <a:off x="7772400" y="503948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9" name="Text 26"/>
          <p:cNvSpPr txBox="1"/>
          <p:nvPr/>
        </p:nvSpPr>
        <p:spPr>
          <a:xfrm>
            <a:off x="8211312" y="4930902"/>
            <a:ext cx="3520440" cy="491490"/>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Newsroom console</a:t>
            </a:r>
            <a:endParaRPr lang="en-US" sz="1250" dirty="0"/>
          </a:p>
        </p:txBody>
      </p:sp>
      <p:sp>
        <p:nvSpPr>
          <p:cNvPr id="30" name="Text 27"/>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8FA0BF"/>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31" name="Text 28"/>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8FA0BF"/>
                </a:solidFill>
                <a:latin typeface="Calibri" pitchFamily="34" charset="0"/>
                <a:ea typeface="Calibri" pitchFamily="34" charset="-122"/>
                <a:cs typeface="Calibri" pitchFamily="34" charset="-120"/>
              </a:rPr>
              <a:t>Opus Infinite</a:t>
            </a:r>
            <a:endParaRPr lang="en-US" sz="950" dirty="0"/>
          </a:p>
        </p:txBody>
      </p:sp>
      <p:sp>
        <p:nvSpPr>
          <p:cNvPr id="32" name="Shape 29"/>
          <p:cNvSpPr/>
          <p:nvPr/>
        </p:nvSpPr>
        <p:spPr>
          <a:xfrm>
            <a:off x="11240719" y="6300216"/>
            <a:ext cx="384048" cy="384048"/>
          </a:xfrm>
          <a:prstGeom prst="ellipse">
            <a:avLst/>
          </a:prstGeom>
          <a:solidFill>
            <a:srgbClr val="22375F"/>
          </a:solidFill>
          <a:ln/>
        </p:spPr>
        <p:txBody>
          <a:bodyPr/>
          <a:lstStyle/>
          <a:p>
            <a:endParaRPr lang="en-AE"/>
          </a:p>
        </p:txBody>
      </p:sp>
      <p:sp>
        <p:nvSpPr>
          <p:cNvPr id="33" name="Text 30"/>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02 · THE PRODUCT</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Product at a glance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Twelve modules across three surfaces — reader, intelligence and newsroom.</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8</a:t>
            </a:r>
            <a:endParaRPr lang="en-US" sz="1050" dirty="0"/>
          </a:p>
        </p:txBody>
      </p:sp>
      <p:sp>
        <p:nvSpPr>
          <p:cNvPr id="9" name="Shape 7"/>
          <p:cNvSpPr/>
          <p:nvPr/>
        </p:nvSpPr>
        <p:spPr>
          <a:xfrm>
            <a:off x="566928" y="1664208"/>
            <a:ext cx="3529584" cy="4206240"/>
          </a:xfrm>
          <a:prstGeom prst="roundRect">
            <a:avLst>
              <a:gd name="adj" fmla="val 3109"/>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804672" y="1865376"/>
            <a:ext cx="1371600" cy="292608"/>
          </a:xfrm>
          <a:prstGeom prst="roundRect">
            <a:avLst>
              <a:gd name="adj" fmla="val 18750"/>
            </a:avLst>
          </a:prstGeom>
          <a:solidFill>
            <a:srgbClr val="C8102E"/>
          </a:solidFill>
          <a:ln/>
        </p:spPr>
        <p:txBody>
          <a:bodyPr/>
          <a:lstStyle/>
          <a:p>
            <a:endParaRPr lang="en-AE"/>
          </a:p>
        </p:txBody>
      </p:sp>
      <p:sp>
        <p:nvSpPr>
          <p:cNvPr id="11" name="Text 9"/>
          <p:cNvSpPr txBox="1"/>
          <p:nvPr/>
        </p:nvSpPr>
        <p:spPr>
          <a:xfrm>
            <a:off x="804672" y="1865376"/>
            <a:ext cx="1371600" cy="292608"/>
          </a:xfrm>
          <a:prstGeom prst="rect">
            <a:avLst/>
          </a:prstGeom>
          <a:noFill/>
          <a:ln/>
        </p:spPr>
        <p:txBody>
          <a:bodyPr wrap="square" lIns="0" tIns="0" rIns="0" bIns="0" rtlCol="0" anchor="ctr"/>
          <a:lstStyle/>
          <a:p>
            <a:pPr marL="0" indent="0" algn="ctr">
              <a:buNone/>
            </a:pPr>
            <a:r>
              <a:rPr lang="en-US" sz="820" b="1" kern="0" spc="80" dirty="0">
                <a:solidFill>
                  <a:srgbClr val="FFFFFF"/>
                </a:solidFill>
                <a:latin typeface="Calibri" pitchFamily="34" charset="0"/>
                <a:ea typeface="Calibri" pitchFamily="34" charset="-122"/>
                <a:cs typeface="Calibri" pitchFamily="34" charset="-120"/>
              </a:rPr>
              <a:t>READER APPS</a:t>
            </a:r>
            <a:endParaRPr lang="en-US" sz="820" dirty="0"/>
          </a:p>
        </p:txBody>
      </p:sp>
      <p:sp>
        <p:nvSpPr>
          <p:cNvPr id="12" name="Shape 10"/>
          <p:cNvSpPr/>
          <p:nvPr/>
        </p:nvSpPr>
        <p:spPr>
          <a:xfrm>
            <a:off x="804672" y="2395728"/>
            <a:ext cx="3054096" cy="713232"/>
          </a:xfrm>
          <a:prstGeom prst="roundRect">
            <a:avLst>
              <a:gd name="adj" fmla="val 11538"/>
            </a:avLst>
          </a:prstGeom>
          <a:solidFill>
            <a:srgbClr val="FFFFFF"/>
          </a:solidFill>
          <a:ln/>
        </p:spPr>
        <p:txBody>
          <a:bodyPr/>
          <a:lstStyle/>
          <a:p>
            <a:endParaRPr lang="en-AE"/>
          </a:p>
        </p:txBody>
      </p:sp>
      <p:sp>
        <p:nvSpPr>
          <p:cNvPr id="13" name="Shape 11"/>
          <p:cNvSpPr/>
          <p:nvPr/>
        </p:nvSpPr>
        <p:spPr>
          <a:xfrm>
            <a:off x="969264" y="2569464"/>
            <a:ext cx="365760" cy="365760"/>
          </a:xfrm>
          <a:prstGeom prst="ellipse">
            <a:avLst/>
          </a:prstGeom>
          <a:solidFill>
            <a:srgbClr val="C8102E"/>
          </a:solidFill>
          <a:ln/>
        </p:spPr>
        <p:txBody>
          <a:bodyPr/>
          <a:lstStyle/>
          <a:p>
            <a:endParaRPr lang="en-AE"/>
          </a:p>
        </p:txBody>
      </p:sp>
      <p:pic>
        <p:nvPicPr>
          <p:cNvPr id="14" name="Image 0" descr="preencoded.png"/>
          <p:cNvPicPr>
            <a:picLocks noChangeAspect="1"/>
          </p:cNvPicPr>
          <p:nvPr/>
        </p:nvPicPr>
        <p:blipFill>
          <a:blip r:embed="rId3"/>
          <a:stretch>
            <a:fillRect/>
          </a:stretch>
        </p:blipFill>
        <p:spPr>
          <a:xfrm>
            <a:off x="1065276" y="2665476"/>
            <a:ext cx="173736" cy="173736"/>
          </a:xfrm>
          <a:prstGeom prst="rect">
            <a:avLst/>
          </a:prstGeom>
        </p:spPr>
      </p:pic>
      <p:sp>
        <p:nvSpPr>
          <p:cNvPr id="15" name="Text 12"/>
          <p:cNvSpPr txBox="1"/>
          <p:nvPr/>
        </p:nvSpPr>
        <p:spPr>
          <a:xfrm>
            <a:off x="1463040" y="2395728"/>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Localised feed</a:t>
            </a:r>
            <a:endParaRPr lang="en-US" sz="1200" dirty="0"/>
          </a:p>
        </p:txBody>
      </p:sp>
      <p:sp>
        <p:nvSpPr>
          <p:cNvPr id="16" name="Shape 13"/>
          <p:cNvSpPr/>
          <p:nvPr/>
        </p:nvSpPr>
        <p:spPr>
          <a:xfrm>
            <a:off x="804672" y="3255264"/>
            <a:ext cx="3054096" cy="713232"/>
          </a:xfrm>
          <a:prstGeom prst="roundRect">
            <a:avLst>
              <a:gd name="adj" fmla="val 11538"/>
            </a:avLst>
          </a:prstGeom>
          <a:solidFill>
            <a:srgbClr val="FFFFFF"/>
          </a:solidFill>
          <a:ln/>
        </p:spPr>
        <p:txBody>
          <a:bodyPr/>
          <a:lstStyle/>
          <a:p>
            <a:endParaRPr lang="en-AE"/>
          </a:p>
        </p:txBody>
      </p:sp>
      <p:sp>
        <p:nvSpPr>
          <p:cNvPr id="17" name="Shape 14"/>
          <p:cNvSpPr/>
          <p:nvPr/>
        </p:nvSpPr>
        <p:spPr>
          <a:xfrm>
            <a:off x="969264" y="3429000"/>
            <a:ext cx="365760" cy="365760"/>
          </a:xfrm>
          <a:prstGeom prst="ellipse">
            <a:avLst/>
          </a:prstGeom>
          <a:solidFill>
            <a:srgbClr val="C8102E"/>
          </a:solidFill>
          <a:ln/>
        </p:spPr>
        <p:txBody>
          <a:bodyPr/>
          <a:lstStyle/>
          <a:p>
            <a:endParaRPr lang="en-AE"/>
          </a:p>
        </p:txBody>
      </p:sp>
      <p:pic>
        <p:nvPicPr>
          <p:cNvPr id="18" name="Image 1" descr="preencoded.png"/>
          <p:cNvPicPr>
            <a:picLocks noChangeAspect="1"/>
          </p:cNvPicPr>
          <p:nvPr/>
        </p:nvPicPr>
        <p:blipFill>
          <a:blip r:embed="rId4"/>
          <a:stretch>
            <a:fillRect/>
          </a:stretch>
        </p:blipFill>
        <p:spPr>
          <a:xfrm>
            <a:off x="1065276" y="3525012"/>
            <a:ext cx="173736" cy="173736"/>
          </a:xfrm>
          <a:prstGeom prst="rect">
            <a:avLst/>
          </a:prstGeom>
        </p:spPr>
      </p:pic>
      <p:sp>
        <p:nvSpPr>
          <p:cNvPr id="19" name="Text 15"/>
          <p:cNvSpPr txBox="1"/>
          <p:nvPr/>
        </p:nvSpPr>
        <p:spPr>
          <a:xfrm>
            <a:off x="1463040" y="3255264"/>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Story reader</a:t>
            </a:r>
            <a:endParaRPr lang="en-US" sz="1200" dirty="0"/>
          </a:p>
        </p:txBody>
      </p:sp>
      <p:sp>
        <p:nvSpPr>
          <p:cNvPr id="20" name="Shape 16"/>
          <p:cNvSpPr/>
          <p:nvPr/>
        </p:nvSpPr>
        <p:spPr>
          <a:xfrm>
            <a:off x="804672" y="4114800"/>
            <a:ext cx="3054096" cy="713232"/>
          </a:xfrm>
          <a:prstGeom prst="roundRect">
            <a:avLst>
              <a:gd name="adj" fmla="val 11538"/>
            </a:avLst>
          </a:prstGeom>
          <a:solidFill>
            <a:srgbClr val="FFFFFF"/>
          </a:solidFill>
          <a:ln/>
        </p:spPr>
        <p:txBody>
          <a:bodyPr/>
          <a:lstStyle/>
          <a:p>
            <a:endParaRPr lang="en-AE"/>
          </a:p>
        </p:txBody>
      </p:sp>
      <p:sp>
        <p:nvSpPr>
          <p:cNvPr id="21" name="Shape 17"/>
          <p:cNvSpPr/>
          <p:nvPr/>
        </p:nvSpPr>
        <p:spPr>
          <a:xfrm>
            <a:off x="969264" y="4288536"/>
            <a:ext cx="365760" cy="365760"/>
          </a:xfrm>
          <a:prstGeom prst="ellipse">
            <a:avLst/>
          </a:prstGeom>
          <a:solidFill>
            <a:srgbClr val="C8102E"/>
          </a:solidFill>
          <a:ln/>
        </p:spPr>
        <p:txBody>
          <a:bodyPr/>
          <a:lstStyle/>
          <a:p>
            <a:endParaRPr lang="en-AE"/>
          </a:p>
        </p:txBody>
      </p:sp>
      <p:pic>
        <p:nvPicPr>
          <p:cNvPr id="22" name="Image 2" descr="preencoded.png"/>
          <p:cNvPicPr>
            <a:picLocks noChangeAspect="1"/>
          </p:cNvPicPr>
          <p:nvPr/>
        </p:nvPicPr>
        <p:blipFill>
          <a:blip r:embed="rId5"/>
          <a:stretch>
            <a:fillRect/>
          </a:stretch>
        </p:blipFill>
        <p:spPr>
          <a:xfrm>
            <a:off x="1065276" y="4384548"/>
            <a:ext cx="173736" cy="173736"/>
          </a:xfrm>
          <a:prstGeom prst="rect">
            <a:avLst/>
          </a:prstGeom>
        </p:spPr>
      </p:pic>
      <p:sp>
        <p:nvSpPr>
          <p:cNvPr id="23" name="Text 18"/>
          <p:cNvSpPr txBox="1"/>
          <p:nvPr/>
        </p:nvSpPr>
        <p:spPr>
          <a:xfrm>
            <a:off x="1463040" y="4114800"/>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Comments &amp; reactions</a:t>
            </a:r>
            <a:endParaRPr lang="en-US" sz="1200" dirty="0"/>
          </a:p>
        </p:txBody>
      </p:sp>
      <p:sp>
        <p:nvSpPr>
          <p:cNvPr id="24" name="Shape 19"/>
          <p:cNvSpPr/>
          <p:nvPr/>
        </p:nvSpPr>
        <p:spPr>
          <a:xfrm>
            <a:off x="804672" y="4974336"/>
            <a:ext cx="3054096" cy="713232"/>
          </a:xfrm>
          <a:prstGeom prst="roundRect">
            <a:avLst>
              <a:gd name="adj" fmla="val 11538"/>
            </a:avLst>
          </a:prstGeom>
          <a:solidFill>
            <a:srgbClr val="FFFFFF"/>
          </a:solidFill>
          <a:ln/>
        </p:spPr>
        <p:txBody>
          <a:bodyPr/>
          <a:lstStyle/>
          <a:p>
            <a:endParaRPr lang="en-AE"/>
          </a:p>
        </p:txBody>
      </p:sp>
      <p:sp>
        <p:nvSpPr>
          <p:cNvPr id="25" name="Shape 20"/>
          <p:cNvSpPr/>
          <p:nvPr/>
        </p:nvSpPr>
        <p:spPr>
          <a:xfrm>
            <a:off x="969264" y="5148072"/>
            <a:ext cx="365760" cy="365760"/>
          </a:xfrm>
          <a:prstGeom prst="ellipse">
            <a:avLst/>
          </a:prstGeom>
          <a:solidFill>
            <a:srgbClr val="C8102E"/>
          </a:solidFill>
          <a:ln/>
        </p:spPr>
        <p:txBody>
          <a:bodyPr/>
          <a:lstStyle/>
          <a:p>
            <a:endParaRPr lang="en-AE"/>
          </a:p>
        </p:txBody>
      </p:sp>
      <p:pic>
        <p:nvPicPr>
          <p:cNvPr id="26" name="Image 3" descr="preencoded.png"/>
          <p:cNvPicPr>
            <a:picLocks noChangeAspect="1"/>
          </p:cNvPicPr>
          <p:nvPr/>
        </p:nvPicPr>
        <p:blipFill>
          <a:blip r:embed="rId6"/>
          <a:stretch>
            <a:fillRect/>
          </a:stretch>
        </p:blipFill>
        <p:spPr>
          <a:xfrm>
            <a:off x="1065276" y="5244084"/>
            <a:ext cx="173736" cy="173736"/>
          </a:xfrm>
          <a:prstGeom prst="rect">
            <a:avLst/>
          </a:prstGeom>
        </p:spPr>
      </p:pic>
      <p:sp>
        <p:nvSpPr>
          <p:cNvPr id="27" name="Text 21"/>
          <p:cNvSpPr txBox="1"/>
          <p:nvPr/>
        </p:nvSpPr>
        <p:spPr>
          <a:xfrm>
            <a:off x="1463040" y="4974336"/>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Bookmarks &amp; offline</a:t>
            </a:r>
            <a:endParaRPr lang="en-US" sz="1200" dirty="0"/>
          </a:p>
        </p:txBody>
      </p:sp>
      <p:sp>
        <p:nvSpPr>
          <p:cNvPr id="28" name="Shape 22"/>
          <p:cNvSpPr/>
          <p:nvPr/>
        </p:nvSpPr>
        <p:spPr>
          <a:xfrm>
            <a:off x="4306824" y="1664208"/>
            <a:ext cx="3529584" cy="4206240"/>
          </a:xfrm>
          <a:prstGeom prst="roundRect">
            <a:avLst>
              <a:gd name="adj" fmla="val 3109"/>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9" name="Shape 23"/>
          <p:cNvSpPr/>
          <p:nvPr/>
        </p:nvSpPr>
        <p:spPr>
          <a:xfrm>
            <a:off x="4544568" y="1865376"/>
            <a:ext cx="1371600" cy="292608"/>
          </a:xfrm>
          <a:prstGeom prst="roundRect">
            <a:avLst>
              <a:gd name="adj" fmla="val 18750"/>
            </a:avLst>
          </a:prstGeom>
          <a:solidFill>
            <a:srgbClr val="F0A81C"/>
          </a:solidFill>
          <a:ln/>
        </p:spPr>
        <p:txBody>
          <a:bodyPr/>
          <a:lstStyle/>
          <a:p>
            <a:endParaRPr lang="en-AE"/>
          </a:p>
        </p:txBody>
      </p:sp>
      <p:sp>
        <p:nvSpPr>
          <p:cNvPr id="30" name="Text 24"/>
          <p:cNvSpPr txBox="1"/>
          <p:nvPr/>
        </p:nvSpPr>
        <p:spPr>
          <a:xfrm>
            <a:off x="4544568" y="1865376"/>
            <a:ext cx="1371600" cy="292608"/>
          </a:xfrm>
          <a:prstGeom prst="rect">
            <a:avLst/>
          </a:prstGeom>
          <a:noFill/>
          <a:ln/>
        </p:spPr>
        <p:txBody>
          <a:bodyPr wrap="square" lIns="0" tIns="0" rIns="0" bIns="0" rtlCol="0" anchor="ctr"/>
          <a:lstStyle/>
          <a:p>
            <a:pPr marL="0" indent="0" algn="ctr">
              <a:buNone/>
            </a:pPr>
            <a:r>
              <a:rPr lang="en-US" sz="820" b="1" kern="0" spc="80" dirty="0">
                <a:solidFill>
                  <a:srgbClr val="0F1E3D"/>
                </a:solidFill>
                <a:latin typeface="Calibri" pitchFamily="34" charset="0"/>
                <a:ea typeface="Calibri" pitchFamily="34" charset="-122"/>
                <a:cs typeface="Calibri" pitchFamily="34" charset="-120"/>
              </a:rPr>
              <a:t>INTELLIGENCE LAYER</a:t>
            </a:r>
            <a:endParaRPr lang="en-US" sz="820" dirty="0"/>
          </a:p>
        </p:txBody>
      </p:sp>
      <p:sp>
        <p:nvSpPr>
          <p:cNvPr id="31" name="Shape 25"/>
          <p:cNvSpPr/>
          <p:nvPr/>
        </p:nvSpPr>
        <p:spPr>
          <a:xfrm>
            <a:off x="4544568" y="2395728"/>
            <a:ext cx="3054096" cy="713232"/>
          </a:xfrm>
          <a:prstGeom prst="roundRect">
            <a:avLst>
              <a:gd name="adj" fmla="val 11538"/>
            </a:avLst>
          </a:prstGeom>
          <a:solidFill>
            <a:srgbClr val="FFFFFF"/>
          </a:solidFill>
          <a:ln/>
        </p:spPr>
        <p:txBody>
          <a:bodyPr/>
          <a:lstStyle/>
          <a:p>
            <a:endParaRPr lang="en-AE"/>
          </a:p>
        </p:txBody>
      </p:sp>
      <p:sp>
        <p:nvSpPr>
          <p:cNvPr id="32" name="Shape 26"/>
          <p:cNvSpPr/>
          <p:nvPr/>
        </p:nvSpPr>
        <p:spPr>
          <a:xfrm>
            <a:off x="4709160" y="2569464"/>
            <a:ext cx="365760" cy="365760"/>
          </a:xfrm>
          <a:prstGeom prst="ellipse">
            <a:avLst/>
          </a:prstGeom>
          <a:solidFill>
            <a:srgbClr val="F0A81C"/>
          </a:solidFill>
          <a:ln/>
        </p:spPr>
        <p:txBody>
          <a:bodyPr/>
          <a:lstStyle/>
          <a:p>
            <a:endParaRPr lang="en-AE"/>
          </a:p>
        </p:txBody>
      </p:sp>
      <p:pic>
        <p:nvPicPr>
          <p:cNvPr id="33" name="Image 4" descr="preencoded.png"/>
          <p:cNvPicPr>
            <a:picLocks noChangeAspect="1"/>
          </p:cNvPicPr>
          <p:nvPr/>
        </p:nvPicPr>
        <p:blipFill>
          <a:blip r:embed="rId7"/>
          <a:stretch>
            <a:fillRect/>
          </a:stretch>
        </p:blipFill>
        <p:spPr>
          <a:xfrm>
            <a:off x="4805172" y="2665476"/>
            <a:ext cx="173736" cy="173736"/>
          </a:xfrm>
          <a:prstGeom prst="rect">
            <a:avLst/>
          </a:prstGeom>
        </p:spPr>
      </p:pic>
      <p:sp>
        <p:nvSpPr>
          <p:cNvPr id="34" name="Text 27"/>
          <p:cNvSpPr txBox="1"/>
          <p:nvPr/>
        </p:nvSpPr>
        <p:spPr>
          <a:xfrm>
            <a:off x="5202936" y="2395728"/>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Story classification</a:t>
            </a:r>
            <a:endParaRPr lang="en-US" sz="1200" dirty="0"/>
          </a:p>
        </p:txBody>
      </p:sp>
      <p:sp>
        <p:nvSpPr>
          <p:cNvPr id="35" name="Shape 28"/>
          <p:cNvSpPr/>
          <p:nvPr/>
        </p:nvSpPr>
        <p:spPr>
          <a:xfrm>
            <a:off x="4544568" y="3255264"/>
            <a:ext cx="3054096" cy="713232"/>
          </a:xfrm>
          <a:prstGeom prst="roundRect">
            <a:avLst>
              <a:gd name="adj" fmla="val 11538"/>
            </a:avLst>
          </a:prstGeom>
          <a:solidFill>
            <a:srgbClr val="FFFFFF"/>
          </a:solidFill>
          <a:ln/>
        </p:spPr>
        <p:txBody>
          <a:bodyPr/>
          <a:lstStyle/>
          <a:p>
            <a:endParaRPr lang="en-AE"/>
          </a:p>
        </p:txBody>
      </p:sp>
      <p:sp>
        <p:nvSpPr>
          <p:cNvPr id="36" name="Shape 29"/>
          <p:cNvSpPr/>
          <p:nvPr/>
        </p:nvSpPr>
        <p:spPr>
          <a:xfrm>
            <a:off x="4709160" y="3429000"/>
            <a:ext cx="365760" cy="365760"/>
          </a:xfrm>
          <a:prstGeom prst="ellipse">
            <a:avLst/>
          </a:prstGeom>
          <a:solidFill>
            <a:srgbClr val="F0A81C"/>
          </a:solidFill>
          <a:ln/>
        </p:spPr>
        <p:txBody>
          <a:bodyPr/>
          <a:lstStyle/>
          <a:p>
            <a:endParaRPr lang="en-AE"/>
          </a:p>
        </p:txBody>
      </p:sp>
      <p:pic>
        <p:nvPicPr>
          <p:cNvPr id="37" name="Image 5" descr="preencoded.png"/>
          <p:cNvPicPr>
            <a:picLocks noChangeAspect="1"/>
          </p:cNvPicPr>
          <p:nvPr/>
        </p:nvPicPr>
        <p:blipFill>
          <a:blip r:embed="rId8"/>
          <a:stretch>
            <a:fillRect/>
          </a:stretch>
        </p:blipFill>
        <p:spPr>
          <a:xfrm>
            <a:off x="4805172" y="3525012"/>
            <a:ext cx="173736" cy="173736"/>
          </a:xfrm>
          <a:prstGeom prst="rect">
            <a:avLst/>
          </a:prstGeom>
        </p:spPr>
      </p:pic>
      <p:sp>
        <p:nvSpPr>
          <p:cNvPr id="38" name="Text 30"/>
          <p:cNvSpPr txBox="1"/>
          <p:nvPr/>
        </p:nvSpPr>
        <p:spPr>
          <a:xfrm>
            <a:off x="5202936" y="3255264"/>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Location relevance</a:t>
            </a:r>
            <a:endParaRPr lang="en-US" sz="1200" dirty="0"/>
          </a:p>
        </p:txBody>
      </p:sp>
      <p:sp>
        <p:nvSpPr>
          <p:cNvPr id="39" name="Shape 31"/>
          <p:cNvSpPr/>
          <p:nvPr/>
        </p:nvSpPr>
        <p:spPr>
          <a:xfrm>
            <a:off x="4544568" y="4114800"/>
            <a:ext cx="3054096" cy="713232"/>
          </a:xfrm>
          <a:prstGeom prst="roundRect">
            <a:avLst>
              <a:gd name="adj" fmla="val 11538"/>
            </a:avLst>
          </a:prstGeom>
          <a:solidFill>
            <a:srgbClr val="FFFFFF"/>
          </a:solidFill>
          <a:ln/>
        </p:spPr>
        <p:txBody>
          <a:bodyPr/>
          <a:lstStyle/>
          <a:p>
            <a:endParaRPr lang="en-AE"/>
          </a:p>
        </p:txBody>
      </p:sp>
      <p:sp>
        <p:nvSpPr>
          <p:cNvPr id="40" name="Shape 32"/>
          <p:cNvSpPr/>
          <p:nvPr/>
        </p:nvSpPr>
        <p:spPr>
          <a:xfrm>
            <a:off x="4709160" y="4288536"/>
            <a:ext cx="365760" cy="365760"/>
          </a:xfrm>
          <a:prstGeom prst="ellipse">
            <a:avLst/>
          </a:prstGeom>
          <a:solidFill>
            <a:srgbClr val="F0A81C"/>
          </a:solidFill>
          <a:ln/>
        </p:spPr>
        <p:txBody>
          <a:bodyPr/>
          <a:lstStyle/>
          <a:p>
            <a:endParaRPr lang="en-AE"/>
          </a:p>
        </p:txBody>
      </p:sp>
      <p:pic>
        <p:nvPicPr>
          <p:cNvPr id="41" name="Image 6" descr="preencoded.png"/>
          <p:cNvPicPr>
            <a:picLocks noChangeAspect="1"/>
          </p:cNvPicPr>
          <p:nvPr/>
        </p:nvPicPr>
        <p:blipFill>
          <a:blip r:embed="rId9"/>
          <a:stretch>
            <a:fillRect/>
          </a:stretch>
        </p:blipFill>
        <p:spPr>
          <a:xfrm>
            <a:off x="4805172" y="4384548"/>
            <a:ext cx="173736" cy="173736"/>
          </a:xfrm>
          <a:prstGeom prst="rect">
            <a:avLst/>
          </a:prstGeom>
        </p:spPr>
      </p:pic>
      <p:sp>
        <p:nvSpPr>
          <p:cNvPr id="42" name="Text 33"/>
          <p:cNvSpPr txBox="1"/>
          <p:nvPr/>
        </p:nvSpPr>
        <p:spPr>
          <a:xfrm>
            <a:off x="5202936" y="4114800"/>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Trending detection</a:t>
            </a:r>
            <a:endParaRPr lang="en-US" sz="1200" dirty="0"/>
          </a:p>
        </p:txBody>
      </p:sp>
      <p:sp>
        <p:nvSpPr>
          <p:cNvPr id="43" name="Shape 34"/>
          <p:cNvSpPr/>
          <p:nvPr/>
        </p:nvSpPr>
        <p:spPr>
          <a:xfrm>
            <a:off x="4544568" y="4974336"/>
            <a:ext cx="3054096" cy="713232"/>
          </a:xfrm>
          <a:prstGeom prst="roundRect">
            <a:avLst>
              <a:gd name="adj" fmla="val 11538"/>
            </a:avLst>
          </a:prstGeom>
          <a:solidFill>
            <a:srgbClr val="FFFFFF"/>
          </a:solidFill>
          <a:ln/>
        </p:spPr>
        <p:txBody>
          <a:bodyPr/>
          <a:lstStyle/>
          <a:p>
            <a:endParaRPr lang="en-AE"/>
          </a:p>
        </p:txBody>
      </p:sp>
      <p:sp>
        <p:nvSpPr>
          <p:cNvPr id="44" name="Shape 35"/>
          <p:cNvSpPr/>
          <p:nvPr/>
        </p:nvSpPr>
        <p:spPr>
          <a:xfrm>
            <a:off x="4709160" y="5148072"/>
            <a:ext cx="365760" cy="365760"/>
          </a:xfrm>
          <a:prstGeom prst="ellipse">
            <a:avLst/>
          </a:prstGeom>
          <a:solidFill>
            <a:srgbClr val="F0A81C"/>
          </a:solidFill>
          <a:ln/>
        </p:spPr>
        <p:txBody>
          <a:bodyPr/>
          <a:lstStyle/>
          <a:p>
            <a:endParaRPr lang="en-AE"/>
          </a:p>
        </p:txBody>
      </p:sp>
      <p:pic>
        <p:nvPicPr>
          <p:cNvPr id="45" name="Image 7" descr="preencoded.png"/>
          <p:cNvPicPr>
            <a:picLocks noChangeAspect="1"/>
          </p:cNvPicPr>
          <p:nvPr/>
        </p:nvPicPr>
        <p:blipFill>
          <a:blip r:embed="rId10"/>
          <a:stretch>
            <a:fillRect/>
          </a:stretch>
        </p:blipFill>
        <p:spPr>
          <a:xfrm>
            <a:off x="4805172" y="5244084"/>
            <a:ext cx="173736" cy="173736"/>
          </a:xfrm>
          <a:prstGeom prst="rect">
            <a:avLst/>
          </a:prstGeom>
        </p:spPr>
      </p:pic>
      <p:sp>
        <p:nvSpPr>
          <p:cNvPr id="46" name="Text 36"/>
          <p:cNvSpPr txBox="1"/>
          <p:nvPr/>
        </p:nvSpPr>
        <p:spPr>
          <a:xfrm>
            <a:off x="5202936" y="4974336"/>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Personal ranking</a:t>
            </a:r>
            <a:endParaRPr lang="en-US" sz="1200" dirty="0"/>
          </a:p>
        </p:txBody>
      </p:sp>
      <p:sp>
        <p:nvSpPr>
          <p:cNvPr id="47" name="Shape 37"/>
          <p:cNvSpPr/>
          <p:nvPr/>
        </p:nvSpPr>
        <p:spPr>
          <a:xfrm>
            <a:off x="8046720" y="1664208"/>
            <a:ext cx="3529584" cy="4206240"/>
          </a:xfrm>
          <a:prstGeom prst="roundRect">
            <a:avLst>
              <a:gd name="adj" fmla="val 3109"/>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48" name="Shape 38"/>
          <p:cNvSpPr/>
          <p:nvPr/>
        </p:nvSpPr>
        <p:spPr>
          <a:xfrm>
            <a:off x="8284464" y="1865376"/>
            <a:ext cx="1371600" cy="292608"/>
          </a:xfrm>
          <a:prstGeom prst="roundRect">
            <a:avLst>
              <a:gd name="adj" fmla="val 18750"/>
            </a:avLst>
          </a:prstGeom>
          <a:solidFill>
            <a:srgbClr val="0F1E3D"/>
          </a:solidFill>
          <a:ln/>
        </p:spPr>
        <p:txBody>
          <a:bodyPr/>
          <a:lstStyle/>
          <a:p>
            <a:endParaRPr lang="en-AE"/>
          </a:p>
        </p:txBody>
      </p:sp>
      <p:sp>
        <p:nvSpPr>
          <p:cNvPr id="49" name="Text 39"/>
          <p:cNvSpPr txBox="1"/>
          <p:nvPr/>
        </p:nvSpPr>
        <p:spPr>
          <a:xfrm>
            <a:off x="8284464" y="1865376"/>
            <a:ext cx="1371600" cy="292608"/>
          </a:xfrm>
          <a:prstGeom prst="rect">
            <a:avLst/>
          </a:prstGeom>
          <a:noFill/>
          <a:ln/>
        </p:spPr>
        <p:txBody>
          <a:bodyPr wrap="square" lIns="0" tIns="0" rIns="0" bIns="0" rtlCol="0" anchor="ctr"/>
          <a:lstStyle/>
          <a:p>
            <a:pPr marL="0" indent="0" algn="ctr">
              <a:buNone/>
            </a:pPr>
            <a:r>
              <a:rPr lang="en-US" sz="820" b="1" kern="0" spc="80" dirty="0">
                <a:solidFill>
                  <a:srgbClr val="FFFFFF"/>
                </a:solidFill>
                <a:latin typeface="Calibri" pitchFamily="34" charset="0"/>
                <a:ea typeface="Calibri" pitchFamily="34" charset="-122"/>
                <a:cs typeface="Calibri" pitchFamily="34" charset="-120"/>
              </a:rPr>
              <a:t>NEWSROOM CONSOLE</a:t>
            </a:r>
            <a:endParaRPr lang="en-US" sz="820" dirty="0"/>
          </a:p>
        </p:txBody>
      </p:sp>
      <p:sp>
        <p:nvSpPr>
          <p:cNvPr id="50" name="Shape 40"/>
          <p:cNvSpPr/>
          <p:nvPr/>
        </p:nvSpPr>
        <p:spPr>
          <a:xfrm>
            <a:off x="8284464" y="2395728"/>
            <a:ext cx="3054096" cy="713232"/>
          </a:xfrm>
          <a:prstGeom prst="roundRect">
            <a:avLst>
              <a:gd name="adj" fmla="val 11538"/>
            </a:avLst>
          </a:prstGeom>
          <a:solidFill>
            <a:srgbClr val="FFFFFF"/>
          </a:solidFill>
          <a:ln/>
        </p:spPr>
        <p:txBody>
          <a:bodyPr/>
          <a:lstStyle/>
          <a:p>
            <a:endParaRPr lang="en-AE"/>
          </a:p>
        </p:txBody>
      </p:sp>
      <p:sp>
        <p:nvSpPr>
          <p:cNvPr id="51" name="Shape 41"/>
          <p:cNvSpPr/>
          <p:nvPr/>
        </p:nvSpPr>
        <p:spPr>
          <a:xfrm>
            <a:off x="8449056" y="2569464"/>
            <a:ext cx="365760" cy="365760"/>
          </a:xfrm>
          <a:prstGeom prst="ellipse">
            <a:avLst/>
          </a:prstGeom>
          <a:solidFill>
            <a:srgbClr val="0F1E3D"/>
          </a:solidFill>
          <a:ln/>
        </p:spPr>
        <p:txBody>
          <a:bodyPr/>
          <a:lstStyle/>
          <a:p>
            <a:endParaRPr lang="en-AE"/>
          </a:p>
        </p:txBody>
      </p:sp>
      <p:pic>
        <p:nvPicPr>
          <p:cNvPr id="52" name="Image 8" descr="preencoded.png"/>
          <p:cNvPicPr>
            <a:picLocks noChangeAspect="1"/>
          </p:cNvPicPr>
          <p:nvPr/>
        </p:nvPicPr>
        <p:blipFill>
          <a:blip r:embed="rId11"/>
          <a:stretch>
            <a:fillRect/>
          </a:stretch>
        </p:blipFill>
        <p:spPr>
          <a:xfrm>
            <a:off x="8545068" y="2665476"/>
            <a:ext cx="173736" cy="173736"/>
          </a:xfrm>
          <a:prstGeom prst="rect">
            <a:avLst/>
          </a:prstGeom>
        </p:spPr>
      </p:pic>
      <p:sp>
        <p:nvSpPr>
          <p:cNvPr id="53" name="Text 42"/>
          <p:cNvSpPr txBox="1"/>
          <p:nvPr/>
        </p:nvSpPr>
        <p:spPr>
          <a:xfrm>
            <a:off x="8942832" y="2395728"/>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Publish &amp; schedule</a:t>
            </a:r>
            <a:endParaRPr lang="en-US" sz="1200" dirty="0"/>
          </a:p>
        </p:txBody>
      </p:sp>
      <p:sp>
        <p:nvSpPr>
          <p:cNvPr id="54" name="Shape 43"/>
          <p:cNvSpPr/>
          <p:nvPr/>
        </p:nvSpPr>
        <p:spPr>
          <a:xfrm>
            <a:off x="8284464" y="3255264"/>
            <a:ext cx="3054096" cy="713232"/>
          </a:xfrm>
          <a:prstGeom prst="roundRect">
            <a:avLst>
              <a:gd name="adj" fmla="val 11538"/>
            </a:avLst>
          </a:prstGeom>
          <a:solidFill>
            <a:srgbClr val="FFFFFF"/>
          </a:solidFill>
          <a:ln/>
        </p:spPr>
        <p:txBody>
          <a:bodyPr/>
          <a:lstStyle/>
          <a:p>
            <a:endParaRPr lang="en-AE"/>
          </a:p>
        </p:txBody>
      </p:sp>
      <p:sp>
        <p:nvSpPr>
          <p:cNvPr id="55" name="Shape 44"/>
          <p:cNvSpPr/>
          <p:nvPr/>
        </p:nvSpPr>
        <p:spPr>
          <a:xfrm>
            <a:off x="8449056" y="3429000"/>
            <a:ext cx="365760" cy="365760"/>
          </a:xfrm>
          <a:prstGeom prst="ellipse">
            <a:avLst/>
          </a:prstGeom>
          <a:solidFill>
            <a:srgbClr val="0F1E3D"/>
          </a:solidFill>
          <a:ln/>
        </p:spPr>
        <p:txBody>
          <a:bodyPr/>
          <a:lstStyle/>
          <a:p>
            <a:endParaRPr lang="en-AE"/>
          </a:p>
        </p:txBody>
      </p:sp>
      <p:pic>
        <p:nvPicPr>
          <p:cNvPr id="56" name="Image 9" descr="preencoded.png"/>
          <p:cNvPicPr>
            <a:picLocks noChangeAspect="1"/>
          </p:cNvPicPr>
          <p:nvPr/>
        </p:nvPicPr>
        <p:blipFill>
          <a:blip r:embed="rId12"/>
          <a:stretch>
            <a:fillRect/>
          </a:stretch>
        </p:blipFill>
        <p:spPr>
          <a:xfrm>
            <a:off x="8545068" y="3525012"/>
            <a:ext cx="173736" cy="173736"/>
          </a:xfrm>
          <a:prstGeom prst="rect">
            <a:avLst/>
          </a:prstGeom>
        </p:spPr>
      </p:pic>
      <p:sp>
        <p:nvSpPr>
          <p:cNvPr id="57" name="Text 45"/>
          <p:cNvSpPr txBox="1"/>
          <p:nvPr/>
        </p:nvSpPr>
        <p:spPr>
          <a:xfrm>
            <a:off x="8942832" y="3255264"/>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Comment moderation</a:t>
            </a:r>
            <a:endParaRPr lang="en-US" sz="1200" dirty="0"/>
          </a:p>
        </p:txBody>
      </p:sp>
      <p:sp>
        <p:nvSpPr>
          <p:cNvPr id="58" name="Shape 46"/>
          <p:cNvSpPr/>
          <p:nvPr/>
        </p:nvSpPr>
        <p:spPr>
          <a:xfrm>
            <a:off x="8284464" y="4114800"/>
            <a:ext cx="3054096" cy="713232"/>
          </a:xfrm>
          <a:prstGeom prst="roundRect">
            <a:avLst>
              <a:gd name="adj" fmla="val 11538"/>
            </a:avLst>
          </a:prstGeom>
          <a:solidFill>
            <a:srgbClr val="FFFFFF"/>
          </a:solidFill>
          <a:ln/>
        </p:spPr>
        <p:txBody>
          <a:bodyPr/>
          <a:lstStyle/>
          <a:p>
            <a:endParaRPr lang="en-AE"/>
          </a:p>
        </p:txBody>
      </p:sp>
      <p:sp>
        <p:nvSpPr>
          <p:cNvPr id="59" name="Shape 47"/>
          <p:cNvSpPr/>
          <p:nvPr/>
        </p:nvSpPr>
        <p:spPr>
          <a:xfrm>
            <a:off x="8449056" y="4288536"/>
            <a:ext cx="365760" cy="365760"/>
          </a:xfrm>
          <a:prstGeom prst="ellipse">
            <a:avLst/>
          </a:prstGeom>
          <a:solidFill>
            <a:srgbClr val="0F1E3D"/>
          </a:solidFill>
          <a:ln/>
        </p:spPr>
        <p:txBody>
          <a:bodyPr/>
          <a:lstStyle/>
          <a:p>
            <a:endParaRPr lang="en-AE"/>
          </a:p>
        </p:txBody>
      </p:sp>
      <p:pic>
        <p:nvPicPr>
          <p:cNvPr id="60" name="Image 10" descr="preencoded.png"/>
          <p:cNvPicPr>
            <a:picLocks noChangeAspect="1"/>
          </p:cNvPicPr>
          <p:nvPr/>
        </p:nvPicPr>
        <p:blipFill>
          <a:blip r:embed="rId13"/>
          <a:stretch>
            <a:fillRect/>
          </a:stretch>
        </p:blipFill>
        <p:spPr>
          <a:xfrm>
            <a:off x="8545068" y="4384548"/>
            <a:ext cx="173736" cy="173736"/>
          </a:xfrm>
          <a:prstGeom prst="rect">
            <a:avLst/>
          </a:prstGeom>
        </p:spPr>
      </p:pic>
      <p:sp>
        <p:nvSpPr>
          <p:cNvPr id="61" name="Text 48"/>
          <p:cNvSpPr txBox="1"/>
          <p:nvPr/>
        </p:nvSpPr>
        <p:spPr>
          <a:xfrm>
            <a:off x="8942832" y="4114800"/>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Live analytics</a:t>
            </a:r>
            <a:endParaRPr lang="en-US" sz="1200" dirty="0"/>
          </a:p>
        </p:txBody>
      </p:sp>
      <p:sp>
        <p:nvSpPr>
          <p:cNvPr id="62" name="Shape 49"/>
          <p:cNvSpPr/>
          <p:nvPr/>
        </p:nvSpPr>
        <p:spPr>
          <a:xfrm>
            <a:off x="8284464" y="4974336"/>
            <a:ext cx="3054096" cy="713232"/>
          </a:xfrm>
          <a:prstGeom prst="roundRect">
            <a:avLst>
              <a:gd name="adj" fmla="val 11538"/>
            </a:avLst>
          </a:prstGeom>
          <a:solidFill>
            <a:srgbClr val="FFFFFF"/>
          </a:solidFill>
          <a:ln/>
        </p:spPr>
        <p:txBody>
          <a:bodyPr/>
          <a:lstStyle/>
          <a:p>
            <a:endParaRPr lang="en-AE"/>
          </a:p>
        </p:txBody>
      </p:sp>
      <p:sp>
        <p:nvSpPr>
          <p:cNvPr id="63" name="Shape 50"/>
          <p:cNvSpPr/>
          <p:nvPr/>
        </p:nvSpPr>
        <p:spPr>
          <a:xfrm>
            <a:off x="8449056" y="5148072"/>
            <a:ext cx="365760" cy="365760"/>
          </a:xfrm>
          <a:prstGeom prst="ellipse">
            <a:avLst/>
          </a:prstGeom>
          <a:solidFill>
            <a:srgbClr val="0F1E3D"/>
          </a:solidFill>
          <a:ln/>
        </p:spPr>
        <p:txBody>
          <a:bodyPr/>
          <a:lstStyle/>
          <a:p>
            <a:endParaRPr lang="en-AE"/>
          </a:p>
        </p:txBody>
      </p:sp>
      <p:pic>
        <p:nvPicPr>
          <p:cNvPr id="64" name="Image 11" descr="preencoded.png"/>
          <p:cNvPicPr>
            <a:picLocks noChangeAspect="1"/>
          </p:cNvPicPr>
          <p:nvPr/>
        </p:nvPicPr>
        <p:blipFill>
          <a:blip r:embed="rId14"/>
          <a:stretch>
            <a:fillRect/>
          </a:stretch>
        </p:blipFill>
        <p:spPr>
          <a:xfrm>
            <a:off x="8545068" y="5244084"/>
            <a:ext cx="173736" cy="173736"/>
          </a:xfrm>
          <a:prstGeom prst="rect">
            <a:avLst/>
          </a:prstGeom>
        </p:spPr>
      </p:pic>
      <p:sp>
        <p:nvSpPr>
          <p:cNvPr id="65" name="Text 51"/>
          <p:cNvSpPr txBox="1"/>
          <p:nvPr/>
        </p:nvSpPr>
        <p:spPr>
          <a:xfrm>
            <a:off x="8942832" y="4974336"/>
            <a:ext cx="2286000" cy="7132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Ads &amp; subscriptions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02 · THE PRODUCT</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Location-first news hierarchy</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The single design decision that makes this app feel different from every national news app.</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9</a:t>
            </a:r>
            <a:endParaRPr lang="en-US" sz="1050" dirty="0"/>
          </a:p>
        </p:txBody>
      </p:sp>
      <p:pic>
        <p:nvPicPr>
          <p:cNvPr id="9" name="Image 0" descr="preencoded.png"/>
          <p:cNvPicPr>
            <a:picLocks noChangeAspect="1"/>
          </p:cNvPicPr>
          <p:nvPr/>
        </p:nvPicPr>
        <p:blipFill>
          <a:blip r:embed="rId3"/>
          <a:stretch>
            <a:fillRect/>
          </a:stretch>
        </p:blipFill>
        <p:spPr>
          <a:xfrm>
            <a:off x="603504" y="1554480"/>
            <a:ext cx="4297680" cy="4297680"/>
          </a:xfrm>
          <a:prstGeom prst="rect">
            <a:avLst/>
          </a:prstGeom>
        </p:spPr>
      </p:pic>
      <p:sp>
        <p:nvSpPr>
          <p:cNvPr id="10" name="Text 7"/>
          <p:cNvSpPr txBox="1"/>
          <p:nvPr/>
        </p:nvSpPr>
        <p:spPr>
          <a:xfrm>
            <a:off x="5120640" y="1627632"/>
            <a:ext cx="6492240" cy="548640"/>
          </a:xfrm>
          <a:prstGeom prst="rect">
            <a:avLst/>
          </a:prstGeom>
          <a:noFill/>
          <a:ln/>
        </p:spPr>
        <p:txBody>
          <a:bodyPr wrap="square" lIns="0" tIns="0" rIns="0" bIns="0" rtlCol="0" anchor="ctr"/>
          <a:lstStyle/>
          <a:p>
            <a:pPr marL="0" indent="0">
              <a:lnSpc>
                <a:spcPct val="112000"/>
              </a:lnSpc>
              <a:buNone/>
            </a:pPr>
            <a:r>
              <a:rPr lang="en-US" sz="1300" dirty="0">
                <a:solidFill>
                  <a:srgbClr val="4A5568"/>
                </a:solidFill>
                <a:latin typeface="Calibri" pitchFamily="34" charset="0"/>
                <a:ea typeface="Calibri" pitchFamily="34" charset="-122"/>
                <a:cs typeface="Calibri" pitchFamily="34" charset="-120"/>
              </a:rPr>
              <a:t>Every feed is assembled from four concentric rings, weighted by default and tunable by the reader.</a:t>
            </a:r>
            <a:endParaRPr lang="en-US" sz="1300" dirty="0"/>
          </a:p>
        </p:txBody>
      </p:sp>
      <p:sp>
        <p:nvSpPr>
          <p:cNvPr id="11" name="Shape 8"/>
          <p:cNvSpPr/>
          <p:nvPr/>
        </p:nvSpPr>
        <p:spPr>
          <a:xfrm>
            <a:off x="5120640" y="2286000"/>
            <a:ext cx="82296" cy="685800"/>
          </a:xfrm>
          <a:prstGeom prst="roundRect">
            <a:avLst>
              <a:gd name="adj" fmla="val 44444"/>
            </a:avLst>
          </a:prstGeom>
          <a:solidFill>
            <a:srgbClr val="C8102E"/>
          </a:solidFill>
          <a:ln/>
        </p:spPr>
        <p:txBody>
          <a:bodyPr/>
          <a:lstStyle/>
          <a:p>
            <a:endParaRPr lang="en-AE"/>
          </a:p>
        </p:txBody>
      </p:sp>
      <p:sp>
        <p:nvSpPr>
          <p:cNvPr id="12" name="Text 9"/>
          <p:cNvSpPr txBox="1"/>
          <p:nvPr/>
        </p:nvSpPr>
        <p:spPr>
          <a:xfrm>
            <a:off x="5367528" y="2286000"/>
            <a:ext cx="5943600" cy="274320"/>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Your city — 50%</a:t>
            </a:r>
            <a:endParaRPr lang="en-US" sz="1300" dirty="0"/>
          </a:p>
        </p:txBody>
      </p:sp>
      <p:sp>
        <p:nvSpPr>
          <p:cNvPr id="13" name="Text 10"/>
          <p:cNvSpPr txBox="1"/>
          <p:nvPr/>
        </p:nvSpPr>
        <p:spPr>
          <a:xfrm>
            <a:off x="5367528" y="2551176"/>
            <a:ext cx="6035040" cy="530352"/>
          </a:xfrm>
          <a:prstGeom prst="rect">
            <a:avLst/>
          </a:prstGeom>
          <a:noFill/>
          <a:ln/>
        </p:spPr>
        <p:txBody>
          <a:bodyPr wrap="square" lIns="0" tIns="0" rIns="0" bIns="0" rtlCol="0" anchor="t"/>
          <a:lstStyle/>
          <a:p>
            <a:pPr marL="0" indent="0">
              <a:lnSpc>
                <a:spcPct val="106000"/>
              </a:lnSpc>
              <a:buNone/>
            </a:pPr>
            <a:r>
              <a:rPr lang="en-US" sz="1130" dirty="0">
                <a:solidFill>
                  <a:srgbClr val="4A5568"/>
                </a:solidFill>
                <a:latin typeface="Calibri" pitchFamily="34" charset="0"/>
                <a:ea typeface="Calibri" pitchFamily="34" charset="-122"/>
                <a:cs typeface="Calibri" pitchFamily="34" charset="-120"/>
              </a:rPr>
              <a:t>Bengaluru, Mangaluru, Mysuru, Udupi and beyond, down to ward and neighbourhood tags where the story supports it.</a:t>
            </a:r>
            <a:endParaRPr lang="en-US" sz="1130" dirty="0"/>
          </a:p>
        </p:txBody>
      </p:sp>
      <p:sp>
        <p:nvSpPr>
          <p:cNvPr id="14" name="Shape 11"/>
          <p:cNvSpPr/>
          <p:nvPr/>
        </p:nvSpPr>
        <p:spPr>
          <a:xfrm>
            <a:off x="5120640" y="3218688"/>
            <a:ext cx="82296" cy="685800"/>
          </a:xfrm>
          <a:prstGeom prst="roundRect">
            <a:avLst>
              <a:gd name="adj" fmla="val 44444"/>
            </a:avLst>
          </a:prstGeom>
          <a:solidFill>
            <a:srgbClr val="F0A81C"/>
          </a:solidFill>
          <a:ln/>
        </p:spPr>
        <p:txBody>
          <a:bodyPr/>
          <a:lstStyle/>
          <a:p>
            <a:endParaRPr lang="en-AE"/>
          </a:p>
        </p:txBody>
      </p:sp>
      <p:sp>
        <p:nvSpPr>
          <p:cNvPr id="15" name="Text 12"/>
          <p:cNvSpPr txBox="1"/>
          <p:nvPr/>
        </p:nvSpPr>
        <p:spPr>
          <a:xfrm>
            <a:off x="5367528" y="3218688"/>
            <a:ext cx="5943600" cy="274320"/>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Karnataka — 25%</a:t>
            </a:r>
            <a:endParaRPr lang="en-US" sz="1300" dirty="0"/>
          </a:p>
        </p:txBody>
      </p:sp>
      <p:sp>
        <p:nvSpPr>
          <p:cNvPr id="16" name="Text 13"/>
          <p:cNvSpPr txBox="1"/>
          <p:nvPr/>
        </p:nvSpPr>
        <p:spPr>
          <a:xfrm>
            <a:off x="5367528" y="3483864"/>
            <a:ext cx="6035040" cy="530352"/>
          </a:xfrm>
          <a:prstGeom prst="rect">
            <a:avLst/>
          </a:prstGeom>
          <a:noFill/>
          <a:ln/>
        </p:spPr>
        <p:txBody>
          <a:bodyPr wrap="square" lIns="0" tIns="0" rIns="0" bIns="0" rtlCol="0" anchor="t"/>
          <a:lstStyle/>
          <a:p>
            <a:pPr marL="0" indent="0">
              <a:lnSpc>
                <a:spcPct val="106000"/>
              </a:lnSpc>
              <a:buNone/>
            </a:pPr>
            <a:r>
              <a:rPr lang="en-US" sz="1130" dirty="0">
                <a:solidFill>
                  <a:srgbClr val="4A5568"/>
                </a:solidFill>
                <a:latin typeface="Calibri" pitchFamily="34" charset="0"/>
                <a:ea typeface="Calibri" pitchFamily="34" charset="-122"/>
                <a:cs typeface="Calibri" pitchFamily="34" charset="-120"/>
              </a:rPr>
              <a:t>State politics, civic decisions, weather and transport that affect the reader wherever they are in the state.</a:t>
            </a:r>
            <a:endParaRPr lang="en-US" sz="1130" dirty="0"/>
          </a:p>
        </p:txBody>
      </p:sp>
      <p:sp>
        <p:nvSpPr>
          <p:cNvPr id="17" name="Shape 14"/>
          <p:cNvSpPr/>
          <p:nvPr/>
        </p:nvSpPr>
        <p:spPr>
          <a:xfrm>
            <a:off x="5120640" y="4151376"/>
            <a:ext cx="82296" cy="685800"/>
          </a:xfrm>
          <a:prstGeom prst="roundRect">
            <a:avLst>
              <a:gd name="adj" fmla="val 44444"/>
            </a:avLst>
          </a:prstGeom>
          <a:solidFill>
            <a:srgbClr val="1B3160"/>
          </a:solidFill>
          <a:ln/>
        </p:spPr>
        <p:txBody>
          <a:bodyPr/>
          <a:lstStyle/>
          <a:p>
            <a:endParaRPr lang="en-AE"/>
          </a:p>
        </p:txBody>
      </p:sp>
      <p:sp>
        <p:nvSpPr>
          <p:cNvPr id="18" name="Text 15"/>
          <p:cNvSpPr txBox="1"/>
          <p:nvPr/>
        </p:nvSpPr>
        <p:spPr>
          <a:xfrm>
            <a:off x="5367528" y="4151376"/>
            <a:ext cx="5943600" cy="274320"/>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India — 15%</a:t>
            </a:r>
            <a:endParaRPr lang="en-US" sz="1300" dirty="0"/>
          </a:p>
        </p:txBody>
      </p:sp>
      <p:sp>
        <p:nvSpPr>
          <p:cNvPr id="19" name="Text 16"/>
          <p:cNvSpPr txBox="1"/>
          <p:nvPr/>
        </p:nvSpPr>
        <p:spPr>
          <a:xfrm>
            <a:off x="5367528" y="4416552"/>
            <a:ext cx="6035040" cy="530352"/>
          </a:xfrm>
          <a:prstGeom prst="rect">
            <a:avLst/>
          </a:prstGeom>
          <a:noFill/>
          <a:ln/>
        </p:spPr>
        <p:txBody>
          <a:bodyPr wrap="square" lIns="0" tIns="0" rIns="0" bIns="0" rtlCol="0" anchor="t"/>
          <a:lstStyle/>
          <a:p>
            <a:pPr marL="0" indent="0">
              <a:lnSpc>
                <a:spcPct val="106000"/>
              </a:lnSpc>
              <a:buNone/>
            </a:pPr>
            <a:r>
              <a:rPr lang="en-US" sz="1130" dirty="0">
                <a:solidFill>
                  <a:srgbClr val="4A5568"/>
                </a:solidFill>
                <a:latin typeface="Calibri" pitchFamily="34" charset="0"/>
                <a:ea typeface="Calibri" pitchFamily="34" charset="-122"/>
                <a:cs typeface="Calibri" pitchFamily="34" charset="-120"/>
              </a:rPr>
              <a:t>National stories that matter locally, surfaced with the Karnataka angle first where one exists.</a:t>
            </a:r>
            <a:endParaRPr lang="en-US" sz="1130" dirty="0"/>
          </a:p>
        </p:txBody>
      </p:sp>
      <p:sp>
        <p:nvSpPr>
          <p:cNvPr id="20" name="Shape 17"/>
          <p:cNvSpPr/>
          <p:nvPr/>
        </p:nvSpPr>
        <p:spPr>
          <a:xfrm>
            <a:off x="5120640" y="5084064"/>
            <a:ext cx="82296" cy="480060"/>
          </a:xfrm>
          <a:prstGeom prst="roundRect">
            <a:avLst>
              <a:gd name="adj" fmla="val 44444"/>
            </a:avLst>
          </a:prstGeom>
          <a:solidFill>
            <a:srgbClr val="8C9AB4"/>
          </a:solidFill>
          <a:ln/>
        </p:spPr>
        <p:txBody>
          <a:bodyPr/>
          <a:lstStyle/>
          <a:p>
            <a:endParaRPr lang="en-AE"/>
          </a:p>
        </p:txBody>
      </p:sp>
      <p:sp>
        <p:nvSpPr>
          <p:cNvPr id="21" name="Text 18"/>
          <p:cNvSpPr txBox="1"/>
          <p:nvPr/>
        </p:nvSpPr>
        <p:spPr>
          <a:xfrm>
            <a:off x="5367528" y="5084064"/>
            <a:ext cx="5943600" cy="274320"/>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World — 10%</a:t>
            </a:r>
            <a:endParaRPr lang="en-US" sz="1300" dirty="0"/>
          </a:p>
        </p:txBody>
      </p:sp>
      <p:sp>
        <p:nvSpPr>
          <p:cNvPr id="22" name="Text 19"/>
          <p:cNvSpPr txBox="1"/>
          <p:nvPr/>
        </p:nvSpPr>
        <p:spPr>
          <a:xfrm>
            <a:off x="5367528" y="5349240"/>
            <a:ext cx="6035040" cy="530352"/>
          </a:xfrm>
          <a:prstGeom prst="rect">
            <a:avLst/>
          </a:prstGeom>
          <a:noFill/>
          <a:ln/>
        </p:spPr>
        <p:txBody>
          <a:bodyPr wrap="square" lIns="0" tIns="0" rIns="0" bIns="0" rtlCol="0" anchor="t"/>
          <a:lstStyle/>
          <a:p>
            <a:pPr marL="0" indent="0">
              <a:lnSpc>
                <a:spcPct val="106000"/>
              </a:lnSpc>
              <a:buNone/>
            </a:pPr>
            <a:r>
              <a:rPr lang="en-US" sz="1130" dirty="0">
                <a:solidFill>
                  <a:srgbClr val="4A5568"/>
                </a:solidFill>
                <a:latin typeface="Calibri" pitchFamily="34" charset="0"/>
                <a:ea typeface="Calibri" pitchFamily="34" charset="-122"/>
                <a:cs typeface="Calibri" pitchFamily="34" charset="-120"/>
              </a:rPr>
              <a:t>Global headlines kept deliberately light so the feed never drifts away from home.</a:t>
            </a:r>
            <a:endParaRPr lang="en-US" sz="1130" dirty="0"/>
          </a:p>
        </p:txBody>
      </p:sp>
      <p:sp>
        <p:nvSpPr>
          <p:cNvPr id="23" name="Text 20"/>
          <p:cNvSpPr txBox="1"/>
          <p:nvPr/>
        </p:nvSpPr>
        <p:spPr>
          <a:xfrm>
            <a:off x="5120640" y="5925312"/>
            <a:ext cx="6309360" cy="274320"/>
          </a:xfrm>
          <a:prstGeom prst="rect">
            <a:avLst/>
          </a:prstGeom>
          <a:noFill/>
          <a:ln/>
        </p:spPr>
        <p:txBody>
          <a:bodyPr wrap="square" lIns="0" tIns="0" rIns="0" bIns="0" rtlCol="0" anchor="ctr"/>
          <a:lstStyle/>
          <a:p>
            <a:pPr marL="0" indent="0">
              <a:buNone/>
            </a:pPr>
            <a:r>
              <a:rPr lang="en-US" sz="1130" b="1" dirty="0">
                <a:solidFill>
                  <a:srgbClr val="0F1E3D"/>
                </a:solidFill>
                <a:latin typeface="Calibri" pitchFamily="34" charset="0"/>
                <a:ea typeface="Calibri" pitchFamily="34" charset="-122"/>
                <a:cs typeface="Calibri" pitchFamily="34" charset="-120"/>
              </a:rPr>
              <a:t>Reader control:  </a:t>
            </a:r>
            <a:r>
              <a:rPr lang="en-US" sz="1130" dirty="0">
                <a:solidFill>
                  <a:srgbClr val="4A5568"/>
                </a:solidFill>
                <a:latin typeface="Calibri" pitchFamily="34" charset="0"/>
                <a:ea typeface="Calibri" pitchFamily="34" charset="-122"/>
                <a:cs typeface="Calibri" pitchFamily="34" charset="-120"/>
              </a:rPr>
              <a:t>readers can follow several cities at once, and the mix adapts to what they read.</a:t>
            </a:r>
            <a:endParaRPr lang="en-US" sz="11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02 · THE PRODUCT</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The AI layer</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Four jobs, all invisible to the reader — they just see a feed that fits.</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10</a:t>
            </a:r>
            <a:endParaRPr lang="en-US" sz="1050" dirty="0"/>
          </a:p>
        </p:txBody>
      </p:sp>
      <p:sp>
        <p:nvSpPr>
          <p:cNvPr id="9" name="Shape 7"/>
          <p:cNvSpPr/>
          <p:nvPr/>
        </p:nvSpPr>
        <p:spPr>
          <a:xfrm>
            <a:off x="566928" y="1645920"/>
            <a:ext cx="2615184" cy="1371600"/>
          </a:xfrm>
          <a:prstGeom prst="roundRect">
            <a:avLst>
              <a:gd name="adj" fmla="val 8000"/>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804672" y="1819656"/>
            <a:ext cx="420624" cy="420624"/>
          </a:xfrm>
          <a:prstGeom prst="ellipse">
            <a:avLst/>
          </a:prstGeom>
          <a:solidFill>
            <a:srgbClr val="0F1E3D"/>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909828" y="1924812"/>
            <a:ext cx="210312" cy="210312"/>
          </a:xfrm>
          <a:prstGeom prst="rect">
            <a:avLst/>
          </a:prstGeom>
        </p:spPr>
      </p:pic>
      <p:sp>
        <p:nvSpPr>
          <p:cNvPr id="12" name="Text 9"/>
          <p:cNvSpPr txBox="1"/>
          <p:nvPr/>
        </p:nvSpPr>
        <p:spPr>
          <a:xfrm>
            <a:off x="1335024" y="1828800"/>
            <a:ext cx="1691640" cy="402336"/>
          </a:xfrm>
          <a:prstGeom prst="rect">
            <a:avLst/>
          </a:prstGeom>
          <a:noFill/>
          <a:ln/>
        </p:spPr>
        <p:txBody>
          <a:bodyPr wrap="square" lIns="0" tIns="0" rIns="0" bIns="0" rtlCol="0" anchor="ctr"/>
          <a:lstStyle/>
          <a:p>
            <a:pPr marL="0" indent="0">
              <a:buNone/>
            </a:pPr>
            <a:r>
              <a:rPr lang="en-US" sz="1450" b="1" dirty="0">
                <a:solidFill>
                  <a:srgbClr val="0F1E3D"/>
                </a:solidFill>
                <a:latin typeface="Cambria" pitchFamily="34" charset="0"/>
                <a:ea typeface="Cambria" pitchFamily="34" charset="-122"/>
                <a:cs typeface="Cambria" pitchFamily="34" charset="-120"/>
              </a:rPr>
              <a:t>1. Ingest</a:t>
            </a:r>
            <a:endParaRPr lang="en-US" sz="1450" dirty="0"/>
          </a:p>
        </p:txBody>
      </p:sp>
      <p:sp>
        <p:nvSpPr>
          <p:cNvPr id="13" name="Text 10"/>
          <p:cNvSpPr txBox="1"/>
          <p:nvPr/>
        </p:nvSpPr>
        <p:spPr>
          <a:xfrm>
            <a:off x="804672" y="2340864"/>
            <a:ext cx="2139696" cy="548640"/>
          </a:xfrm>
          <a:prstGeom prst="rect">
            <a:avLst/>
          </a:prstGeom>
          <a:noFill/>
          <a:ln/>
        </p:spPr>
        <p:txBody>
          <a:bodyPr wrap="square" lIns="0" tIns="0" rIns="0" bIns="0" rtlCol="0" anchor="t"/>
          <a:lstStyle/>
          <a:p>
            <a:pPr marL="0" indent="0">
              <a:lnSpc>
                <a:spcPct val="106000"/>
              </a:lnSpc>
              <a:buNone/>
            </a:pPr>
            <a:r>
              <a:rPr lang="en-US" sz="1120" dirty="0">
                <a:solidFill>
                  <a:srgbClr val="4A5568"/>
                </a:solidFill>
                <a:latin typeface="Calibri" pitchFamily="34" charset="0"/>
                <a:ea typeface="Calibri" pitchFamily="34" charset="-122"/>
                <a:cs typeface="Calibri" pitchFamily="34" charset="-120"/>
              </a:rPr>
              <a:t>Story arrives from the CMS or wire feed</a:t>
            </a:r>
            <a:endParaRPr lang="en-US" sz="1120" dirty="0"/>
          </a:p>
        </p:txBody>
      </p:sp>
      <p:sp>
        <p:nvSpPr>
          <p:cNvPr id="14" name="Shape 11"/>
          <p:cNvSpPr/>
          <p:nvPr/>
        </p:nvSpPr>
        <p:spPr>
          <a:xfrm>
            <a:off x="3392424" y="1645920"/>
            <a:ext cx="2615184" cy="1371600"/>
          </a:xfrm>
          <a:prstGeom prst="roundRect">
            <a:avLst>
              <a:gd name="adj" fmla="val 8000"/>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5" name="Shape 12"/>
          <p:cNvSpPr/>
          <p:nvPr/>
        </p:nvSpPr>
        <p:spPr>
          <a:xfrm>
            <a:off x="3630168" y="1819656"/>
            <a:ext cx="420624" cy="420624"/>
          </a:xfrm>
          <a:prstGeom prst="ellipse">
            <a:avLst/>
          </a:prstGeom>
          <a:solidFill>
            <a:srgbClr val="C8102E"/>
          </a:solidFill>
          <a:ln/>
        </p:spPr>
        <p:txBody>
          <a:bodyPr/>
          <a:lstStyle/>
          <a:p>
            <a:endParaRPr lang="en-AE"/>
          </a:p>
        </p:txBody>
      </p:sp>
      <p:pic>
        <p:nvPicPr>
          <p:cNvPr id="16" name="Image 1" descr="preencoded.png"/>
          <p:cNvPicPr>
            <a:picLocks noChangeAspect="1"/>
          </p:cNvPicPr>
          <p:nvPr/>
        </p:nvPicPr>
        <p:blipFill>
          <a:blip r:embed="rId4"/>
          <a:stretch>
            <a:fillRect/>
          </a:stretch>
        </p:blipFill>
        <p:spPr>
          <a:xfrm>
            <a:off x="3735324" y="1924812"/>
            <a:ext cx="210312" cy="210312"/>
          </a:xfrm>
          <a:prstGeom prst="rect">
            <a:avLst/>
          </a:prstGeom>
        </p:spPr>
      </p:pic>
      <p:sp>
        <p:nvSpPr>
          <p:cNvPr id="17" name="Text 13"/>
          <p:cNvSpPr txBox="1"/>
          <p:nvPr/>
        </p:nvSpPr>
        <p:spPr>
          <a:xfrm>
            <a:off x="4160520" y="1828800"/>
            <a:ext cx="1691640" cy="402336"/>
          </a:xfrm>
          <a:prstGeom prst="rect">
            <a:avLst/>
          </a:prstGeom>
          <a:noFill/>
          <a:ln/>
        </p:spPr>
        <p:txBody>
          <a:bodyPr wrap="square" lIns="0" tIns="0" rIns="0" bIns="0" rtlCol="0" anchor="ctr"/>
          <a:lstStyle/>
          <a:p>
            <a:pPr marL="0" indent="0">
              <a:buNone/>
            </a:pPr>
            <a:r>
              <a:rPr lang="en-US" sz="1450" b="1" dirty="0">
                <a:solidFill>
                  <a:srgbClr val="0F1E3D"/>
                </a:solidFill>
                <a:latin typeface="Cambria" pitchFamily="34" charset="0"/>
                <a:ea typeface="Cambria" pitchFamily="34" charset="-122"/>
                <a:cs typeface="Cambria" pitchFamily="34" charset="-120"/>
              </a:rPr>
              <a:t>2. Classify</a:t>
            </a:r>
            <a:endParaRPr lang="en-US" sz="1450" dirty="0"/>
          </a:p>
        </p:txBody>
      </p:sp>
      <p:sp>
        <p:nvSpPr>
          <p:cNvPr id="18" name="Text 14"/>
          <p:cNvSpPr txBox="1"/>
          <p:nvPr/>
        </p:nvSpPr>
        <p:spPr>
          <a:xfrm>
            <a:off x="3630168" y="2340864"/>
            <a:ext cx="2139696" cy="548640"/>
          </a:xfrm>
          <a:prstGeom prst="rect">
            <a:avLst/>
          </a:prstGeom>
          <a:noFill/>
          <a:ln/>
        </p:spPr>
        <p:txBody>
          <a:bodyPr wrap="square" lIns="0" tIns="0" rIns="0" bIns="0" rtlCol="0" anchor="t"/>
          <a:lstStyle/>
          <a:p>
            <a:pPr marL="0" indent="0">
              <a:lnSpc>
                <a:spcPct val="106000"/>
              </a:lnSpc>
              <a:buNone/>
            </a:pPr>
            <a:r>
              <a:rPr lang="en-US" sz="1120" dirty="0">
                <a:solidFill>
                  <a:srgbClr val="4A5568"/>
                </a:solidFill>
                <a:latin typeface="Calibri" pitchFamily="34" charset="0"/>
                <a:ea typeface="Calibri" pitchFamily="34" charset="-122"/>
                <a:cs typeface="Calibri" pitchFamily="34" charset="-120"/>
              </a:rPr>
              <a:t>Topic, entities, sentiment, urgency</a:t>
            </a:r>
            <a:endParaRPr lang="en-US" sz="1120" dirty="0"/>
          </a:p>
        </p:txBody>
      </p:sp>
      <p:sp>
        <p:nvSpPr>
          <p:cNvPr id="19" name="Shape 15"/>
          <p:cNvSpPr/>
          <p:nvPr/>
        </p:nvSpPr>
        <p:spPr>
          <a:xfrm>
            <a:off x="6217920" y="1645920"/>
            <a:ext cx="2615184" cy="1371600"/>
          </a:xfrm>
          <a:prstGeom prst="roundRect">
            <a:avLst>
              <a:gd name="adj" fmla="val 8000"/>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0" name="Shape 16"/>
          <p:cNvSpPr/>
          <p:nvPr/>
        </p:nvSpPr>
        <p:spPr>
          <a:xfrm>
            <a:off x="6455664" y="1819656"/>
            <a:ext cx="420624" cy="420624"/>
          </a:xfrm>
          <a:prstGeom prst="ellipse">
            <a:avLst/>
          </a:prstGeom>
          <a:solidFill>
            <a:srgbClr val="F0A81C"/>
          </a:solidFill>
          <a:ln/>
        </p:spPr>
        <p:txBody>
          <a:bodyPr/>
          <a:lstStyle/>
          <a:p>
            <a:endParaRPr lang="en-AE"/>
          </a:p>
        </p:txBody>
      </p:sp>
      <p:pic>
        <p:nvPicPr>
          <p:cNvPr id="21" name="Image 2" descr="preencoded.png"/>
          <p:cNvPicPr>
            <a:picLocks noChangeAspect="1"/>
          </p:cNvPicPr>
          <p:nvPr/>
        </p:nvPicPr>
        <p:blipFill>
          <a:blip r:embed="rId5"/>
          <a:stretch>
            <a:fillRect/>
          </a:stretch>
        </p:blipFill>
        <p:spPr>
          <a:xfrm>
            <a:off x="6560820" y="1924812"/>
            <a:ext cx="210312" cy="210312"/>
          </a:xfrm>
          <a:prstGeom prst="rect">
            <a:avLst/>
          </a:prstGeom>
        </p:spPr>
      </p:pic>
      <p:sp>
        <p:nvSpPr>
          <p:cNvPr id="22" name="Text 17"/>
          <p:cNvSpPr txBox="1"/>
          <p:nvPr/>
        </p:nvSpPr>
        <p:spPr>
          <a:xfrm>
            <a:off x="6986016" y="1828800"/>
            <a:ext cx="1691640" cy="402336"/>
          </a:xfrm>
          <a:prstGeom prst="rect">
            <a:avLst/>
          </a:prstGeom>
          <a:noFill/>
          <a:ln/>
        </p:spPr>
        <p:txBody>
          <a:bodyPr wrap="square" lIns="0" tIns="0" rIns="0" bIns="0" rtlCol="0" anchor="ctr"/>
          <a:lstStyle/>
          <a:p>
            <a:pPr marL="0" indent="0">
              <a:buNone/>
            </a:pPr>
            <a:r>
              <a:rPr lang="en-US" sz="1450" b="1" dirty="0">
                <a:solidFill>
                  <a:srgbClr val="0F1E3D"/>
                </a:solidFill>
                <a:latin typeface="Cambria" pitchFamily="34" charset="0"/>
                <a:ea typeface="Cambria" pitchFamily="34" charset="-122"/>
                <a:cs typeface="Cambria" pitchFamily="34" charset="-120"/>
              </a:rPr>
              <a:t>3. Geo-tag</a:t>
            </a:r>
            <a:endParaRPr lang="en-US" sz="1450" dirty="0"/>
          </a:p>
        </p:txBody>
      </p:sp>
      <p:sp>
        <p:nvSpPr>
          <p:cNvPr id="23" name="Text 18"/>
          <p:cNvSpPr txBox="1"/>
          <p:nvPr/>
        </p:nvSpPr>
        <p:spPr>
          <a:xfrm>
            <a:off x="6455664" y="2340864"/>
            <a:ext cx="2139696" cy="548640"/>
          </a:xfrm>
          <a:prstGeom prst="rect">
            <a:avLst/>
          </a:prstGeom>
          <a:noFill/>
          <a:ln/>
        </p:spPr>
        <p:txBody>
          <a:bodyPr wrap="square" lIns="0" tIns="0" rIns="0" bIns="0" rtlCol="0" anchor="t"/>
          <a:lstStyle/>
          <a:p>
            <a:pPr marL="0" indent="0">
              <a:lnSpc>
                <a:spcPct val="106000"/>
              </a:lnSpc>
              <a:buNone/>
            </a:pPr>
            <a:r>
              <a:rPr lang="en-US" sz="1120" dirty="0">
                <a:solidFill>
                  <a:srgbClr val="4A5568"/>
                </a:solidFill>
                <a:latin typeface="Calibri" pitchFamily="34" charset="0"/>
                <a:ea typeface="Calibri" pitchFamily="34" charset="-122"/>
                <a:cs typeface="Calibri" pitchFamily="34" charset="-120"/>
              </a:rPr>
              <a:t>City, district and landmark extraction</a:t>
            </a:r>
            <a:endParaRPr lang="en-US" sz="1120" dirty="0"/>
          </a:p>
        </p:txBody>
      </p:sp>
      <p:sp>
        <p:nvSpPr>
          <p:cNvPr id="24" name="Shape 19"/>
          <p:cNvSpPr/>
          <p:nvPr/>
        </p:nvSpPr>
        <p:spPr>
          <a:xfrm>
            <a:off x="9043416" y="1645920"/>
            <a:ext cx="2615184" cy="1371600"/>
          </a:xfrm>
          <a:prstGeom prst="roundRect">
            <a:avLst>
              <a:gd name="adj" fmla="val 8000"/>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5" name="Shape 20"/>
          <p:cNvSpPr/>
          <p:nvPr/>
        </p:nvSpPr>
        <p:spPr>
          <a:xfrm>
            <a:off x="9281160" y="1819656"/>
            <a:ext cx="420624" cy="420624"/>
          </a:xfrm>
          <a:prstGeom prst="ellipse">
            <a:avLst/>
          </a:prstGeom>
          <a:solidFill>
            <a:srgbClr val="1B3160"/>
          </a:solidFill>
          <a:ln/>
        </p:spPr>
        <p:txBody>
          <a:bodyPr/>
          <a:lstStyle/>
          <a:p>
            <a:endParaRPr lang="en-AE"/>
          </a:p>
        </p:txBody>
      </p:sp>
      <p:pic>
        <p:nvPicPr>
          <p:cNvPr id="26" name="Image 3" descr="preencoded.png"/>
          <p:cNvPicPr>
            <a:picLocks noChangeAspect="1"/>
          </p:cNvPicPr>
          <p:nvPr/>
        </p:nvPicPr>
        <p:blipFill>
          <a:blip r:embed="rId6"/>
          <a:stretch>
            <a:fillRect/>
          </a:stretch>
        </p:blipFill>
        <p:spPr>
          <a:xfrm>
            <a:off x="9386316" y="1924812"/>
            <a:ext cx="210312" cy="210312"/>
          </a:xfrm>
          <a:prstGeom prst="rect">
            <a:avLst/>
          </a:prstGeom>
        </p:spPr>
      </p:pic>
      <p:sp>
        <p:nvSpPr>
          <p:cNvPr id="27" name="Text 21"/>
          <p:cNvSpPr txBox="1"/>
          <p:nvPr/>
        </p:nvSpPr>
        <p:spPr>
          <a:xfrm>
            <a:off x="9811512" y="1828800"/>
            <a:ext cx="1691640" cy="402336"/>
          </a:xfrm>
          <a:prstGeom prst="rect">
            <a:avLst/>
          </a:prstGeom>
          <a:noFill/>
          <a:ln/>
        </p:spPr>
        <p:txBody>
          <a:bodyPr wrap="square" lIns="0" tIns="0" rIns="0" bIns="0" rtlCol="0" anchor="ctr"/>
          <a:lstStyle/>
          <a:p>
            <a:pPr marL="0" indent="0">
              <a:buNone/>
            </a:pPr>
            <a:r>
              <a:rPr lang="en-US" sz="1450" b="1" dirty="0">
                <a:solidFill>
                  <a:srgbClr val="0F1E3D"/>
                </a:solidFill>
                <a:latin typeface="Cambria" pitchFamily="34" charset="0"/>
                <a:ea typeface="Cambria" pitchFamily="34" charset="-122"/>
                <a:cs typeface="Cambria" pitchFamily="34" charset="-120"/>
              </a:rPr>
              <a:t>4. Rank</a:t>
            </a:r>
            <a:endParaRPr lang="en-US" sz="1450" dirty="0"/>
          </a:p>
        </p:txBody>
      </p:sp>
      <p:sp>
        <p:nvSpPr>
          <p:cNvPr id="28" name="Text 22"/>
          <p:cNvSpPr txBox="1"/>
          <p:nvPr/>
        </p:nvSpPr>
        <p:spPr>
          <a:xfrm>
            <a:off x="9281160" y="2340864"/>
            <a:ext cx="2139696" cy="548640"/>
          </a:xfrm>
          <a:prstGeom prst="rect">
            <a:avLst/>
          </a:prstGeom>
          <a:noFill/>
          <a:ln/>
        </p:spPr>
        <p:txBody>
          <a:bodyPr wrap="square" lIns="0" tIns="0" rIns="0" bIns="0" rtlCol="0" anchor="t"/>
          <a:lstStyle/>
          <a:p>
            <a:pPr marL="0" indent="0">
              <a:lnSpc>
                <a:spcPct val="106000"/>
              </a:lnSpc>
              <a:buNone/>
            </a:pPr>
            <a:r>
              <a:rPr lang="en-US" sz="1120" dirty="0">
                <a:solidFill>
                  <a:srgbClr val="4A5568"/>
                </a:solidFill>
                <a:latin typeface="Calibri" pitchFamily="34" charset="0"/>
                <a:ea typeface="Calibri" pitchFamily="34" charset="-122"/>
                <a:cs typeface="Calibri" pitchFamily="34" charset="-120"/>
              </a:rPr>
              <a:t>Scored per reader, per session</a:t>
            </a:r>
            <a:endParaRPr lang="en-US" sz="1120" dirty="0"/>
          </a:p>
        </p:txBody>
      </p:sp>
      <p:sp>
        <p:nvSpPr>
          <p:cNvPr id="29" name="Shape 23"/>
          <p:cNvSpPr/>
          <p:nvPr/>
        </p:nvSpPr>
        <p:spPr>
          <a:xfrm>
            <a:off x="566928" y="3218688"/>
            <a:ext cx="3529584" cy="2798064"/>
          </a:xfrm>
          <a:prstGeom prst="roundRect">
            <a:avLst>
              <a:gd name="adj" fmla="val 3922"/>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30" name="Shape 24"/>
          <p:cNvSpPr/>
          <p:nvPr/>
        </p:nvSpPr>
        <p:spPr>
          <a:xfrm>
            <a:off x="822960" y="3493008"/>
            <a:ext cx="402336" cy="402336"/>
          </a:xfrm>
          <a:prstGeom prst="ellipse">
            <a:avLst/>
          </a:prstGeom>
          <a:solidFill>
            <a:srgbClr val="C8102E"/>
          </a:solidFill>
          <a:ln/>
        </p:spPr>
        <p:txBody>
          <a:bodyPr/>
          <a:lstStyle/>
          <a:p>
            <a:endParaRPr lang="en-AE"/>
          </a:p>
        </p:txBody>
      </p:sp>
      <p:pic>
        <p:nvPicPr>
          <p:cNvPr id="31" name="Image 4" descr="preencoded.png"/>
          <p:cNvPicPr>
            <a:picLocks noChangeAspect="1"/>
          </p:cNvPicPr>
          <p:nvPr/>
        </p:nvPicPr>
        <p:blipFill>
          <a:blip r:embed="rId7"/>
          <a:stretch>
            <a:fillRect/>
          </a:stretch>
        </p:blipFill>
        <p:spPr>
          <a:xfrm>
            <a:off x="918972" y="3593592"/>
            <a:ext cx="210312" cy="210312"/>
          </a:xfrm>
          <a:prstGeom prst="rect">
            <a:avLst/>
          </a:prstGeom>
        </p:spPr>
      </p:pic>
      <p:sp>
        <p:nvSpPr>
          <p:cNvPr id="32" name="Text 25"/>
          <p:cNvSpPr txBox="1"/>
          <p:nvPr/>
        </p:nvSpPr>
        <p:spPr>
          <a:xfrm>
            <a:off x="1371600" y="3474720"/>
            <a:ext cx="2468880" cy="512064"/>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Fast enough to be invisible</a:t>
            </a:r>
            <a:endParaRPr lang="en-US" sz="1450" dirty="0"/>
          </a:p>
        </p:txBody>
      </p:sp>
      <p:sp>
        <p:nvSpPr>
          <p:cNvPr id="33" name="Text 26"/>
          <p:cNvSpPr txBox="1"/>
          <p:nvPr/>
        </p:nvSpPr>
        <p:spPr>
          <a:xfrm>
            <a:off x="822960" y="4078224"/>
            <a:ext cx="3017520" cy="1682496"/>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Groq-hosted inference returns classification in well under a second, so tagging happens as the editor hits publish.</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Ranking is precomputed per city and per topic cluster, then personalised at request time from cache.</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No reader ever waits on a model call to see their feed.</a:t>
            </a:r>
            <a:endParaRPr lang="en-US" sz="1120" dirty="0"/>
          </a:p>
        </p:txBody>
      </p:sp>
      <p:sp>
        <p:nvSpPr>
          <p:cNvPr id="34" name="Shape 27"/>
          <p:cNvSpPr/>
          <p:nvPr/>
        </p:nvSpPr>
        <p:spPr>
          <a:xfrm>
            <a:off x="4306824" y="3218688"/>
            <a:ext cx="3529584" cy="2798064"/>
          </a:xfrm>
          <a:prstGeom prst="roundRect">
            <a:avLst>
              <a:gd name="adj" fmla="val 3922"/>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35" name="Shape 28"/>
          <p:cNvSpPr/>
          <p:nvPr/>
        </p:nvSpPr>
        <p:spPr>
          <a:xfrm>
            <a:off x="4562856" y="3493008"/>
            <a:ext cx="402336" cy="402336"/>
          </a:xfrm>
          <a:prstGeom prst="ellipse">
            <a:avLst/>
          </a:prstGeom>
          <a:solidFill>
            <a:srgbClr val="0F1E3D"/>
          </a:solidFill>
          <a:ln/>
        </p:spPr>
        <p:txBody>
          <a:bodyPr/>
          <a:lstStyle/>
          <a:p>
            <a:endParaRPr lang="en-AE"/>
          </a:p>
        </p:txBody>
      </p:sp>
      <p:pic>
        <p:nvPicPr>
          <p:cNvPr id="36" name="Image 5" descr="preencoded.png"/>
          <p:cNvPicPr>
            <a:picLocks noChangeAspect="1"/>
          </p:cNvPicPr>
          <p:nvPr/>
        </p:nvPicPr>
        <p:blipFill>
          <a:blip r:embed="rId8"/>
          <a:stretch>
            <a:fillRect/>
          </a:stretch>
        </p:blipFill>
        <p:spPr>
          <a:xfrm>
            <a:off x="4658868" y="3593592"/>
            <a:ext cx="210312" cy="210312"/>
          </a:xfrm>
          <a:prstGeom prst="rect">
            <a:avLst/>
          </a:prstGeom>
        </p:spPr>
      </p:pic>
      <p:sp>
        <p:nvSpPr>
          <p:cNvPr id="37" name="Text 29"/>
          <p:cNvSpPr txBox="1"/>
          <p:nvPr/>
        </p:nvSpPr>
        <p:spPr>
          <a:xfrm>
            <a:off x="5111496" y="3474720"/>
            <a:ext cx="2468880" cy="512064"/>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Trending, and about to trend</a:t>
            </a:r>
            <a:endParaRPr lang="en-US" sz="1450" dirty="0"/>
          </a:p>
        </p:txBody>
      </p:sp>
      <p:sp>
        <p:nvSpPr>
          <p:cNvPr id="38" name="Text 30"/>
          <p:cNvSpPr txBox="1"/>
          <p:nvPr/>
        </p:nvSpPr>
        <p:spPr>
          <a:xfrm>
            <a:off x="4562856" y="4078224"/>
            <a:ext cx="3017520" cy="1682496"/>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Reads, shares and comments tracked in rolling windows, per city not statewide.</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A story spiking in Mangaluru surfaces there first instead of waiting for statewide volume.</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Breaking-news candidates are flagged for a one-tap editor push — the human stays in the loop.</a:t>
            </a:r>
            <a:endParaRPr lang="en-US" sz="1120" dirty="0"/>
          </a:p>
        </p:txBody>
      </p:sp>
      <p:sp>
        <p:nvSpPr>
          <p:cNvPr id="39" name="Shape 31"/>
          <p:cNvSpPr/>
          <p:nvPr/>
        </p:nvSpPr>
        <p:spPr>
          <a:xfrm>
            <a:off x="8046720" y="3218688"/>
            <a:ext cx="3529584" cy="2798064"/>
          </a:xfrm>
          <a:prstGeom prst="roundRect">
            <a:avLst>
              <a:gd name="adj" fmla="val 3922"/>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40" name="Shape 32"/>
          <p:cNvSpPr/>
          <p:nvPr/>
        </p:nvSpPr>
        <p:spPr>
          <a:xfrm>
            <a:off x="8302752" y="3493008"/>
            <a:ext cx="402336" cy="402336"/>
          </a:xfrm>
          <a:prstGeom prst="ellipse">
            <a:avLst/>
          </a:prstGeom>
          <a:solidFill>
            <a:srgbClr val="F0A81C"/>
          </a:solidFill>
          <a:ln/>
        </p:spPr>
        <p:txBody>
          <a:bodyPr/>
          <a:lstStyle/>
          <a:p>
            <a:endParaRPr lang="en-AE"/>
          </a:p>
        </p:txBody>
      </p:sp>
      <p:pic>
        <p:nvPicPr>
          <p:cNvPr id="41" name="Image 6" descr="preencoded.png"/>
          <p:cNvPicPr>
            <a:picLocks noChangeAspect="1"/>
          </p:cNvPicPr>
          <p:nvPr/>
        </p:nvPicPr>
        <p:blipFill>
          <a:blip r:embed="rId9"/>
          <a:stretch>
            <a:fillRect/>
          </a:stretch>
        </p:blipFill>
        <p:spPr>
          <a:xfrm>
            <a:off x="8398764" y="3593592"/>
            <a:ext cx="210312" cy="210312"/>
          </a:xfrm>
          <a:prstGeom prst="rect">
            <a:avLst/>
          </a:prstGeom>
        </p:spPr>
      </p:pic>
      <p:sp>
        <p:nvSpPr>
          <p:cNvPr id="42" name="Text 33"/>
          <p:cNvSpPr txBox="1"/>
          <p:nvPr/>
        </p:nvSpPr>
        <p:spPr>
          <a:xfrm>
            <a:off x="8851392" y="3474720"/>
            <a:ext cx="2468880" cy="512064"/>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Guardrails on the model</a:t>
            </a:r>
            <a:endParaRPr lang="en-US" sz="1450" dirty="0"/>
          </a:p>
        </p:txBody>
      </p:sp>
      <p:sp>
        <p:nvSpPr>
          <p:cNvPr id="43" name="Text 34"/>
          <p:cNvSpPr txBox="1"/>
          <p:nvPr/>
        </p:nvSpPr>
        <p:spPr>
          <a:xfrm>
            <a:off x="8302752" y="4078224"/>
            <a:ext cx="3017520" cy="1682496"/>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AI assigns tags and scores. It never writes or rewrites copy.</a:t>
            </a:r>
            <a:endParaRPr lang="en-US" sz="1100" dirty="0"/>
          </a:p>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Editors override any tag, and overrides feed back as training signal.</a:t>
            </a:r>
            <a:endParaRPr lang="en-US" sz="1100" dirty="0"/>
          </a:p>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Every automated decision is logged and auditable.</a:t>
            </a:r>
            <a:endParaRPr lang="en-US" sz="1100" dirty="0"/>
          </a:p>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If the AI service is down, the feed falls back to editorial ordering.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02 · THE PRODUCT</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Reading experience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The feed and the story page — where 90% of session time is spent.</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11</a:t>
            </a:r>
            <a:endParaRPr lang="en-US" sz="1050" dirty="0"/>
          </a:p>
        </p:txBody>
      </p:sp>
      <p:pic>
        <p:nvPicPr>
          <p:cNvPr id="9" name="Image 0" descr="preencoded.png"/>
          <p:cNvPicPr>
            <a:picLocks noChangeAspect="1"/>
          </p:cNvPicPr>
          <p:nvPr/>
        </p:nvPicPr>
        <p:blipFill>
          <a:blip r:embed="rId3"/>
          <a:stretch>
            <a:fillRect/>
          </a:stretch>
        </p:blipFill>
        <p:spPr>
          <a:xfrm>
            <a:off x="658368" y="1481328"/>
            <a:ext cx="2121408" cy="4315968"/>
          </a:xfrm>
          <a:prstGeom prst="rect">
            <a:avLst/>
          </a:prstGeom>
        </p:spPr>
      </p:pic>
      <p:sp>
        <p:nvSpPr>
          <p:cNvPr id="10" name="Shape 7"/>
          <p:cNvSpPr/>
          <p:nvPr/>
        </p:nvSpPr>
        <p:spPr>
          <a:xfrm>
            <a:off x="3246120" y="1536192"/>
            <a:ext cx="8366760" cy="4315968"/>
          </a:xfrm>
          <a:prstGeom prst="roundRect">
            <a:avLst>
              <a:gd name="adj" fmla="val 2966"/>
            </a:avLst>
          </a:prstGeom>
          <a:solidFill>
            <a:srgbClr val="F4F7FC"/>
          </a:solidFill>
          <a:ln/>
        </p:spPr>
        <p:txBody>
          <a:bodyPr/>
          <a:lstStyle/>
          <a:p>
            <a:endParaRPr lang="en-AE"/>
          </a:p>
        </p:txBody>
      </p:sp>
      <p:sp>
        <p:nvSpPr>
          <p:cNvPr id="11" name="Shape 8"/>
          <p:cNvSpPr/>
          <p:nvPr/>
        </p:nvSpPr>
        <p:spPr>
          <a:xfrm>
            <a:off x="3520440" y="1792224"/>
            <a:ext cx="420624" cy="420624"/>
          </a:xfrm>
          <a:prstGeom prst="ellipse">
            <a:avLst/>
          </a:prstGeom>
          <a:solidFill>
            <a:srgbClr val="C8102E"/>
          </a:solidFill>
          <a:ln/>
        </p:spPr>
        <p:txBody>
          <a:bodyPr/>
          <a:lstStyle/>
          <a:p>
            <a:endParaRPr lang="en-AE"/>
          </a:p>
        </p:txBody>
      </p:sp>
      <p:pic>
        <p:nvPicPr>
          <p:cNvPr id="12" name="Image 1" descr="preencoded.png"/>
          <p:cNvPicPr>
            <a:picLocks noChangeAspect="1"/>
          </p:cNvPicPr>
          <p:nvPr/>
        </p:nvPicPr>
        <p:blipFill>
          <a:blip r:embed="rId4"/>
          <a:stretch>
            <a:fillRect/>
          </a:stretch>
        </p:blipFill>
        <p:spPr>
          <a:xfrm>
            <a:off x="3625596" y="1897380"/>
            <a:ext cx="210312" cy="210312"/>
          </a:xfrm>
          <a:prstGeom prst="rect">
            <a:avLst/>
          </a:prstGeom>
        </p:spPr>
      </p:pic>
      <p:sp>
        <p:nvSpPr>
          <p:cNvPr id="13" name="Text 9"/>
          <p:cNvSpPr txBox="1"/>
          <p:nvPr/>
        </p:nvSpPr>
        <p:spPr>
          <a:xfrm>
            <a:off x="4087368" y="1773936"/>
            <a:ext cx="725119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A feed built per reader</a:t>
            </a:r>
            <a:endParaRPr lang="en-US" sz="1300" dirty="0"/>
          </a:p>
        </p:txBody>
      </p:sp>
      <p:sp>
        <p:nvSpPr>
          <p:cNvPr id="14" name="Text 10"/>
          <p:cNvSpPr txBox="1"/>
          <p:nvPr/>
        </p:nvSpPr>
        <p:spPr>
          <a:xfrm>
            <a:off x="4087368" y="2039112"/>
            <a:ext cx="7251192" cy="45720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Location weighting, reading history and followed topics combine into one ranked list. Pull to refresh; infinite scroll with position memory.</a:t>
            </a:r>
            <a:endParaRPr lang="en-US" sz="1140" dirty="0"/>
          </a:p>
        </p:txBody>
      </p:sp>
      <p:sp>
        <p:nvSpPr>
          <p:cNvPr id="15" name="Shape 11"/>
          <p:cNvSpPr/>
          <p:nvPr/>
        </p:nvSpPr>
        <p:spPr>
          <a:xfrm>
            <a:off x="3520440" y="2615184"/>
            <a:ext cx="420624" cy="420624"/>
          </a:xfrm>
          <a:prstGeom prst="ellipse">
            <a:avLst/>
          </a:prstGeom>
          <a:solidFill>
            <a:srgbClr val="0F1E3D"/>
          </a:solidFill>
          <a:ln/>
        </p:spPr>
        <p:txBody>
          <a:bodyPr/>
          <a:lstStyle/>
          <a:p>
            <a:endParaRPr lang="en-AE"/>
          </a:p>
        </p:txBody>
      </p:sp>
      <p:pic>
        <p:nvPicPr>
          <p:cNvPr id="16" name="Image 2" descr="preencoded.png"/>
          <p:cNvPicPr>
            <a:picLocks noChangeAspect="1"/>
          </p:cNvPicPr>
          <p:nvPr/>
        </p:nvPicPr>
        <p:blipFill>
          <a:blip r:embed="rId5"/>
          <a:stretch>
            <a:fillRect/>
          </a:stretch>
        </p:blipFill>
        <p:spPr>
          <a:xfrm>
            <a:off x="3625596" y="2720340"/>
            <a:ext cx="210312" cy="210312"/>
          </a:xfrm>
          <a:prstGeom prst="rect">
            <a:avLst/>
          </a:prstGeom>
        </p:spPr>
      </p:pic>
      <p:sp>
        <p:nvSpPr>
          <p:cNvPr id="17" name="Text 12"/>
          <p:cNvSpPr txBox="1"/>
          <p:nvPr/>
        </p:nvSpPr>
        <p:spPr>
          <a:xfrm>
            <a:off x="4087368" y="2596896"/>
            <a:ext cx="725119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Breaking news that looks urgent</a:t>
            </a:r>
            <a:endParaRPr lang="en-US" sz="1300" dirty="0"/>
          </a:p>
        </p:txBody>
      </p:sp>
      <p:sp>
        <p:nvSpPr>
          <p:cNvPr id="18" name="Text 13"/>
          <p:cNvSpPr txBox="1"/>
          <p:nvPr/>
        </p:nvSpPr>
        <p:spPr>
          <a:xfrm>
            <a:off x="4087368" y="2862072"/>
            <a:ext cx="7251192" cy="45720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A distinct breaking treatment at the top of the feed, with a live-updating ticker for developing stories.</a:t>
            </a:r>
            <a:endParaRPr lang="en-US" sz="1140" dirty="0"/>
          </a:p>
        </p:txBody>
      </p:sp>
      <p:sp>
        <p:nvSpPr>
          <p:cNvPr id="19" name="Shape 14"/>
          <p:cNvSpPr/>
          <p:nvPr/>
        </p:nvSpPr>
        <p:spPr>
          <a:xfrm>
            <a:off x="3520440" y="3438144"/>
            <a:ext cx="420624" cy="420624"/>
          </a:xfrm>
          <a:prstGeom prst="ellipse">
            <a:avLst/>
          </a:prstGeom>
          <a:solidFill>
            <a:srgbClr val="C8102E"/>
          </a:solidFill>
          <a:ln/>
        </p:spPr>
        <p:txBody>
          <a:bodyPr/>
          <a:lstStyle/>
          <a:p>
            <a:endParaRPr lang="en-AE"/>
          </a:p>
        </p:txBody>
      </p:sp>
      <p:pic>
        <p:nvPicPr>
          <p:cNvPr id="20" name="Image 3" descr="preencoded.png"/>
          <p:cNvPicPr>
            <a:picLocks noChangeAspect="1"/>
          </p:cNvPicPr>
          <p:nvPr/>
        </p:nvPicPr>
        <p:blipFill>
          <a:blip r:embed="rId6"/>
          <a:stretch>
            <a:fillRect/>
          </a:stretch>
        </p:blipFill>
        <p:spPr>
          <a:xfrm>
            <a:off x="3625596" y="3543300"/>
            <a:ext cx="210312" cy="210312"/>
          </a:xfrm>
          <a:prstGeom prst="rect">
            <a:avLst/>
          </a:prstGeom>
        </p:spPr>
      </p:pic>
      <p:sp>
        <p:nvSpPr>
          <p:cNvPr id="21" name="Text 15"/>
          <p:cNvSpPr txBox="1"/>
          <p:nvPr/>
        </p:nvSpPr>
        <p:spPr>
          <a:xfrm>
            <a:off x="4087368" y="3419856"/>
            <a:ext cx="725119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A story page that respects the reader</a:t>
            </a:r>
            <a:endParaRPr lang="en-US" sz="1300" dirty="0"/>
          </a:p>
        </p:txBody>
      </p:sp>
      <p:sp>
        <p:nvSpPr>
          <p:cNvPr id="22" name="Text 16"/>
          <p:cNvSpPr txBox="1"/>
          <p:nvPr/>
        </p:nvSpPr>
        <p:spPr>
          <a:xfrm>
            <a:off x="4087368" y="3685032"/>
            <a:ext cx="7251192" cy="45720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Clean typography, adjustable text size, inline media, reading-time estimate and a related-stories rail that keeps the session going.</a:t>
            </a:r>
            <a:endParaRPr lang="en-US" sz="1140" dirty="0"/>
          </a:p>
        </p:txBody>
      </p:sp>
      <p:sp>
        <p:nvSpPr>
          <p:cNvPr id="23" name="Shape 17"/>
          <p:cNvSpPr/>
          <p:nvPr/>
        </p:nvSpPr>
        <p:spPr>
          <a:xfrm>
            <a:off x="3520440" y="4261104"/>
            <a:ext cx="420624" cy="420624"/>
          </a:xfrm>
          <a:prstGeom prst="ellipse">
            <a:avLst/>
          </a:prstGeom>
          <a:solidFill>
            <a:srgbClr val="0F1E3D"/>
          </a:solidFill>
          <a:ln/>
        </p:spPr>
        <p:txBody>
          <a:bodyPr/>
          <a:lstStyle/>
          <a:p>
            <a:endParaRPr lang="en-AE"/>
          </a:p>
        </p:txBody>
      </p:sp>
      <p:pic>
        <p:nvPicPr>
          <p:cNvPr id="24" name="Image 4" descr="preencoded.png"/>
          <p:cNvPicPr>
            <a:picLocks noChangeAspect="1"/>
          </p:cNvPicPr>
          <p:nvPr/>
        </p:nvPicPr>
        <p:blipFill>
          <a:blip r:embed="rId7"/>
          <a:stretch>
            <a:fillRect/>
          </a:stretch>
        </p:blipFill>
        <p:spPr>
          <a:xfrm>
            <a:off x="3625596" y="4366260"/>
            <a:ext cx="210312" cy="210312"/>
          </a:xfrm>
          <a:prstGeom prst="rect">
            <a:avLst/>
          </a:prstGeom>
        </p:spPr>
      </p:pic>
      <p:sp>
        <p:nvSpPr>
          <p:cNvPr id="25" name="Text 18"/>
          <p:cNvSpPr txBox="1"/>
          <p:nvPr/>
        </p:nvSpPr>
        <p:spPr>
          <a:xfrm>
            <a:off x="4087368" y="4242816"/>
            <a:ext cx="725119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Works on a weak connection</a:t>
            </a:r>
            <a:endParaRPr lang="en-US" sz="1300" dirty="0"/>
          </a:p>
        </p:txBody>
      </p:sp>
      <p:sp>
        <p:nvSpPr>
          <p:cNvPr id="26" name="Text 19"/>
          <p:cNvSpPr txBox="1"/>
          <p:nvPr/>
        </p:nvSpPr>
        <p:spPr>
          <a:xfrm>
            <a:off x="4087368" y="4507992"/>
            <a:ext cx="7251192" cy="45720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Stories and images cache locally; saved articles are fully readable offline, and the app opens to cached content instantly.</a:t>
            </a:r>
            <a:endParaRPr lang="en-US" sz="1140" dirty="0"/>
          </a:p>
        </p:txBody>
      </p:sp>
      <p:sp>
        <p:nvSpPr>
          <p:cNvPr id="27" name="Shape 20"/>
          <p:cNvSpPr/>
          <p:nvPr/>
        </p:nvSpPr>
        <p:spPr>
          <a:xfrm>
            <a:off x="3520440" y="5084064"/>
            <a:ext cx="420624" cy="420624"/>
          </a:xfrm>
          <a:prstGeom prst="ellipse">
            <a:avLst/>
          </a:prstGeom>
          <a:solidFill>
            <a:srgbClr val="C8102E"/>
          </a:solidFill>
          <a:ln/>
        </p:spPr>
        <p:txBody>
          <a:bodyPr/>
          <a:lstStyle/>
          <a:p>
            <a:endParaRPr lang="en-AE"/>
          </a:p>
        </p:txBody>
      </p:sp>
      <p:pic>
        <p:nvPicPr>
          <p:cNvPr id="28" name="Image 5" descr="preencoded.png"/>
          <p:cNvPicPr>
            <a:picLocks noChangeAspect="1"/>
          </p:cNvPicPr>
          <p:nvPr/>
        </p:nvPicPr>
        <p:blipFill>
          <a:blip r:embed="rId8"/>
          <a:stretch>
            <a:fillRect/>
          </a:stretch>
        </p:blipFill>
        <p:spPr>
          <a:xfrm>
            <a:off x="3625596" y="5189220"/>
            <a:ext cx="210312" cy="210312"/>
          </a:xfrm>
          <a:prstGeom prst="rect">
            <a:avLst/>
          </a:prstGeom>
        </p:spPr>
      </p:pic>
      <p:sp>
        <p:nvSpPr>
          <p:cNvPr id="29" name="Text 21"/>
          <p:cNvSpPr txBox="1"/>
          <p:nvPr/>
        </p:nvSpPr>
        <p:spPr>
          <a:xfrm>
            <a:off x="4087368" y="5065776"/>
            <a:ext cx="725119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Notifications the reader chooses</a:t>
            </a:r>
            <a:endParaRPr lang="en-US" sz="1300" dirty="0"/>
          </a:p>
        </p:txBody>
      </p:sp>
      <p:sp>
        <p:nvSpPr>
          <p:cNvPr id="30" name="Text 22"/>
          <p:cNvSpPr txBox="1"/>
          <p:nvPr/>
        </p:nvSpPr>
        <p:spPr>
          <a:xfrm>
            <a:off x="4087368" y="5330952"/>
            <a:ext cx="7251192" cy="45720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Per-city and per-topic alerts, breaking-news toggle, and quiet hours — so push stays welcome instead of becoming noise.</a:t>
            </a:r>
            <a:endParaRPr lang="en-US" sz="1140" dirty="0"/>
          </a:p>
        </p:txBody>
      </p:sp>
      <p:sp>
        <p:nvSpPr>
          <p:cNvPr id="31" name="Text 23"/>
          <p:cNvSpPr txBox="1"/>
          <p:nvPr/>
        </p:nvSpPr>
        <p:spPr>
          <a:xfrm>
            <a:off x="475488" y="5888736"/>
            <a:ext cx="2468880" cy="274320"/>
          </a:xfrm>
          <a:prstGeom prst="rect">
            <a:avLst/>
          </a:prstGeom>
          <a:noFill/>
          <a:ln/>
        </p:spPr>
        <p:txBody>
          <a:bodyPr wrap="square" lIns="0" tIns="0" rIns="0" bIns="0" rtlCol="0" anchor="ctr"/>
          <a:lstStyle/>
          <a:p>
            <a:pPr marL="0" indent="0" algn="ctr">
              <a:buNone/>
            </a:pPr>
            <a:r>
              <a:rPr lang="en-US" sz="950" dirty="0">
                <a:solidFill>
                  <a:srgbClr val="77839B"/>
                </a:solidFill>
                <a:latin typeface="Calibri" pitchFamily="34" charset="0"/>
                <a:ea typeface="Calibri" pitchFamily="34" charset="-122"/>
                <a:cs typeface="Calibri" pitchFamily="34" charset="-120"/>
              </a:rPr>
              <a:t>Illustrative UI — real designs in week 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02 · THE PRODUCT</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Engagement &amp; community</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Comments are the cheapest retention feature in news — and the easiest to get wrong.</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12</a:t>
            </a:r>
            <a:endParaRPr lang="en-US" sz="1050" dirty="0"/>
          </a:p>
        </p:txBody>
      </p:sp>
      <p:pic>
        <p:nvPicPr>
          <p:cNvPr id="9" name="Image 0" descr="preencoded.png"/>
          <p:cNvPicPr>
            <a:picLocks noChangeAspect="1"/>
          </p:cNvPicPr>
          <p:nvPr/>
        </p:nvPicPr>
        <p:blipFill>
          <a:blip r:embed="rId3"/>
          <a:stretch>
            <a:fillRect/>
          </a:stretch>
        </p:blipFill>
        <p:spPr>
          <a:xfrm>
            <a:off x="9400032" y="1536192"/>
            <a:ext cx="2121408" cy="4315968"/>
          </a:xfrm>
          <a:prstGeom prst="rect">
            <a:avLst/>
          </a:prstGeom>
        </p:spPr>
      </p:pic>
      <p:sp>
        <p:nvSpPr>
          <p:cNvPr id="10" name="Shape 7"/>
          <p:cNvSpPr/>
          <p:nvPr/>
        </p:nvSpPr>
        <p:spPr>
          <a:xfrm>
            <a:off x="566928" y="1536192"/>
            <a:ext cx="4160520" cy="2139696"/>
          </a:xfrm>
          <a:prstGeom prst="roundRect">
            <a:avLst>
              <a:gd name="adj" fmla="val 5128"/>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1" name="Shape 8"/>
          <p:cNvSpPr/>
          <p:nvPr/>
        </p:nvSpPr>
        <p:spPr>
          <a:xfrm>
            <a:off x="822960" y="1810512"/>
            <a:ext cx="402336" cy="402336"/>
          </a:xfrm>
          <a:prstGeom prst="ellipse">
            <a:avLst/>
          </a:prstGeom>
          <a:solidFill>
            <a:srgbClr val="C8102E"/>
          </a:solidFill>
          <a:ln/>
        </p:spPr>
        <p:txBody>
          <a:bodyPr/>
          <a:lstStyle/>
          <a:p>
            <a:endParaRPr lang="en-AE"/>
          </a:p>
        </p:txBody>
      </p:sp>
      <p:pic>
        <p:nvPicPr>
          <p:cNvPr id="12" name="Image 1" descr="preencoded.png"/>
          <p:cNvPicPr>
            <a:picLocks noChangeAspect="1"/>
          </p:cNvPicPr>
          <p:nvPr/>
        </p:nvPicPr>
        <p:blipFill>
          <a:blip r:embed="rId4"/>
          <a:stretch>
            <a:fillRect/>
          </a:stretch>
        </p:blipFill>
        <p:spPr>
          <a:xfrm>
            <a:off x="918972" y="1911096"/>
            <a:ext cx="210312" cy="210312"/>
          </a:xfrm>
          <a:prstGeom prst="rect">
            <a:avLst/>
          </a:prstGeom>
        </p:spPr>
      </p:pic>
      <p:sp>
        <p:nvSpPr>
          <p:cNvPr id="13" name="Text 9"/>
          <p:cNvSpPr txBox="1"/>
          <p:nvPr/>
        </p:nvSpPr>
        <p:spPr>
          <a:xfrm>
            <a:off x="1371600" y="1792224"/>
            <a:ext cx="3099816"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Threaded discussion</a:t>
            </a:r>
            <a:endParaRPr lang="en-US" sz="1450" dirty="0"/>
          </a:p>
        </p:txBody>
      </p:sp>
      <p:sp>
        <p:nvSpPr>
          <p:cNvPr id="14" name="Text 10"/>
          <p:cNvSpPr txBox="1"/>
          <p:nvPr/>
        </p:nvSpPr>
        <p:spPr>
          <a:xfrm>
            <a:off x="822960" y="2176272"/>
            <a:ext cx="3648456" cy="1243584"/>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Nested replies up to five levels, collapsed by default.</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Upvotes, @mentions and sort by top or newest.</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Verified badges for phone-verified readers.</a:t>
            </a:r>
            <a:endParaRPr lang="en-US" sz="1120" dirty="0"/>
          </a:p>
        </p:txBody>
      </p:sp>
      <p:sp>
        <p:nvSpPr>
          <p:cNvPr id="15" name="Shape 11"/>
          <p:cNvSpPr/>
          <p:nvPr/>
        </p:nvSpPr>
        <p:spPr>
          <a:xfrm>
            <a:off x="566928" y="3822192"/>
            <a:ext cx="4160520" cy="2139696"/>
          </a:xfrm>
          <a:prstGeom prst="roundRect">
            <a:avLst>
              <a:gd name="adj" fmla="val 5128"/>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6" name="Shape 12"/>
          <p:cNvSpPr/>
          <p:nvPr/>
        </p:nvSpPr>
        <p:spPr>
          <a:xfrm>
            <a:off x="822960" y="4096512"/>
            <a:ext cx="402336" cy="402336"/>
          </a:xfrm>
          <a:prstGeom prst="ellipse">
            <a:avLst/>
          </a:prstGeom>
          <a:solidFill>
            <a:srgbClr val="0F1E3D"/>
          </a:solidFill>
          <a:ln/>
        </p:spPr>
        <p:txBody>
          <a:bodyPr/>
          <a:lstStyle/>
          <a:p>
            <a:endParaRPr lang="en-AE"/>
          </a:p>
        </p:txBody>
      </p:sp>
      <p:pic>
        <p:nvPicPr>
          <p:cNvPr id="17" name="Image 2" descr="preencoded.png"/>
          <p:cNvPicPr>
            <a:picLocks noChangeAspect="1"/>
          </p:cNvPicPr>
          <p:nvPr/>
        </p:nvPicPr>
        <p:blipFill>
          <a:blip r:embed="rId5"/>
          <a:stretch>
            <a:fillRect/>
          </a:stretch>
        </p:blipFill>
        <p:spPr>
          <a:xfrm>
            <a:off x="918972" y="4197096"/>
            <a:ext cx="210312" cy="210312"/>
          </a:xfrm>
          <a:prstGeom prst="rect">
            <a:avLst/>
          </a:prstGeom>
        </p:spPr>
      </p:pic>
      <p:sp>
        <p:nvSpPr>
          <p:cNvPr id="18" name="Text 13"/>
          <p:cNvSpPr txBox="1"/>
          <p:nvPr/>
        </p:nvSpPr>
        <p:spPr>
          <a:xfrm>
            <a:off x="1371600" y="4078224"/>
            <a:ext cx="3099816"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Moderation editors can live with</a:t>
            </a:r>
            <a:endParaRPr lang="en-US" sz="1450" dirty="0"/>
          </a:p>
        </p:txBody>
      </p:sp>
      <p:sp>
        <p:nvSpPr>
          <p:cNvPr id="19" name="Text 14"/>
          <p:cNvSpPr txBox="1"/>
          <p:nvPr/>
        </p:nvSpPr>
        <p:spPr>
          <a:xfrm>
            <a:off x="822960" y="4462272"/>
            <a:ext cx="3648456" cy="1243584"/>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Automated first pass flags abuse and spam in both languages.</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One queue with bulk approve, hide, shadow-ban and appeal trail.</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Comments closable per story or per category.</a:t>
            </a:r>
            <a:endParaRPr lang="en-US" sz="1120" dirty="0"/>
          </a:p>
        </p:txBody>
      </p:sp>
      <p:sp>
        <p:nvSpPr>
          <p:cNvPr id="20" name="Shape 15"/>
          <p:cNvSpPr/>
          <p:nvPr/>
        </p:nvSpPr>
        <p:spPr>
          <a:xfrm>
            <a:off x="5001768" y="1536192"/>
            <a:ext cx="4160520" cy="2139696"/>
          </a:xfrm>
          <a:prstGeom prst="roundRect">
            <a:avLst>
              <a:gd name="adj" fmla="val 5128"/>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1" name="Shape 16"/>
          <p:cNvSpPr/>
          <p:nvPr/>
        </p:nvSpPr>
        <p:spPr>
          <a:xfrm>
            <a:off x="5257800" y="1810512"/>
            <a:ext cx="402336" cy="402336"/>
          </a:xfrm>
          <a:prstGeom prst="ellipse">
            <a:avLst/>
          </a:prstGeom>
          <a:solidFill>
            <a:srgbClr val="F0A81C"/>
          </a:solidFill>
          <a:ln/>
        </p:spPr>
        <p:txBody>
          <a:bodyPr/>
          <a:lstStyle/>
          <a:p>
            <a:endParaRPr lang="en-AE"/>
          </a:p>
        </p:txBody>
      </p:sp>
      <p:pic>
        <p:nvPicPr>
          <p:cNvPr id="22" name="Image 3" descr="preencoded.png"/>
          <p:cNvPicPr>
            <a:picLocks noChangeAspect="1"/>
          </p:cNvPicPr>
          <p:nvPr/>
        </p:nvPicPr>
        <p:blipFill>
          <a:blip r:embed="rId6"/>
          <a:stretch>
            <a:fillRect/>
          </a:stretch>
        </p:blipFill>
        <p:spPr>
          <a:xfrm>
            <a:off x="5353812" y="1911096"/>
            <a:ext cx="210312" cy="210312"/>
          </a:xfrm>
          <a:prstGeom prst="rect">
            <a:avLst/>
          </a:prstGeom>
        </p:spPr>
      </p:pic>
      <p:sp>
        <p:nvSpPr>
          <p:cNvPr id="23" name="Text 17"/>
          <p:cNvSpPr txBox="1"/>
          <p:nvPr/>
        </p:nvSpPr>
        <p:spPr>
          <a:xfrm>
            <a:off x="5806440" y="1792224"/>
            <a:ext cx="3099816"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Reactions &amp; bookmarks</a:t>
            </a:r>
            <a:endParaRPr lang="en-US" sz="1450" dirty="0"/>
          </a:p>
        </p:txBody>
      </p:sp>
      <p:sp>
        <p:nvSpPr>
          <p:cNvPr id="24" name="Text 18"/>
          <p:cNvSpPr txBox="1"/>
          <p:nvPr/>
        </p:nvSpPr>
        <p:spPr>
          <a:xfrm>
            <a:off x="5257800" y="2176272"/>
            <a:ext cx="3648456" cy="1243584"/>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Lightweight reactions for the majority who never comment.</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Bookmarks in reading lists, synced across devices.</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Both signals feed back into feed ranking.</a:t>
            </a:r>
            <a:endParaRPr lang="en-US" sz="1120" dirty="0"/>
          </a:p>
        </p:txBody>
      </p:sp>
      <p:sp>
        <p:nvSpPr>
          <p:cNvPr id="25" name="Shape 19"/>
          <p:cNvSpPr/>
          <p:nvPr/>
        </p:nvSpPr>
        <p:spPr>
          <a:xfrm>
            <a:off x="5001768" y="3822192"/>
            <a:ext cx="4160520" cy="2139696"/>
          </a:xfrm>
          <a:prstGeom prst="roundRect">
            <a:avLst>
              <a:gd name="adj" fmla="val 5128"/>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6" name="Shape 20"/>
          <p:cNvSpPr/>
          <p:nvPr/>
        </p:nvSpPr>
        <p:spPr>
          <a:xfrm>
            <a:off x="5257800" y="4096512"/>
            <a:ext cx="402336" cy="402336"/>
          </a:xfrm>
          <a:prstGeom prst="ellipse">
            <a:avLst/>
          </a:prstGeom>
          <a:solidFill>
            <a:srgbClr val="1B3160"/>
          </a:solidFill>
          <a:ln/>
        </p:spPr>
        <p:txBody>
          <a:bodyPr/>
          <a:lstStyle/>
          <a:p>
            <a:endParaRPr lang="en-AE"/>
          </a:p>
        </p:txBody>
      </p:sp>
      <p:pic>
        <p:nvPicPr>
          <p:cNvPr id="27" name="Image 4" descr="preencoded.png"/>
          <p:cNvPicPr>
            <a:picLocks noChangeAspect="1"/>
          </p:cNvPicPr>
          <p:nvPr/>
        </p:nvPicPr>
        <p:blipFill>
          <a:blip r:embed="rId7"/>
          <a:stretch>
            <a:fillRect/>
          </a:stretch>
        </p:blipFill>
        <p:spPr>
          <a:xfrm>
            <a:off x="5353812" y="4197096"/>
            <a:ext cx="210312" cy="210312"/>
          </a:xfrm>
          <a:prstGeom prst="rect">
            <a:avLst/>
          </a:prstGeom>
        </p:spPr>
      </p:pic>
      <p:sp>
        <p:nvSpPr>
          <p:cNvPr id="28" name="Text 21"/>
          <p:cNvSpPr txBox="1"/>
          <p:nvPr/>
        </p:nvSpPr>
        <p:spPr>
          <a:xfrm>
            <a:off x="5806440" y="4078224"/>
            <a:ext cx="3099816"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Sharing that brings readers back</a:t>
            </a:r>
            <a:endParaRPr lang="en-US" sz="1450" dirty="0"/>
          </a:p>
        </p:txBody>
      </p:sp>
      <p:sp>
        <p:nvSpPr>
          <p:cNvPr id="29" name="Text 22"/>
          <p:cNvSpPr txBox="1"/>
          <p:nvPr/>
        </p:nvSpPr>
        <p:spPr>
          <a:xfrm>
            <a:off x="5257800" y="4462272"/>
            <a:ext cx="3648456" cy="1243584"/>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One-tap share to WhatsApp, Instagram, X, Facebook and email.</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Rich link previews with headline, image and attribution.</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Deep links open the story in-app, or a fast web page when not installed.</a:t>
            </a:r>
            <a:endParaRPr lang="en-US" sz="11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02 · THE PRODUCT</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Discovery &amp; personalisation</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Helping readers find the story they didn't know they wanted.</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13</a:t>
            </a:r>
            <a:endParaRPr lang="en-US" sz="1050" dirty="0"/>
          </a:p>
        </p:txBody>
      </p:sp>
      <p:pic>
        <p:nvPicPr>
          <p:cNvPr id="9" name="Image 0" descr="preencoded.png"/>
          <p:cNvPicPr>
            <a:picLocks noChangeAspect="1"/>
          </p:cNvPicPr>
          <p:nvPr/>
        </p:nvPicPr>
        <p:blipFill>
          <a:blip r:embed="rId3"/>
          <a:stretch>
            <a:fillRect/>
          </a:stretch>
        </p:blipFill>
        <p:spPr>
          <a:xfrm>
            <a:off x="658368" y="1417320"/>
            <a:ext cx="2212848" cy="4498848"/>
          </a:xfrm>
          <a:prstGeom prst="rect">
            <a:avLst/>
          </a:prstGeom>
        </p:spPr>
      </p:pic>
      <p:sp>
        <p:nvSpPr>
          <p:cNvPr id="10" name="Shape 7"/>
          <p:cNvSpPr/>
          <p:nvPr/>
        </p:nvSpPr>
        <p:spPr>
          <a:xfrm>
            <a:off x="3200400" y="1719072"/>
            <a:ext cx="420624" cy="420624"/>
          </a:xfrm>
          <a:prstGeom prst="ellipse">
            <a:avLst/>
          </a:prstGeom>
          <a:solidFill>
            <a:srgbClr val="C8102E"/>
          </a:solidFill>
          <a:ln/>
        </p:spPr>
        <p:txBody>
          <a:bodyPr/>
          <a:lstStyle/>
          <a:p>
            <a:endParaRPr lang="en-AE"/>
          </a:p>
        </p:txBody>
      </p:sp>
      <p:pic>
        <p:nvPicPr>
          <p:cNvPr id="11" name="Image 1" descr="preencoded.png"/>
          <p:cNvPicPr>
            <a:picLocks noChangeAspect="1"/>
          </p:cNvPicPr>
          <p:nvPr/>
        </p:nvPicPr>
        <p:blipFill>
          <a:blip r:embed="rId4"/>
          <a:stretch>
            <a:fillRect/>
          </a:stretch>
        </p:blipFill>
        <p:spPr>
          <a:xfrm>
            <a:off x="3305556" y="1824228"/>
            <a:ext cx="210312" cy="210312"/>
          </a:xfrm>
          <a:prstGeom prst="rect">
            <a:avLst/>
          </a:prstGeom>
        </p:spPr>
      </p:pic>
      <p:sp>
        <p:nvSpPr>
          <p:cNvPr id="12" name="Text 8"/>
          <p:cNvSpPr txBox="1"/>
          <p:nvPr/>
        </p:nvSpPr>
        <p:spPr>
          <a:xfrm>
            <a:off x="3767328" y="1700784"/>
            <a:ext cx="345643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Search that understands Kannada</a:t>
            </a:r>
            <a:endParaRPr lang="en-US" sz="1300" dirty="0"/>
          </a:p>
        </p:txBody>
      </p:sp>
      <p:sp>
        <p:nvSpPr>
          <p:cNvPr id="13" name="Text 9"/>
          <p:cNvSpPr txBox="1"/>
          <p:nvPr/>
        </p:nvSpPr>
        <p:spPr>
          <a:xfrm>
            <a:off x="3767328" y="1965960"/>
            <a:ext cx="3456432" cy="10972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Full-text search across both languages with transliteration, autocomplete and typo tolerance — a reader can type 'Mangalore' or 'ಮಂಗಳೂರು' and land in the same place.</a:t>
            </a:r>
            <a:endParaRPr lang="en-US" sz="1140" dirty="0"/>
          </a:p>
        </p:txBody>
      </p:sp>
      <p:sp>
        <p:nvSpPr>
          <p:cNvPr id="14" name="Shape 10"/>
          <p:cNvSpPr/>
          <p:nvPr/>
        </p:nvSpPr>
        <p:spPr>
          <a:xfrm>
            <a:off x="3200400" y="3090672"/>
            <a:ext cx="420624" cy="420624"/>
          </a:xfrm>
          <a:prstGeom prst="ellipse">
            <a:avLst/>
          </a:prstGeom>
          <a:solidFill>
            <a:srgbClr val="C8102E"/>
          </a:solidFill>
          <a:ln/>
        </p:spPr>
        <p:txBody>
          <a:bodyPr/>
          <a:lstStyle/>
          <a:p>
            <a:endParaRPr lang="en-AE"/>
          </a:p>
        </p:txBody>
      </p:sp>
      <p:pic>
        <p:nvPicPr>
          <p:cNvPr id="15" name="Image 2" descr="preencoded.png"/>
          <p:cNvPicPr>
            <a:picLocks noChangeAspect="1"/>
          </p:cNvPicPr>
          <p:nvPr/>
        </p:nvPicPr>
        <p:blipFill>
          <a:blip r:embed="rId5"/>
          <a:stretch>
            <a:fillRect/>
          </a:stretch>
        </p:blipFill>
        <p:spPr>
          <a:xfrm>
            <a:off x="3305556" y="3195828"/>
            <a:ext cx="210312" cy="210312"/>
          </a:xfrm>
          <a:prstGeom prst="rect">
            <a:avLst/>
          </a:prstGeom>
        </p:spPr>
      </p:pic>
      <p:sp>
        <p:nvSpPr>
          <p:cNvPr id="16" name="Text 11"/>
          <p:cNvSpPr txBox="1"/>
          <p:nvPr/>
        </p:nvSpPr>
        <p:spPr>
          <a:xfrm>
            <a:off x="3767328" y="3072384"/>
            <a:ext cx="345643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Trending, scoped to a city</a:t>
            </a:r>
            <a:endParaRPr lang="en-US" sz="1300" dirty="0"/>
          </a:p>
        </p:txBody>
      </p:sp>
      <p:sp>
        <p:nvSpPr>
          <p:cNvPr id="17" name="Text 12"/>
          <p:cNvSpPr txBox="1"/>
          <p:nvPr/>
        </p:nvSpPr>
        <p:spPr>
          <a:xfrm>
            <a:off x="3767328" y="3337560"/>
            <a:ext cx="3456432" cy="10972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A live trending section per city and per category, with a 24-hour view of what the reader's neighbours are actually reading.</a:t>
            </a:r>
            <a:endParaRPr lang="en-US" sz="1140" dirty="0"/>
          </a:p>
        </p:txBody>
      </p:sp>
      <p:sp>
        <p:nvSpPr>
          <p:cNvPr id="18" name="Shape 13"/>
          <p:cNvSpPr/>
          <p:nvPr/>
        </p:nvSpPr>
        <p:spPr>
          <a:xfrm>
            <a:off x="3200400" y="4462272"/>
            <a:ext cx="420624" cy="420624"/>
          </a:xfrm>
          <a:prstGeom prst="ellipse">
            <a:avLst/>
          </a:prstGeom>
          <a:solidFill>
            <a:srgbClr val="C8102E"/>
          </a:solidFill>
          <a:ln/>
        </p:spPr>
        <p:txBody>
          <a:bodyPr/>
          <a:lstStyle/>
          <a:p>
            <a:endParaRPr lang="en-AE"/>
          </a:p>
        </p:txBody>
      </p:sp>
      <p:pic>
        <p:nvPicPr>
          <p:cNvPr id="19" name="Image 3" descr="preencoded.png"/>
          <p:cNvPicPr>
            <a:picLocks noChangeAspect="1"/>
          </p:cNvPicPr>
          <p:nvPr/>
        </p:nvPicPr>
        <p:blipFill>
          <a:blip r:embed="rId6"/>
          <a:stretch>
            <a:fillRect/>
          </a:stretch>
        </p:blipFill>
        <p:spPr>
          <a:xfrm>
            <a:off x="3305556" y="4567428"/>
            <a:ext cx="210312" cy="210312"/>
          </a:xfrm>
          <a:prstGeom prst="rect">
            <a:avLst/>
          </a:prstGeom>
        </p:spPr>
      </p:pic>
      <p:sp>
        <p:nvSpPr>
          <p:cNvPr id="20" name="Text 14"/>
          <p:cNvSpPr txBox="1"/>
          <p:nvPr/>
        </p:nvSpPr>
        <p:spPr>
          <a:xfrm>
            <a:off x="3767328" y="4443984"/>
            <a:ext cx="345643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Browse with intent</a:t>
            </a:r>
            <a:endParaRPr lang="en-US" sz="1300" dirty="0"/>
          </a:p>
        </p:txBody>
      </p:sp>
      <p:sp>
        <p:nvSpPr>
          <p:cNvPr id="21" name="Text 15"/>
          <p:cNvSpPr txBox="1"/>
          <p:nvPr/>
        </p:nvSpPr>
        <p:spPr>
          <a:xfrm>
            <a:off x="3767328" y="4709160"/>
            <a:ext cx="3456432" cy="10972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Category and city landing pages, topic follows, journalist follows, and date filters for readers researching a running story.</a:t>
            </a:r>
            <a:endParaRPr lang="en-US" sz="1140" dirty="0"/>
          </a:p>
        </p:txBody>
      </p:sp>
      <p:sp>
        <p:nvSpPr>
          <p:cNvPr id="22" name="Shape 16"/>
          <p:cNvSpPr/>
          <p:nvPr/>
        </p:nvSpPr>
        <p:spPr>
          <a:xfrm>
            <a:off x="7543800" y="1719072"/>
            <a:ext cx="420624" cy="420624"/>
          </a:xfrm>
          <a:prstGeom prst="ellipse">
            <a:avLst/>
          </a:prstGeom>
          <a:solidFill>
            <a:srgbClr val="0F1E3D"/>
          </a:solidFill>
          <a:ln/>
        </p:spPr>
        <p:txBody>
          <a:bodyPr/>
          <a:lstStyle/>
          <a:p>
            <a:endParaRPr lang="en-AE"/>
          </a:p>
        </p:txBody>
      </p:sp>
      <p:pic>
        <p:nvPicPr>
          <p:cNvPr id="23" name="Image 4" descr="preencoded.png"/>
          <p:cNvPicPr>
            <a:picLocks noChangeAspect="1"/>
          </p:cNvPicPr>
          <p:nvPr/>
        </p:nvPicPr>
        <p:blipFill>
          <a:blip r:embed="rId7"/>
          <a:stretch>
            <a:fillRect/>
          </a:stretch>
        </p:blipFill>
        <p:spPr>
          <a:xfrm>
            <a:off x="7648956" y="1824228"/>
            <a:ext cx="210312" cy="210312"/>
          </a:xfrm>
          <a:prstGeom prst="rect">
            <a:avLst/>
          </a:prstGeom>
        </p:spPr>
      </p:pic>
      <p:sp>
        <p:nvSpPr>
          <p:cNvPr id="24" name="Text 17"/>
          <p:cNvSpPr txBox="1"/>
          <p:nvPr/>
        </p:nvSpPr>
        <p:spPr>
          <a:xfrm>
            <a:off x="8110728" y="1700784"/>
            <a:ext cx="345643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A profile worth creating</a:t>
            </a:r>
            <a:endParaRPr lang="en-US" sz="1300" dirty="0"/>
          </a:p>
        </p:txBody>
      </p:sp>
      <p:sp>
        <p:nvSpPr>
          <p:cNvPr id="25" name="Text 18"/>
          <p:cNvSpPr txBox="1"/>
          <p:nvPr/>
        </p:nvSpPr>
        <p:spPr>
          <a:xfrm>
            <a:off x="8110728" y="1965960"/>
            <a:ext cx="3456432" cy="10972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Avatar, followed cities and topics, reading history, saved lists — plus a personal reading-stats view that quietly drives return visits.</a:t>
            </a:r>
            <a:endParaRPr lang="en-US" sz="1140" dirty="0"/>
          </a:p>
        </p:txBody>
      </p:sp>
      <p:sp>
        <p:nvSpPr>
          <p:cNvPr id="26" name="Shape 19"/>
          <p:cNvSpPr/>
          <p:nvPr/>
        </p:nvSpPr>
        <p:spPr>
          <a:xfrm>
            <a:off x="7543800" y="3090672"/>
            <a:ext cx="420624" cy="420624"/>
          </a:xfrm>
          <a:prstGeom prst="ellipse">
            <a:avLst/>
          </a:prstGeom>
          <a:solidFill>
            <a:srgbClr val="0F1E3D"/>
          </a:solidFill>
          <a:ln/>
        </p:spPr>
        <p:txBody>
          <a:bodyPr/>
          <a:lstStyle/>
          <a:p>
            <a:endParaRPr lang="en-AE"/>
          </a:p>
        </p:txBody>
      </p:sp>
      <p:pic>
        <p:nvPicPr>
          <p:cNvPr id="27" name="Image 5" descr="preencoded.png"/>
          <p:cNvPicPr>
            <a:picLocks noChangeAspect="1"/>
          </p:cNvPicPr>
          <p:nvPr/>
        </p:nvPicPr>
        <p:blipFill>
          <a:blip r:embed="rId8"/>
          <a:stretch>
            <a:fillRect/>
          </a:stretch>
        </p:blipFill>
        <p:spPr>
          <a:xfrm>
            <a:off x="7648956" y="3195828"/>
            <a:ext cx="210312" cy="210312"/>
          </a:xfrm>
          <a:prstGeom prst="rect">
            <a:avLst/>
          </a:prstGeom>
        </p:spPr>
      </p:pic>
      <p:sp>
        <p:nvSpPr>
          <p:cNvPr id="28" name="Text 20"/>
          <p:cNvSpPr txBox="1"/>
          <p:nvPr/>
        </p:nvSpPr>
        <p:spPr>
          <a:xfrm>
            <a:off x="8110728" y="3072384"/>
            <a:ext cx="345643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Preferences that actually change the feed</a:t>
            </a:r>
            <a:endParaRPr lang="en-US" sz="1300" dirty="0"/>
          </a:p>
        </p:txBody>
      </p:sp>
      <p:sp>
        <p:nvSpPr>
          <p:cNvPr id="29" name="Text 21"/>
          <p:cNvSpPr txBox="1"/>
          <p:nvPr/>
        </p:nvSpPr>
        <p:spPr>
          <a:xfrm>
            <a:off x="8110728" y="3337560"/>
            <a:ext cx="3456432" cy="10972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Language, cities, category weights, notification rules and quiet hours, all in one settings screen with an immediate visible effect.</a:t>
            </a:r>
            <a:endParaRPr lang="en-US" sz="1140" dirty="0"/>
          </a:p>
        </p:txBody>
      </p:sp>
      <p:sp>
        <p:nvSpPr>
          <p:cNvPr id="30" name="Shape 22"/>
          <p:cNvSpPr/>
          <p:nvPr/>
        </p:nvSpPr>
        <p:spPr>
          <a:xfrm>
            <a:off x="7543800" y="4462272"/>
            <a:ext cx="420624" cy="420624"/>
          </a:xfrm>
          <a:prstGeom prst="ellipse">
            <a:avLst/>
          </a:prstGeom>
          <a:solidFill>
            <a:srgbClr val="0F1E3D"/>
          </a:solidFill>
          <a:ln/>
        </p:spPr>
        <p:txBody>
          <a:bodyPr/>
          <a:lstStyle/>
          <a:p>
            <a:endParaRPr lang="en-AE"/>
          </a:p>
        </p:txBody>
      </p:sp>
      <p:pic>
        <p:nvPicPr>
          <p:cNvPr id="31" name="Image 6" descr="preencoded.png"/>
          <p:cNvPicPr>
            <a:picLocks noChangeAspect="1"/>
          </p:cNvPicPr>
          <p:nvPr/>
        </p:nvPicPr>
        <p:blipFill>
          <a:blip r:embed="rId9"/>
          <a:stretch>
            <a:fillRect/>
          </a:stretch>
        </p:blipFill>
        <p:spPr>
          <a:xfrm>
            <a:off x="7648956" y="4567428"/>
            <a:ext cx="210312" cy="210312"/>
          </a:xfrm>
          <a:prstGeom prst="rect">
            <a:avLst/>
          </a:prstGeom>
        </p:spPr>
      </p:pic>
      <p:sp>
        <p:nvSpPr>
          <p:cNvPr id="32" name="Text 23"/>
          <p:cNvSpPr txBox="1"/>
          <p:nvPr/>
        </p:nvSpPr>
        <p:spPr>
          <a:xfrm>
            <a:off x="8110728" y="4443984"/>
            <a:ext cx="345643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Transparent, not creepy</a:t>
            </a:r>
            <a:endParaRPr lang="en-US" sz="1300" dirty="0"/>
          </a:p>
        </p:txBody>
      </p:sp>
      <p:sp>
        <p:nvSpPr>
          <p:cNvPr id="33" name="Text 24"/>
          <p:cNvSpPr txBox="1"/>
          <p:nvPr/>
        </p:nvSpPr>
        <p:spPr>
          <a:xfrm>
            <a:off x="8110728" y="4709160"/>
            <a:ext cx="3456432" cy="109728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A 'why am I seeing this' explanation on personalised cards, and a one-tap reset of the personalisation profile.</a:t>
            </a:r>
            <a:endParaRPr lang="en-US" sz="11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02 · THE PRODUCT</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Kannada + English, by design</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You have run two editions since 2013. The app treats that as a core axis, not a setting.</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14</a:t>
            </a:r>
            <a:endParaRPr lang="en-US" sz="1050" dirty="0"/>
          </a:p>
        </p:txBody>
      </p:sp>
      <p:sp>
        <p:nvSpPr>
          <p:cNvPr id="9" name="Shape 7"/>
          <p:cNvSpPr/>
          <p:nvPr/>
        </p:nvSpPr>
        <p:spPr>
          <a:xfrm>
            <a:off x="566928" y="1609344"/>
            <a:ext cx="5413248" cy="1737360"/>
          </a:xfrm>
          <a:prstGeom prst="roundRect">
            <a:avLst>
              <a:gd name="adj" fmla="val 631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822960" y="1883664"/>
            <a:ext cx="402336" cy="402336"/>
          </a:xfrm>
          <a:prstGeom prst="ellipse">
            <a:avLst/>
          </a:prstGeom>
          <a:solidFill>
            <a:srgbClr val="C8102E"/>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918972" y="1984248"/>
            <a:ext cx="210312" cy="210312"/>
          </a:xfrm>
          <a:prstGeom prst="rect">
            <a:avLst/>
          </a:prstGeom>
        </p:spPr>
      </p:pic>
      <p:sp>
        <p:nvSpPr>
          <p:cNvPr id="12" name="Text 9"/>
          <p:cNvSpPr txBox="1"/>
          <p:nvPr/>
        </p:nvSpPr>
        <p:spPr>
          <a:xfrm>
            <a:off x="1371600" y="1865376"/>
            <a:ext cx="4352544"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One app, two full editions</a:t>
            </a:r>
            <a:endParaRPr lang="en-US" sz="1450" dirty="0"/>
          </a:p>
        </p:txBody>
      </p:sp>
      <p:sp>
        <p:nvSpPr>
          <p:cNvPr id="13" name="Text 10"/>
          <p:cNvSpPr txBox="1"/>
          <p:nvPr/>
        </p:nvSpPr>
        <p:spPr>
          <a:xfrm>
            <a:off x="822960" y="2249424"/>
            <a:ext cx="4901184" cy="84124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Complete Kannada and English UI throughout.</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Language switch is instant and keeps the reader's place.</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Reader language is honoured on every device.</a:t>
            </a:r>
            <a:endParaRPr lang="en-US" sz="1120" dirty="0"/>
          </a:p>
        </p:txBody>
      </p:sp>
      <p:sp>
        <p:nvSpPr>
          <p:cNvPr id="14" name="Shape 11"/>
          <p:cNvSpPr/>
          <p:nvPr/>
        </p:nvSpPr>
        <p:spPr>
          <a:xfrm>
            <a:off x="6208776" y="1609344"/>
            <a:ext cx="5413248" cy="1737360"/>
          </a:xfrm>
          <a:prstGeom prst="roundRect">
            <a:avLst>
              <a:gd name="adj" fmla="val 631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5" name="Shape 12"/>
          <p:cNvSpPr/>
          <p:nvPr/>
        </p:nvSpPr>
        <p:spPr>
          <a:xfrm>
            <a:off x="6464808" y="1883664"/>
            <a:ext cx="402336" cy="402336"/>
          </a:xfrm>
          <a:prstGeom prst="ellipse">
            <a:avLst/>
          </a:prstGeom>
          <a:solidFill>
            <a:srgbClr val="0F1E3D"/>
          </a:solidFill>
          <a:ln/>
        </p:spPr>
        <p:txBody>
          <a:bodyPr/>
          <a:lstStyle/>
          <a:p>
            <a:endParaRPr lang="en-AE"/>
          </a:p>
        </p:txBody>
      </p:sp>
      <p:pic>
        <p:nvPicPr>
          <p:cNvPr id="16" name="Image 1" descr="preencoded.png"/>
          <p:cNvPicPr>
            <a:picLocks noChangeAspect="1"/>
          </p:cNvPicPr>
          <p:nvPr/>
        </p:nvPicPr>
        <p:blipFill>
          <a:blip r:embed="rId4"/>
          <a:stretch>
            <a:fillRect/>
          </a:stretch>
        </p:blipFill>
        <p:spPr>
          <a:xfrm>
            <a:off x="6560820" y="1984248"/>
            <a:ext cx="210312" cy="210312"/>
          </a:xfrm>
          <a:prstGeom prst="rect">
            <a:avLst/>
          </a:prstGeom>
        </p:spPr>
      </p:pic>
      <p:sp>
        <p:nvSpPr>
          <p:cNvPr id="17" name="Text 13"/>
          <p:cNvSpPr txBox="1"/>
          <p:nvPr/>
        </p:nvSpPr>
        <p:spPr>
          <a:xfrm>
            <a:off x="7013448" y="1865376"/>
            <a:ext cx="4352544"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Typography that renders properly</a:t>
            </a:r>
            <a:endParaRPr lang="en-US" sz="1450" dirty="0"/>
          </a:p>
        </p:txBody>
      </p:sp>
      <p:sp>
        <p:nvSpPr>
          <p:cNvPr id="18" name="Text 14"/>
          <p:cNvSpPr txBox="1"/>
          <p:nvPr/>
        </p:nvSpPr>
        <p:spPr>
          <a:xfrm>
            <a:off x="6464808" y="2249424"/>
            <a:ext cx="4901184" cy="84124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Noto Sans Kannada for correct conjunct rendering, with line heights tested so headlines never clip.</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Independent text-size control per script.</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Numerals, dates and place names localised, not machine-translated.</a:t>
            </a:r>
            <a:endParaRPr lang="en-US" sz="1120" dirty="0"/>
          </a:p>
        </p:txBody>
      </p:sp>
      <p:sp>
        <p:nvSpPr>
          <p:cNvPr id="19" name="Shape 15"/>
          <p:cNvSpPr/>
          <p:nvPr/>
        </p:nvSpPr>
        <p:spPr>
          <a:xfrm>
            <a:off x="566928" y="3566160"/>
            <a:ext cx="5413248" cy="1737360"/>
          </a:xfrm>
          <a:prstGeom prst="roundRect">
            <a:avLst>
              <a:gd name="adj" fmla="val 631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0" name="Shape 16"/>
          <p:cNvSpPr/>
          <p:nvPr/>
        </p:nvSpPr>
        <p:spPr>
          <a:xfrm>
            <a:off x="822960" y="3840480"/>
            <a:ext cx="402336" cy="402336"/>
          </a:xfrm>
          <a:prstGeom prst="ellipse">
            <a:avLst/>
          </a:prstGeom>
          <a:solidFill>
            <a:srgbClr val="F0A81C"/>
          </a:solidFill>
          <a:ln/>
        </p:spPr>
        <p:txBody>
          <a:bodyPr/>
          <a:lstStyle/>
          <a:p>
            <a:endParaRPr lang="en-AE"/>
          </a:p>
        </p:txBody>
      </p:sp>
      <p:pic>
        <p:nvPicPr>
          <p:cNvPr id="21" name="Image 2" descr="preencoded.png"/>
          <p:cNvPicPr>
            <a:picLocks noChangeAspect="1"/>
          </p:cNvPicPr>
          <p:nvPr/>
        </p:nvPicPr>
        <p:blipFill>
          <a:blip r:embed="rId5"/>
          <a:stretch>
            <a:fillRect/>
          </a:stretch>
        </p:blipFill>
        <p:spPr>
          <a:xfrm>
            <a:off x="918972" y="3941064"/>
            <a:ext cx="210312" cy="210312"/>
          </a:xfrm>
          <a:prstGeom prst="rect">
            <a:avLst/>
          </a:prstGeom>
        </p:spPr>
      </p:pic>
      <p:sp>
        <p:nvSpPr>
          <p:cNvPr id="22" name="Text 17"/>
          <p:cNvSpPr txBox="1"/>
          <p:nvPr/>
        </p:nvSpPr>
        <p:spPr>
          <a:xfrm>
            <a:off x="1371600" y="3822192"/>
            <a:ext cx="4352544"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Content linked across editions</a:t>
            </a:r>
            <a:endParaRPr lang="en-US" sz="1450" dirty="0"/>
          </a:p>
        </p:txBody>
      </p:sp>
      <p:sp>
        <p:nvSpPr>
          <p:cNvPr id="23" name="Text 18"/>
          <p:cNvSpPr txBox="1"/>
          <p:nvPr/>
        </p:nvSpPr>
        <p:spPr>
          <a:xfrm>
            <a:off x="822960" y="4206240"/>
            <a:ext cx="4901184" cy="84124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Kannada and English versions of a story are linked, so readers switch in place.</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Where only one edition exists, the feed says so rather than showing a gap.</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Search, tags and trending span both editions.</a:t>
            </a:r>
            <a:endParaRPr lang="en-US" sz="1120" dirty="0"/>
          </a:p>
        </p:txBody>
      </p:sp>
      <p:sp>
        <p:nvSpPr>
          <p:cNvPr id="24" name="Shape 19"/>
          <p:cNvSpPr/>
          <p:nvPr/>
        </p:nvSpPr>
        <p:spPr>
          <a:xfrm>
            <a:off x="6208776" y="3566160"/>
            <a:ext cx="5413248" cy="1737360"/>
          </a:xfrm>
          <a:prstGeom prst="roundRect">
            <a:avLst>
              <a:gd name="adj" fmla="val 631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5" name="Shape 20"/>
          <p:cNvSpPr/>
          <p:nvPr/>
        </p:nvSpPr>
        <p:spPr>
          <a:xfrm>
            <a:off x="6464808" y="3840480"/>
            <a:ext cx="402336" cy="402336"/>
          </a:xfrm>
          <a:prstGeom prst="ellipse">
            <a:avLst/>
          </a:prstGeom>
          <a:solidFill>
            <a:srgbClr val="1B3160"/>
          </a:solidFill>
          <a:ln/>
        </p:spPr>
        <p:txBody>
          <a:bodyPr/>
          <a:lstStyle/>
          <a:p>
            <a:endParaRPr lang="en-AE"/>
          </a:p>
        </p:txBody>
      </p:sp>
      <p:pic>
        <p:nvPicPr>
          <p:cNvPr id="26" name="Image 3" descr="preencoded.png"/>
          <p:cNvPicPr>
            <a:picLocks noChangeAspect="1"/>
          </p:cNvPicPr>
          <p:nvPr/>
        </p:nvPicPr>
        <p:blipFill>
          <a:blip r:embed="rId6"/>
          <a:stretch>
            <a:fillRect/>
          </a:stretch>
        </p:blipFill>
        <p:spPr>
          <a:xfrm>
            <a:off x="6560820" y="3941064"/>
            <a:ext cx="210312" cy="210312"/>
          </a:xfrm>
          <a:prstGeom prst="rect">
            <a:avLst/>
          </a:prstGeom>
        </p:spPr>
      </p:pic>
      <p:sp>
        <p:nvSpPr>
          <p:cNvPr id="27" name="Text 21"/>
          <p:cNvSpPr txBox="1"/>
          <p:nvPr/>
        </p:nvSpPr>
        <p:spPr>
          <a:xfrm>
            <a:off x="7013448" y="3822192"/>
            <a:ext cx="4352544"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Alerts in the reader's language</a:t>
            </a:r>
            <a:endParaRPr lang="en-US" sz="1450" dirty="0"/>
          </a:p>
        </p:txBody>
      </p:sp>
      <p:sp>
        <p:nvSpPr>
          <p:cNvPr id="28" name="Text 22"/>
          <p:cNvSpPr txBox="1"/>
          <p:nvPr/>
        </p:nvSpPr>
        <p:spPr>
          <a:xfrm>
            <a:off x="6464808" y="4206240"/>
            <a:ext cx="4901184" cy="84124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Push notifications composed and delivered per language segment.</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Editors write both versions in one console screen.</a:t>
            </a:r>
            <a:endParaRPr lang="en-US" sz="1120" dirty="0"/>
          </a:p>
          <a:p>
            <a:pPr marL="165100" indent="-165100">
              <a:lnSpc>
                <a:spcPct val="106000"/>
              </a:lnSpc>
              <a:spcAft>
                <a:spcPts val="400"/>
              </a:spcAft>
              <a:buSzPct val="100000"/>
              <a:buChar char="•"/>
            </a:pPr>
            <a:r>
              <a:rPr lang="en-US" sz="1120" dirty="0">
                <a:solidFill>
                  <a:srgbClr val="4A5568"/>
                </a:solidFill>
                <a:latin typeface="Calibri" pitchFamily="34" charset="0"/>
                <a:ea typeface="Calibri" pitchFamily="34" charset="-122"/>
                <a:cs typeface="Calibri" pitchFamily="34" charset="-120"/>
              </a:rPr>
              <a:t>Breaking-news pushes target a language and a city together.</a:t>
            </a:r>
            <a:endParaRPr lang="en-US" sz="1120" dirty="0"/>
          </a:p>
        </p:txBody>
      </p:sp>
      <p:sp>
        <p:nvSpPr>
          <p:cNvPr id="29" name="Text 23"/>
          <p:cNvSpPr txBox="1"/>
          <p:nvPr/>
        </p:nvSpPr>
        <p:spPr>
          <a:xfrm>
            <a:off x="566928" y="5632704"/>
            <a:ext cx="11057839" cy="274320"/>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Hindi, Tulu or Konkani editions can be added later without re-architecting — the language layer is built to take an nth language from the start.</a:t>
            </a:r>
            <a:endParaRPr lang="en-US" sz="11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02 · THE PRODUCT</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Newsroom console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The app is only as fast as the newsroom behind it. Editors get their own tool.</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15</a:t>
            </a:r>
            <a:endParaRPr lang="en-US" sz="1050" dirty="0"/>
          </a:p>
        </p:txBody>
      </p:sp>
      <p:sp>
        <p:nvSpPr>
          <p:cNvPr id="9" name="Shape 7"/>
          <p:cNvSpPr/>
          <p:nvPr/>
        </p:nvSpPr>
        <p:spPr>
          <a:xfrm>
            <a:off x="566928" y="1609344"/>
            <a:ext cx="3529584" cy="1773936"/>
          </a:xfrm>
          <a:prstGeom prst="roundRect">
            <a:avLst>
              <a:gd name="adj" fmla="val 618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822960" y="1883664"/>
            <a:ext cx="402336" cy="402336"/>
          </a:xfrm>
          <a:prstGeom prst="ellipse">
            <a:avLst/>
          </a:prstGeom>
          <a:solidFill>
            <a:srgbClr val="C8102E"/>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918972" y="1984248"/>
            <a:ext cx="210312" cy="210312"/>
          </a:xfrm>
          <a:prstGeom prst="rect">
            <a:avLst/>
          </a:prstGeom>
        </p:spPr>
      </p:pic>
      <p:sp>
        <p:nvSpPr>
          <p:cNvPr id="12" name="Text 9"/>
          <p:cNvSpPr txBox="1"/>
          <p:nvPr/>
        </p:nvSpPr>
        <p:spPr>
          <a:xfrm>
            <a:off x="1371600" y="1865376"/>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Publish &amp; schedule</a:t>
            </a:r>
            <a:endParaRPr lang="en-US" sz="1450" dirty="0"/>
          </a:p>
        </p:txBody>
      </p:sp>
      <p:sp>
        <p:nvSpPr>
          <p:cNvPr id="13" name="Text 10"/>
          <p:cNvSpPr txBox="1"/>
          <p:nvPr/>
        </p:nvSpPr>
        <p:spPr>
          <a:xfrm>
            <a:off x="822960" y="2249424"/>
            <a:ext cx="3017520" cy="877824"/>
          </a:xfrm>
          <a:prstGeom prst="rect">
            <a:avLst/>
          </a:prstGeom>
          <a:noFill/>
          <a:ln/>
        </p:spPr>
        <p:txBody>
          <a:bodyPr wrap="square" lIns="0" tIns="0" rIns="0" bIns="0" rtlCol="0" anchor="t">
            <a:normAutofit/>
          </a:bodyPr>
          <a:lstStyle/>
          <a:p>
            <a:pPr marL="0" indent="0">
              <a:lnSpc>
                <a:spcPct val="106000"/>
              </a:lnSpc>
              <a:spcAft>
                <a:spcPts val="400"/>
              </a:spcAft>
              <a:buNone/>
            </a:pPr>
            <a:r>
              <a:rPr lang="en-US" sz="1160" dirty="0">
                <a:solidFill>
                  <a:srgbClr val="4A5568"/>
                </a:solidFill>
                <a:latin typeface="Calibri" pitchFamily="34" charset="0"/>
                <a:ea typeface="Calibri" pitchFamily="34" charset="-122"/>
                <a:cs typeface="Calibri" pitchFamily="34" charset="-120"/>
              </a:rPr>
              <a:t>Compose or import a story, attach media, set city and category tags, schedule ahead, and push a breaking alert — all without a developer.</a:t>
            </a:r>
            <a:endParaRPr lang="en-US" sz="1160" dirty="0"/>
          </a:p>
        </p:txBody>
      </p:sp>
      <p:sp>
        <p:nvSpPr>
          <p:cNvPr id="14" name="Shape 11"/>
          <p:cNvSpPr/>
          <p:nvPr/>
        </p:nvSpPr>
        <p:spPr>
          <a:xfrm>
            <a:off x="4306824" y="1609344"/>
            <a:ext cx="3529584" cy="1773936"/>
          </a:xfrm>
          <a:prstGeom prst="roundRect">
            <a:avLst>
              <a:gd name="adj" fmla="val 618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5" name="Shape 12"/>
          <p:cNvSpPr/>
          <p:nvPr/>
        </p:nvSpPr>
        <p:spPr>
          <a:xfrm>
            <a:off x="4562856" y="1883664"/>
            <a:ext cx="402336" cy="402336"/>
          </a:xfrm>
          <a:prstGeom prst="ellipse">
            <a:avLst/>
          </a:prstGeom>
          <a:solidFill>
            <a:srgbClr val="C8102E"/>
          </a:solidFill>
          <a:ln/>
        </p:spPr>
        <p:txBody>
          <a:bodyPr/>
          <a:lstStyle/>
          <a:p>
            <a:endParaRPr lang="en-AE"/>
          </a:p>
        </p:txBody>
      </p:sp>
      <p:pic>
        <p:nvPicPr>
          <p:cNvPr id="16" name="Image 1" descr="preencoded.png"/>
          <p:cNvPicPr>
            <a:picLocks noChangeAspect="1"/>
          </p:cNvPicPr>
          <p:nvPr/>
        </p:nvPicPr>
        <p:blipFill>
          <a:blip r:embed="rId4"/>
          <a:stretch>
            <a:fillRect/>
          </a:stretch>
        </p:blipFill>
        <p:spPr>
          <a:xfrm>
            <a:off x="4658868" y="1984248"/>
            <a:ext cx="210312" cy="210312"/>
          </a:xfrm>
          <a:prstGeom prst="rect">
            <a:avLst/>
          </a:prstGeom>
        </p:spPr>
      </p:pic>
      <p:sp>
        <p:nvSpPr>
          <p:cNvPr id="17" name="Text 13"/>
          <p:cNvSpPr txBox="1"/>
          <p:nvPr/>
        </p:nvSpPr>
        <p:spPr>
          <a:xfrm>
            <a:off x="5111496" y="1865376"/>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Review the AI's work</a:t>
            </a:r>
            <a:endParaRPr lang="en-US" sz="1450" dirty="0"/>
          </a:p>
        </p:txBody>
      </p:sp>
      <p:sp>
        <p:nvSpPr>
          <p:cNvPr id="18" name="Text 14"/>
          <p:cNvSpPr txBox="1"/>
          <p:nvPr/>
        </p:nvSpPr>
        <p:spPr>
          <a:xfrm>
            <a:off x="4562856" y="2249424"/>
            <a:ext cx="3017520" cy="877824"/>
          </a:xfrm>
          <a:prstGeom prst="rect">
            <a:avLst/>
          </a:prstGeom>
          <a:noFill/>
          <a:ln/>
        </p:spPr>
        <p:txBody>
          <a:bodyPr wrap="square" lIns="0" tIns="0" rIns="0" bIns="0" rtlCol="0" anchor="t">
            <a:normAutofit/>
          </a:bodyPr>
          <a:lstStyle/>
          <a:p>
            <a:pPr marL="0" indent="0">
              <a:lnSpc>
                <a:spcPct val="106000"/>
              </a:lnSpc>
              <a:spcAft>
                <a:spcPts val="400"/>
              </a:spcAft>
              <a:buNone/>
            </a:pPr>
            <a:r>
              <a:rPr lang="en-US" sz="1160" dirty="0">
                <a:solidFill>
                  <a:srgbClr val="4A5568"/>
                </a:solidFill>
                <a:latin typeface="Calibri" pitchFamily="34" charset="0"/>
                <a:ea typeface="Calibri" pitchFamily="34" charset="-122"/>
                <a:cs typeface="Calibri" pitchFamily="34" charset="-120"/>
              </a:rPr>
              <a:t>Every auto-assigned location and topic tag is shown for one-click confirm or correction. Editors always have the final word.</a:t>
            </a:r>
            <a:endParaRPr lang="en-US" sz="1160" dirty="0"/>
          </a:p>
        </p:txBody>
      </p:sp>
      <p:sp>
        <p:nvSpPr>
          <p:cNvPr id="19" name="Shape 15"/>
          <p:cNvSpPr/>
          <p:nvPr/>
        </p:nvSpPr>
        <p:spPr>
          <a:xfrm>
            <a:off x="8046720" y="1609344"/>
            <a:ext cx="3529584" cy="1773936"/>
          </a:xfrm>
          <a:prstGeom prst="roundRect">
            <a:avLst>
              <a:gd name="adj" fmla="val 618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0" name="Shape 16"/>
          <p:cNvSpPr/>
          <p:nvPr/>
        </p:nvSpPr>
        <p:spPr>
          <a:xfrm>
            <a:off x="8302752" y="1883664"/>
            <a:ext cx="402336" cy="402336"/>
          </a:xfrm>
          <a:prstGeom prst="ellipse">
            <a:avLst/>
          </a:prstGeom>
          <a:solidFill>
            <a:srgbClr val="C8102E"/>
          </a:solidFill>
          <a:ln/>
        </p:spPr>
        <p:txBody>
          <a:bodyPr/>
          <a:lstStyle/>
          <a:p>
            <a:endParaRPr lang="en-AE"/>
          </a:p>
        </p:txBody>
      </p:sp>
      <p:pic>
        <p:nvPicPr>
          <p:cNvPr id="21" name="Image 2" descr="preencoded.png"/>
          <p:cNvPicPr>
            <a:picLocks noChangeAspect="1"/>
          </p:cNvPicPr>
          <p:nvPr/>
        </p:nvPicPr>
        <p:blipFill>
          <a:blip r:embed="rId5"/>
          <a:stretch>
            <a:fillRect/>
          </a:stretch>
        </p:blipFill>
        <p:spPr>
          <a:xfrm>
            <a:off x="8398764" y="1984248"/>
            <a:ext cx="210312" cy="210312"/>
          </a:xfrm>
          <a:prstGeom prst="rect">
            <a:avLst/>
          </a:prstGeom>
        </p:spPr>
      </p:pic>
      <p:sp>
        <p:nvSpPr>
          <p:cNvPr id="22" name="Text 17"/>
          <p:cNvSpPr txBox="1"/>
          <p:nvPr/>
        </p:nvSpPr>
        <p:spPr>
          <a:xfrm>
            <a:off x="8851392" y="1865376"/>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Moderate at speed</a:t>
            </a:r>
            <a:endParaRPr lang="en-US" sz="1450" dirty="0"/>
          </a:p>
        </p:txBody>
      </p:sp>
      <p:sp>
        <p:nvSpPr>
          <p:cNvPr id="23" name="Text 18"/>
          <p:cNvSpPr txBox="1"/>
          <p:nvPr/>
        </p:nvSpPr>
        <p:spPr>
          <a:xfrm>
            <a:off x="8302752" y="2249424"/>
            <a:ext cx="3017520" cy="877824"/>
          </a:xfrm>
          <a:prstGeom prst="rect">
            <a:avLst/>
          </a:prstGeom>
          <a:noFill/>
          <a:ln/>
        </p:spPr>
        <p:txBody>
          <a:bodyPr wrap="square" lIns="0" tIns="0" rIns="0" bIns="0" rtlCol="0" anchor="t">
            <a:normAutofit/>
          </a:bodyPr>
          <a:lstStyle/>
          <a:p>
            <a:pPr marL="0" indent="0">
              <a:lnSpc>
                <a:spcPct val="106000"/>
              </a:lnSpc>
              <a:spcAft>
                <a:spcPts val="400"/>
              </a:spcAft>
              <a:buNone/>
            </a:pPr>
            <a:r>
              <a:rPr lang="en-US" sz="1160" dirty="0">
                <a:solidFill>
                  <a:srgbClr val="4A5568"/>
                </a:solidFill>
                <a:latin typeface="Calibri" pitchFamily="34" charset="0"/>
                <a:ea typeface="Calibri" pitchFamily="34" charset="-122"/>
                <a:cs typeface="Calibri" pitchFamily="34" charset="-120"/>
              </a:rPr>
              <a:t>A single queue for flagged comments with bulk actions, reader history and an audit trail on every decision.</a:t>
            </a:r>
            <a:endParaRPr lang="en-US" sz="1160" dirty="0"/>
          </a:p>
        </p:txBody>
      </p:sp>
      <p:sp>
        <p:nvSpPr>
          <p:cNvPr id="24" name="Shape 19"/>
          <p:cNvSpPr/>
          <p:nvPr/>
        </p:nvSpPr>
        <p:spPr>
          <a:xfrm>
            <a:off x="566928" y="3566160"/>
            <a:ext cx="3529584" cy="1773936"/>
          </a:xfrm>
          <a:prstGeom prst="roundRect">
            <a:avLst>
              <a:gd name="adj" fmla="val 618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5" name="Shape 20"/>
          <p:cNvSpPr/>
          <p:nvPr/>
        </p:nvSpPr>
        <p:spPr>
          <a:xfrm>
            <a:off x="822960" y="3840480"/>
            <a:ext cx="402336" cy="402336"/>
          </a:xfrm>
          <a:prstGeom prst="ellipse">
            <a:avLst/>
          </a:prstGeom>
          <a:solidFill>
            <a:srgbClr val="0F1E3D"/>
          </a:solidFill>
          <a:ln/>
        </p:spPr>
        <p:txBody>
          <a:bodyPr/>
          <a:lstStyle/>
          <a:p>
            <a:endParaRPr lang="en-AE"/>
          </a:p>
        </p:txBody>
      </p:sp>
      <p:pic>
        <p:nvPicPr>
          <p:cNvPr id="26" name="Image 3" descr="preencoded.png"/>
          <p:cNvPicPr>
            <a:picLocks noChangeAspect="1"/>
          </p:cNvPicPr>
          <p:nvPr/>
        </p:nvPicPr>
        <p:blipFill>
          <a:blip r:embed="rId6"/>
          <a:stretch>
            <a:fillRect/>
          </a:stretch>
        </p:blipFill>
        <p:spPr>
          <a:xfrm>
            <a:off x="918972" y="3941064"/>
            <a:ext cx="210312" cy="210312"/>
          </a:xfrm>
          <a:prstGeom prst="rect">
            <a:avLst/>
          </a:prstGeom>
        </p:spPr>
      </p:pic>
      <p:sp>
        <p:nvSpPr>
          <p:cNvPr id="27" name="Text 21"/>
          <p:cNvSpPr txBox="1"/>
          <p:nvPr/>
        </p:nvSpPr>
        <p:spPr>
          <a:xfrm>
            <a:off x="1371600" y="3822192"/>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See what's working</a:t>
            </a:r>
            <a:endParaRPr lang="en-US" sz="1450" dirty="0"/>
          </a:p>
        </p:txBody>
      </p:sp>
      <p:sp>
        <p:nvSpPr>
          <p:cNvPr id="28" name="Text 22"/>
          <p:cNvSpPr txBox="1"/>
          <p:nvPr/>
        </p:nvSpPr>
        <p:spPr>
          <a:xfrm>
            <a:off x="822960" y="4206240"/>
            <a:ext cx="3017520" cy="877824"/>
          </a:xfrm>
          <a:prstGeom prst="rect">
            <a:avLst/>
          </a:prstGeom>
          <a:noFill/>
          <a:ln/>
        </p:spPr>
        <p:txBody>
          <a:bodyPr wrap="square" lIns="0" tIns="0" rIns="0" bIns="0" rtlCol="0" anchor="t">
            <a:normAutofit/>
          </a:bodyPr>
          <a:lstStyle/>
          <a:p>
            <a:pPr marL="0" indent="0">
              <a:lnSpc>
                <a:spcPct val="106000"/>
              </a:lnSpc>
              <a:spcAft>
                <a:spcPts val="400"/>
              </a:spcAft>
              <a:buNone/>
            </a:pPr>
            <a:r>
              <a:rPr lang="en-US" sz="1160" dirty="0">
                <a:solidFill>
                  <a:srgbClr val="4A5568"/>
                </a:solidFill>
                <a:latin typeface="Calibri" pitchFamily="34" charset="0"/>
                <a:ea typeface="Calibri" pitchFamily="34" charset="-122"/>
                <a:cs typeface="Calibri" pitchFamily="34" charset="-120"/>
              </a:rPr>
              <a:t>Live reads by story, city and language; scroll depth; share and comment rates — visible to the desk, not just to analysts.</a:t>
            </a:r>
            <a:endParaRPr lang="en-US" sz="1160" dirty="0"/>
          </a:p>
        </p:txBody>
      </p:sp>
      <p:sp>
        <p:nvSpPr>
          <p:cNvPr id="29" name="Shape 23"/>
          <p:cNvSpPr/>
          <p:nvPr/>
        </p:nvSpPr>
        <p:spPr>
          <a:xfrm>
            <a:off x="4306824" y="3566160"/>
            <a:ext cx="3529584" cy="1773936"/>
          </a:xfrm>
          <a:prstGeom prst="roundRect">
            <a:avLst>
              <a:gd name="adj" fmla="val 618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30" name="Shape 24"/>
          <p:cNvSpPr/>
          <p:nvPr/>
        </p:nvSpPr>
        <p:spPr>
          <a:xfrm>
            <a:off x="4562856" y="3840480"/>
            <a:ext cx="402336" cy="402336"/>
          </a:xfrm>
          <a:prstGeom prst="ellipse">
            <a:avLst/>
          </a:prstGeom>
          <a:solidFill>
            <a:srgbClr val="0F1E3D"/>
          </a:solidFill>
          <a:ln/>
        </p:spPr>
        <p:txBody>
          <a:bodyPr/>
          <a:lstStyle/>
          <a:p>
            <a:endParaRPr lang="en-AE"/>
          </a:p>
        </p:txBody>
      </p:sp>
      <p:pic>
        <p:nvPicPr>
          <p:cNvPr id="31" name="Image 4" descr="preencoded.png"/>
          <p:cNvPicPr>
            <a:picLocks noChangeAspect="1"/>
          </p:cNvPicPr>
          <p:nvPr/>
        </p:nvPicPr>
        <p:blipFill>
          <a:blip r:embed="rId7"/>
          <a:stretch>
            <a:fillRect/>
          </a:stretch>
        </p:blipFill>
        <p:spPr>
          <a:xfrm>
            <a:off x="4658868" y="3941064"/>
            <a:ext cx="210312" cy="210312"/>
          </a:xfrm>
          <a:prstGeom prst="rect">
            <a:avLst/>
          </a:prstGeom>
        </p:spPr>
      </p:pic>
      <p:sp>
        <p:nvSpPr>
          <p:cNvPr id="32" name="Text 25"/>
          <p:cNvSpPr txBox="1"/>
          <p:nvPr/>
        </p:nvSpPr>
        <p:spPr>
          <a:xfrm>
            <a:off x="5111496" y="3822192"/>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Roles &amp; permissions</a:t>
            </a:r>
            <a:endParaRPr lang="en-US" sz="1450" dirty="0"/>
          </a:p>
        </p:txBody>
      </p:sp>
      <p:sp>
        <p:nvSpPr>
          <p:cNvPr id="33" name="Text 26"/>
          <p:cNvSpPr txBox="1"/>
          <p:nvPr/>
        </p:nvSpPr>
        <p:spPr>
          <a:xfrm>
            <a:off x="4562856" y="4206240"/>
            <a:ext cx="3017520" cy="877824"/>
          </a:xfrm>
          <a:prstGeom prst="rect">
            <a:avLst/>
          </a:prstGeom>
          <a:noFill/>
          <a:ln/>
        </p:spPr>
        <p:txBody>
          <a:bodyPr wrap="square" lIns="0" tIns="0" rIns="0" bIns="0" rtlCol="0" anchor="t">
            <a:normAutofit/>
          </a:bodyPr>
          <a:lstStyle/>
          <a:p>
            <a:pPr marL="0" indent="0">
              <a:lnSpc>
                <a:spcPct val="106000"/>
              </a:lnSpc>
              <a:spcAft>
                <a:spcPts val="400"/>
              </a:spcAft>
              <a:buNone/>
            </a:pPr>
            <a:r>
              <a:rPr lang="en-US" sz="1160" dirty="0">
                <a:solidFill>
                  <a:srgbClr val="4A5568"/>
                </a:solidFill>
                <a:latin typeface="Calibri" pitchFamily="34" charset="0"/>
                <a:ea typeface="Calibri" pitchFamily="34" charset="-122"/>
                <a:cs typeface="Calibri" pitchFamily="34" charset="-120"/>
              </a:rPr>
              <a:t>Reporter, sub-editor, editor and admin roles with scoped rights, so trainees can draft but not publish.</a:t>
            </a:r>
            <a:endParaRPr lang="en-US" sz="1160" dirty="0"/>
          </a:p>
        </p:txBody>
      </p:sp>
      <p:sp>
        <p:nvSpPr>
          <p:cNvPr id="34" name="Shape 27"/>
          <p:cNvSpPr/>
          <p:nvPr/>
        </p:nvSpPr>
        <p:spPr>
          <a:xfrm>
            <a:off x="8046720" y="3566160"/>
            <a:ext cx="3529584" cy="1773936"/>
          </a:xfrm>
          <a:prstGeom prst="roundRect">
            <a:avLst>
              <a:gd name="adj" fmla="val 618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35" name="Shape 28"/>
          <p:cNvSpPr/>
          <p:nvPr/>
        </p:nvSpPr>
        <p:spPr>
          <a:xfrm>
            <a:off x="8302752" y="3840480"/>
            <a:ext cx="402336" cy="402336"/>
          </a:xfrm>
          <a:prstGeom prst="ellipse">
            <a:avLst/>
          </a:prstGeom>
          <a:solidFill>
            <a:srgbClr val="0F1E3D"/>
          </a:solidFill>
          <a:ln/>
        </p:spPr>
        <p:txBody>
          <a:bodyPr/>
          <a:lstStyle/>
          <a:p>
            <a:endParaRPr lang="en-AE"/>
          </a:p>
        </p:txBody>
      </p:sp>
      <p:pic>
        <p:nvPicPr>
          <p:cNvPr id="36" name="Image 5" descr="preencoded.png"/>
          <p:cNvPicPr>
            <a:picLocks noChangeAspect="1"/>
          </p:cNvPicPr>
          <p:nvPr/>
        </p:nvPicPr>
        <p:blipFill>
          <a:blip r:embed="rId8"/>
          <a:stretch>
            <a:fillRect/>
          </a:stretch>
        </p:blipFill>
        <p:spPr>
          <a:xfrm>
            <a:off x="8398764" y="3941064"/>
            <a:ext cx="210312" cy="210312"/>
          </a:xfrm>
          <a:prstGeom prst="rect">
            <a:avLst/>
          </a:prstGeom>
        </p:spPr>
      </p:pic>
      <p:sp>
        <p:nvSpPr>
          <p:cNvPr id="37" name="Text 29"/>
          <p:cNvSpPr txBox="1"/>
          <p:nvPr/>
        </p:nvSpPr>
        <p:spPr>
          <a:xfrm>
            <a:off x="8851392" y="3822192"/>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Commercial controls</a:t>
            </a:r>
            <a:endParaRPr lang="en-US" sz="1450" dirty="0"/>
          </a:p>
        </p:txBody>
      </p:sp>
      <p:sp>
        <p:nvSpPr>
          <p:cNvPr id="38" name="Text 30"/>
          <p:cNvSpPr txBox="1"/>
          <p:nvPr/>
        </p:nvSpPr>
        <p:spPr>
          <a:xfrm>
            <a:off x="8302752" y="4206240"/>
            <a:ext cx="3017520" cy="877824"/>
          </a:xfrm>
          <a:prstGeom prst="rect">
            <a:avLst/>
          </a:prstGeom>
          <a:noFill/>
          <a:ln/>
        </p:spPr>
        <p:txBody>
          <a:bodyPr wrap="square" lIns="0" tIns="0" rIns="0" bIns="0" rtlCol="0" anchor="t">
            <a:normAutofit/>
          </a:bodyPr>
          <a:lstStyle/>
          <a:p>
            <a:pPr marL="0" indent="0">
              <a:lnSpc>
                <a:spcPct val="106000"/>
              </a:lnSpc>
              <a:spcAft>
                <a:spcPts val="400"/>
              </a:spcAft>
              <a:buNone/>
            </a:pPr>
            <a:r>
              <a:rPr lang="en-US" sz="1160" dirty="0">
                <a:solidFill>
                  <a:srgbClr val="4A5568"/>
                </a:solidFill>
                <a:latin typeface="Calibri" pitchFamily="34" charset="0"/>
                <a:ea typeface="Calibri" pitchFamily="34" charset="-122"/>
                <a:cs typeface="Calibri" pitchFamily="34" charset="-120"/>
              </a:rPr>
              <a:t>Ad slot management, house-ad scheduling, subscriber counts and paywall rules, in the same console.</a:t>
            </a:r>
            <a:endParaRPr lang="en-US" sz="1160" dirty="0"/>
          </a:p>
        </p:txBody>
      </p:sp>
      <p:sp>
        <p:nvSpPr>
          <p:cNvPr id="39" name="Text 31"/>
          <p:cNvSpPr txBox="1"/>
          <p:nvPr/>
        </p:nvSpPr>
        <p:spPr>
          <a:xfrm>
            <a:off x="566928" y="5669280"/>
            <a:ext cx="11057839" cy="274320"/>
          </a:xfrm>
          <a:prstGeom prst="rect">
            <a:avLst/>
          </a:prstGeom>
          <a:noFill/>
          <a:ln/>
        </p:spPr>
        <p:txBody>
          <a:bodyPr wrap="square" lIns="0" tIns="0" rIns="0" bIns="0" rtlCol="0" anchor="ctr"/>
          <a:lstStyle/>
          <a:p>
            <a:pPr marL="0" indent="0">
              <a:buNone/>
            </a:pPr>
            <a:r>
              <a:rPr lang="en-US" sz="1120" b="1" dirty="0">
                <a:solidFill>
                  <a:srgbClr val="0F1E3D"/>
                </a:solidFill>
                <a:latin typeface="Calibri" pitchFamily="34" charset="0"/>
                <a:ea typeface="Calibri" pitchFamily="34" charset="-122"/>
                <a:cs typeface="Calibri" pitchFamily="34" charset="-120"/>
              </a:rPr>
              <a:t>Integration note:  </a:t>
            </a:r>
            <a:r>
              <a:rPr lang="en-US" sz="1120" dirty="0">
                <a:solidFill>
                  <a:srgbClr val="4A5568"/>
                </a:solidFill>
                <a:latin typeface="Calibri" pitchFamily="34" charset="0"/>
                <a:ea typeface="Calibri" pitchFamily="34" charset="-122"/>
                <a:cs typeface="Calibri" pitchFamily="34" charset="-120"/>
              </a:rPr>
              <a:t>if News Karnataka keeps its current CMS, the console reads from it through an adapter rather than replacing it. We confirm the route in week 1 after a systems review.</a:t>
            </a:r>
            <a:endParaRPr lang="en-US" sz="11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E3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58368" y="2286000"/>
            <a:ext cx="4572000" cy="274320"/>
          </a:xfrm>
          <a:prstGeom prst="rect">
            <a:avLst/>
          </a:prstGeom>
          <a:noFill/>
          <a:ln/>
        </p:spPr>
        <p:txBody>
          <a:bodyPr wrap="square" lIns="0" tIns="0" rIns="0" bIns="0" rtlCol="0" anchor="ctr"/>
          <a:lstStyle/>
          <a:p>
            <a:pPr marL="0" indent="0">
              <a:buNone/>
            </a:pPr>
            <a:r>
              <a:rPr lang="en-US" sz="1200" b="1" kern="0" spc="300" dirty="0">
                <a:solidFill>
                  <a:srgbClr val="F0A81C"/>
                </a:solidFill>
                <a:latin typeface="Calibri" pitchFamily="34" charset="0"/>
                <a:ea typeface="Calibri" pitchFamily="34" charset="-122"/>
                <a:cs typeface="Calibri" pitchFamily="34" charset="-120"/>
              </a:rPr>
              <a:t>PART 03</a:t>
            </a:r>
            <a:endParaRPr lang="en-US" sz="1200" dirty="0"/>
          </a:p>
        </p:txBody>
      </p:sp>
      <p:sp>
        <p:nvSpPr>
          <p:cNvPr id="4" name="Text 1"/>
          <p:cNvSpPr txBox="1"/>
          <p:nvPr/>
        </p:nvSpPr>
        <p:spPr>
          <a:xfrm>
            <a:off x="658368" y="2651760"/>
            <a:ext cx="6309360" cy="10058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Technology</a:t>
            </a:r>
            <a:endParaRPr lang="en-US" sz="4000" dirty="0"/>
          </a:p>
        </p:txBody>
      </p:sp>
      <p:sp>
        <p:nvSpPr>
          <p:cNvPr id="5" name="Text 2"/>
          <p:cNvSpPr txBox="1"/>
          <p:nvPr/>
        </p:nvSpPr>
        <p:spPr>
          <a:xfrm>
            <a:off x="658368" y="3703320"/>
            <a:ext cx="5669280" cy="731520"/>
          </a:xfrm>
          <a:prstGeom prst="rect">
            <a:avLst/>
          </a:prstGeom>
          <a:noFill/>
          <a:ln/>
        </p:spPr>
        <p:txBody>
          <a:bodyPr wrap="square" lIns="0" tIns="0" rIns="0" bIns="0" rtlCol="0" anchor="ctr"/>
          <a:lstStyle/>
          <a:p>
            <a:pPr marL="0" indent="0">
              <a:buNone/>
            </a:pPr>
            <a:r>
              <a:rPr lang="en-US" sz="1400" dirty="0">
                <a:solidFill>
                  <a:srgbClr val="C6D2E6"/>
                </a:solidFill>
                <a:latin typeface="Calibri" pitchFamily="34" charset="0"/>
                <a:ea typeface="Calibri" pitchFamily="34" charset="-122"/>
                <a:cs typeface="Calibri" pitchFamily="34" charset="-120"/>
              </a:rPr>
              <a:t>Proven components, assembled conservatively. Nothing here is a science experiment.</a:t>
            </a:r>
            <a:endParaRPr lang="en-US" sz="1400" dirty="0"/>
          </a:p>
        </p:txBody>
      </p:sp>
      <p:sp>
        <p:nvSpPr>
          <p:cNvPr id="6" name="Shape 3"/>
          <p:cNvSpPr/>
          <p:nvPr/>
        </p:nvSpPr>
        <p:spPr>
          <a:xfrm>
            <a:off x="7772400" y="2185416"/>
            <a:ext cx="274320" cy="274320"/>
          </a:xfrm>
          <a:prstGeom prst="ellipse">
            <a:avLst/>
          </a:prstGeom>
          <a:solidFill>
            <a:srgbClr val="C8102E"/>
          </a:solidFill>
          <a:ln/>
        </p:spPr>
        <p:txBody>
          <a:bodyPr/>
          <a:lstStyle/>
          <a:p>
            <a:endParaRPr lang="en-AE"/>
          </a:p>
        </p:txBody>
      </p:sp>
      <p:sp>
        <p:nvSpPr>
          <p:cNvPr id="7" name="Text 4"/>
          <p:cNvSpPr txBox="1"/>
          <p:nvPr/>
        </p:nvSpPr>
        <p:spPr>
          <a:xfrm>
            <a:off x="7772400" y="218541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5"/>
          <p:cNvSpPr txBox="1"/>
          <p:nvPr/>
        </p:nvSpPr>
        <p:spPr>
          <a:xfrm>
            <a:off x="8211312" y="2039112"/>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Solution architecture</a:t>
            </a:r>
            <a:endParaRPr lang="en-US" sz="1250" dirty="0"/>
          </a:p>
        </p:txBody>
      </p:sp>
      <p:sp>
        <p:nvSpPr>
          <p:cNvPr id="9" name="Shape 6"/>
          <p:cNvSpPr/>
          <p:nvPr/>
        </p:nvSpPr>
        <p:spPr>
          <a:xfrm>
            <a:off x="7772400" y="2752344"/>
            <a:ext cx="274320" cy="274320"/>
          </a:xfrm>
          <a:prstGeom prst="ellipse">
            <a:avLst/>
          </a:prstGeom>
          <a:solidFill>
            <a:srgbClr val="C8102E"/>
          </a:solidFill>
          <a:ln/>
        </p:spPr>
        <p:txBody>
          <a:bodyPr/>
          <a:lstStyle/>
          <a:p>
            <a:endParaRPr lang="en-AE"/>
          </a:p>
        </p:txBody>
      </p:sp>
      <p:sp>
        <p:nvSpPr>
          <p:cNvPr id="10" name="Text 7"/>
          <p:cNvSpPr txBox="1"/>
          <p:nvPr/>
        </p:nvSpPr>
        <p:spPr>
          <a:xfrm>
            <a:off x="7772400" y="275234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8"/>
          <p:cNvSpPr txBox="1"/>
          <p:nvPr/>
        </p:nvSpPr>
        <p:spPr>
          <a:xfrm>
            <a:off x="8211312" y="2606040"/>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Technology stack</a:t>
            </a:r>
            <a:endParaRPr lang="en-US" sz="1250" dirty="0"/>
          </a:p>
        </p:txBody>
      </p:sp>
      <p:sp>
        <p:nvSpPr>
          <p:cNvPr id="12" name="Shape 9"/>
          <p:cNvSpPr/>
          <p:nvPr/>
        </p:nvSpPr>
        <p:spPr>
          <a:xfrm>
            <a:off x="7772400" y="3319272"/>
            <a:ext cx="274320" cy="274320"/>
          </a:xfrm>
          <a:prstGeom prst="ellipse">
            <a:avLst/>
          </a:prstGeom>
          <a:solidFill>
            <a:srgbClr val="C8102E"/>
          </a:solidFill>
          <a:ln/>
        </p:spPr>
        <p:txBody>
          <a:bodyPr/>
          <a:lstStyle/>
          <a:p>
            <a:endParaRPr lang="en-AE"/>
          </a:p>
        </p:txBody>
      </p:sp>
      <p:sp>
        <p:nvSpPr>
          <p:cNvPr id="13" name="Text 10"/>
          <p:cNvSpPr txBox="1"/>
          <p:nvPr/>
        </p:nvSpPr>
        <p:spPr>
          <a:xfrm>
            <a:off x="7772400" y="331927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4" name="Text 11"/>
          <p:cNvSpPr txBox="1"/>
          <p:nvPr/>
        </p:nvSpPr>
        <p:spPr>
          <a:xfrm>
            <a:off x="8211312" y="3172968"/>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Infrastructure &amp; scale</a:t>
            </a:r>
            <a:endParaRPr lang="en-US" sz="1250" dirty="0"/>
          </a:p>
        </p:txBody>
      </p:sp>
      <p:sp>
        <p:nvSpPr>
          <p:cNvPr id="15" name="Shape 12"/>
          <p:cNvSpPr/>
          <p:nvPr/>
        </p:nvSpPr>
        <p:spPr>
          <a:xfrm>
            <a:off x="7772400" y="3886200"/>
            <a:ext cx="274320" cy="274320"/>
          </a:xfrm>
          <a:prstGeom prst="ellipse">
            <a:avLst/>
          </a:prstGeom>
          <a:solidFill>
            <a:srgbClr val="C8102E"/>
          </a:solidFill>
          <a:ln/>
        </p:spPr>
        <p:txBody>
          <a:bodyPr/>
          <a:lstStyle/>
          <a:p>
            <a:endParaRPr lang="en-AE"/>
          </a:p>
        </p:txBody>
      </p:sp>
      <p:sp>
        <p:nvSpPr>
          <p:cNvPr id="16" name="Text 13"/>
          <p:cNvSpPr txBox="1"/>
          <p:nvPr/>
        </p:nvSpPr>
        <p:spPr>
          <a:xfrm>
            <a:off x="7772400" y="388620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Text 14"/>
          <p:cNvSpPr txBox="1"/>
          <p:nvPr/>
        </p:nvSpPr>
        <p:spPr>
          <a:xfrm>
            <a:off x="8211312" y="3739896"/>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Security, privacy &amp; compliance</a:t>
            </a:r>
            <a:endParaRPr lang="en-US" sz="1250" dirty="0"/>
          </a:p>
        </p:txBody>
      </p:sp>
      <p:sp>
        <p:nvSpPr>
          <p:cNvPr id="18" name="Shape 15"/>
          <p:cNvSpPr/>
          <p:nvPr/>
        </p:nvSpPr>
        <p:spPr>
          <a:xfrm>
            <a:off x="7772400" y="4453128"/>
            <a:ext cx="274320" cy="274320"/>
          </a:xfrm>
          <a:prstGeom prst="ellipse">
            <a:avLst/>
          </a:prstGeom>
          <a:solidFill>
            <a:srgbClr val="C8102E"/>
          </a:solidFill>
          <a:ln/>
        </p:spPr>
        <p:txBody>
          <a:bodyPr/>
          <a:lstStyle/>
          <a:p>
            <a:endParaRPr lang="en-AE"/>
          </a:p>
        </p:txBody>
      </p:sp>
      <p:sp>
        <p:nvSpPr>
          <p:cNvPr id="19" name="Text 16"/>
          <p:cNvSpPr txBox="1"/>
          <p:nvPr/>
        </p:nvSpPr>
        <p:spPr>
          <a:xfrm>
            <a:off x="7772400" y="445312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7"/>
          <p:cNvSpPr txBox="1"/>
          <p:nvPr/>
        </p:nvSpPr>
        <p:spPr>
          <a:xfrm>
            <a:off x="8211312" y="4306824"/>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Performance &amp; SLA</a:t>
            </a:r>
            <a:endParaRPr lang="en-US" sz="1250" dirty="0"/>
          </a:p>
        </p:txBody>
      </p:sp>
      <p:sp>
        <p:nvSpPr>
          <p:cNvPr id="21" name="Text 18"/>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8FA0BF"/>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22" name="Text 19"/>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8FA0BF"/>
                </a:solidFill>
                <a:latin typeface="Calibri" pitchFamily="34" charset="0"/>
                <a:ea typeface="Calibri" pitchFamily="34" charset="-122"/>
                <a:cs typeface="Calibri" pitchFamily="34" charset="-120"/>
              </a:rPr>
              <a:t>Opus Infinite</a:t>
            </a:r>
            <a:endParaRPr lang="en-US" sz="950" dirty="0"/>
          </a:p>
        </p:txBody>
      </p:sp>
      <p:sp>
        <p:nvSpPr>
          <p:cNvPr id="23" name="Shape 20"/>
          <p:cNvSpPr/>
          <p:nvPr/>
        </p:nvSpPr>
        <p:spPr>
          <a:xfrm>
            <a:off x="11240719" y="6300216"/>
            <a:ext cx="384048" cy="384048"/>
          </a:xfrm>
          <a:prstGeom prst="ellipse">
            <a:avLst/>
          </a:prstGeom>
          <a:solidFill>
            <a:srgbClr val="22375F"/>
          </a:solidFill>
          <a:ln/>
        </p:spPr>
        <p:txBody>
          <a:bodyPr/>
          <a:lstStyle/>
          <a:p>
            <a:endParaRPr lang="en-AE"/>
          </a:p>
        </p:txBody>
      </p:sp>
      <p:sp>
        <p:nvSpPr>
          <p:cNvPr id="24" name="Text 21"/>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03 · TECHNOLOGY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Solution architecture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Five layers, each independently scalable and independently replaceable.</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17</a:t>
            </a:r>
            <a:endParaRPr lang="en-US" sz="1050" dirty="0"/>
          </a:p>
        </p:txBody>
      </p:sp>
      <p:sp>
        <p:nvSpPr>
          <p:cNvPr id="9" name="Shape 7"/>
          <p:cNvSpPr/>
          <p:nvPr/>
        </p:nvSpPr>
        <p:spPr>
          <a:xfrm>
            <a:off x="566928" y="1609344"/>
            <a:ext cx="1481328" cy="768096"/>
          </a:xfrm>
          <a:prstGeom prst="roundRect">
            <a:avLst>
              <a:gd name="adj" fmla="val 9524"/>
            </a:avLst>
          </a:prstGeom>
          <a:solidFill>
            <a:srgbClr val="C8102E"/>
          </a:solidFill>
          <a:ln/>
        </p:spPr>
        <p:txBody>
          <a:bodyPr/>
          <a:lstStyle/>
          <a:p>
            <a:endParaRPr lang="en-AE"/>
          </a:p>
        </p:txBody>
      </p:sp>
      <p:sp>
        <p:nvSpPr>
          <p:cNvPr id="10" name="Text 8"/>
          <p:cNvSpPr txBox="1"/>
          <p:nvPr/>
        </p:nvSpPr>
        <p:spPr>
          <a:xfrm>
            <a:off x="566928" y="1609344"/>
            <a:ext cx="1481328" cy="768096"/>
          </a:xfrm>
          <a:prstGeom prst="rect">
            <a:avLst/>
          </a:prstGeom>
          <a:noFill/>
          <a:ln/>
        </p:spPr>
        <p:txBody>
          <a:bodyPr wrap="square" lIns="0" tIns="0" rIns="0" bIns="0" rtlCol="0" anchor="ctr"/>
          <a:lstStyle/>
          <a:p>
            <a:pPr marL="0" indent="0" algn="ctr">
              <a:buNone/>
            </a:pPr>
            <a:r>
              <a:rPr lang="en-US" sz="920" b="1" kern="0" spc="100" dirty="0">
                <a:solidFill>
                  <a:srgbClr val="FFFFFF"/>
                </a:solidFill>
                <a:latin typeface="Calibri" pitchFamily="34" charset="0"/>
                <a:ea typeface="Calibri" pitchFamily="34" charset="-122"/>
                <a:cs typeface="Calibri" pitchFamily="34" charset="-120"/>
              </a:rPr>
              <a:t>CLIENTS</a:t>
            </a:r>
            <a:endParaRPr lang="en-US" sz="920" dirty="0"/>
          </a:p>
        </p:txBody>
      </p:sp>
      <p:sp>
        <p:nvSpPr>
          <p:cNvPr id="11" name="Shape 9"/>
          <p:cNvSpPr/>
          <p:nvPr/>
        </p:nvSpPr>
        <p:spPr>
          <a:xfrm>
            <a:off x="2194560" y="1609344"/>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12" name="Text 10"/>
          <p:cNvSpPr txBox="1"/>
          <p:nvPr/>
        </p:nvSpPr>
        <p:spPr>
          <a:xfrm>
            <a:off x="2286000" y="1737360"/>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iOS app</a:t>
            </a:r>
            <a:endParaRPr lang="en-US" sz="1080" dirty="0"/>
          </a:p>
        </p:txBody>
      </p:sp>
      <p:sp>
        <p:nvSpPr>
          <p:cNvPr id="13" name="Text 11"/>
          <p:cNvSpPr txBox="1"/>
          <p:nvPr/>
        </p:nvSpPr>
        <p:spPr>
          <a:xfrm>
            <a:off x="2249424" y="2011680"/>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Flutter</a:t>
            </a:r>
            <a:endParaRPr lang="en-US" sz="900" dirty="0"/>
          </a:p>
        </p:txBody>
      </p:sp>
      <p:sp>
        <p:nvSpPr>
          <p:cNvPr id="14" name="Shape 12"/>
          <p:cNvSpPr/>
          <p:nvPr/>
        </p:nvSpPr>
        <p:spPr>
          <a:xfrm>
            <a:off x="4087368" y="1609344"/>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15" name="Text 13"/>
          <p:cNvSpPr txBox="1"/>
          <p:nvPr/>
        </p:nvSpPr>
        <p:spPr>
          <a:xfrm>
            <a:off x="4178808" y="1737360"/>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Android app</a:t>
            </a:r>
            <a:endParaRPr lang="en-US" sz="1080" dirty="0"/>
          </a:p>
        </p:txBody>
      </p:sp>
      <p:sp>
        <p:nvSpPr>
          <p:cNvPr id="16" name="Text 14"/>
          <p:cNvSpPr txBox="1"/>
          <p:nvPr/>
        </p:nvSpPr>
        <p:spPr>
          <a:xfrm>
            <a:off x="4142232" y="2011680"/>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Flutter</a:t>
            </a:r>
            <a:endParaRPr lang="en-US" sz="900" dirty="0"/>
          </a:p>
        </p:txBody>
      </p:sp>
      <p:sp>
        <p:nvSpPr>
          <p:cNvPr id="17" name="Shape 15"/>
          <p:cNvSpPr/>
          <p:nvPr/>
        </p:nvSpPr>
        <p:spPr>
          <a:xfrm>
            <a:off x="5980176" y="1609344"/>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18" name="Text 16"/>
          <p:cNvSpPr txBox="1"/>
          <p:nvPr/>
        </p:nvSpPr>
        <p:spPr>
          <a:xfrm>
            <a:off x="6071616" y="1737360"/>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Web app</a:t>
            </a:r>
            <a:endParaRPr lang="en-US" sz="1080" dirty="0"/>
          </a:p>
        </p:txBody>
      </p:sp>
      <p:sp>
        <p:nvSpPr>
          <p:cNvPr id="19" name="Text 17"/>
          <p:cNvSpPr txBox="1"/>
          <p:nvPr/>
        </p:nvSpPr>
        <p:spPr>
          <a:xfrm>
            <a:off x="6035040" y="2011680"/>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Next.js</a:t>
            </a:r>
            <a:endParaRPr lang="en-US" sz="900" dirty="0"/>
          </a:p>
        </p:txBody>
      </p:sp>
      <p:sp>
        <p:nvSpPr>
          <p:cNvPr id="20" name="Shape 18"/>
          <p:cNvSpPr/>
          <p:nvPr/>
        </p:nvSpPr>
        <p:spPr>
          <a:xfrm>
            <a:off x="7872984" y="1609344"/>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21" name="Text 19"/>
          <p:cNvSpPr txBox="1"/>
          <p:nvPr/>
        </p:nvSpPr>
        <p:spPr>
          <a:xfrm>
            <a:off x="7964424" y="1737360"/>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PWA</a:t>
            </a:r>
            <a:endParaRPr lang="en-US" sz="1080" dirty="0"/>
          </a:p>
        </p:txBody>
      </p:sp>
      <p:sp>
        <p:nvSpPr>
          <p:cNvPr id="22" name="Text 20"/>
          <p:cNvSpPr txBox="1"/>
          <p:nvPr/>
        </p:nvSpPr>
        <p:spPr>
          <a:xfrm>
            <a:off x="7927848" y="2011680"/>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Installable</a:t>
            </a:r>
            <a:endParaRPr lang="en-US" sz="900" dirty="0"/>
          </a:p>
        </p:txBody>
      </p:sp>
      <p:sp>
        <p:nvSpPr>
          <p:cNvPr id="23" name="Shape 21"/>
          <p:cNvSpPr/>
          <p:nvPr/>
        </p:nvSpPr>
        <p:spPr>
          <a:xfrm>
            <a:off x="9765792" y="1609344"/>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24" name="Text 22"/>
          <p:cNvSpPr txBox="1"/>
          <p:nvPr/>
        </p:nvSpPr>
        <p:spPr>
          <a:xfrm>
            <a:off x="9857232" y="1737360"/>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Newsroom console</a:t>
            </a:r>
            <a:endParaRPr lang="en-US" sz="1080" dirty="0"/>
          </a:p>
        </p:txBody>
      </p:sp>
      <p:sp>
        <p:nvSpPr>
          <p:cNvPr id="25" name="Text 23"/>
          <p:cNvSpPr txBox="1"/>
          <p:nvPr/>
        </p:nvSpPr>
        <p:spPr>
          <a:xfrm>
            <a:off x="9820656" y="2011680"/>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React</a:t>
            </a:r>
            <a:endParaRPr lang="en-US" sz="900" dirty="0"/>
          </a:p>
        </p:txBody>
      </p:sp>
      <p:sp>
        <p:nvSpPr>
          <p:cNvPr id="26" name="Shape 24"/>
          <p:cNvSpPr/>
          <p:nvPr/>
        </p:nvSpPr>
        <p:spPr>
          <a:xfrm>
            <a:off x="566928" y="2487168"/>
            <a:ext cx="1481328" cy="768096"/>
          </a:xfrm>
          <a:prstGeom prst="roundRect">
            <a:avLst>
              <a:gd name="adj" fmla="val 9524"/>
            </a:avLst>
          </a:prstGeom>
          <a:solidFill>
            <a:srgbClr val="0F1E3D"/>
          </a:solidFill>
          <a:ln/>
        </p:spPr>
        <p:txBody>
          <a:bodyPr/>
          <a:lstStyle/>
          <a:p>
            <a:endParaRPr lang="en-AE"/>
          </a:p>
        </p:txBody>
      </p:sp>
      <p:sp>
        <p:nvSpPr>
          <p:cNvPr id="27" name="Text 25"/>
          <p:cNvSpPr txBox="1"/>
          <p:nvPr/>
        </p:nvSpPr>
        <p:spPr>
          <a:xfrm>
            <a:off x="566928" y="2487168"/>
            <a:ext cx="1481328" cy="768096"/>
          </a:xfrm>
          <a:prstGeom prst="rect">
            <a:avLst/>
          </a:prstGeom>
          <a:noFill/>
          <a:ln/>
        </p:spPr>
        <p:txBody>
          <a:bodyPr wrap="square" lIns="0" tIns="0" rIns="0" bIns="0" rtlCol="0" anchor="ctr"/>
          <a:lstStyle/>
          <a:p>
            <a:pPr marL="0" indent="0" algn="ctr">
              <a:buNone/>
            </a:pPr>
            <a:r>
              <a:rPr lang="en-US" sz="920" b="1" kern="0" spc="100" dirty="0">
                <a:solidFill>
                  <a:srgbClr val="FFFFFF"/>
                </a:solidFill>
                <a:latin typeface="Calibri" pitchFamily="34" charset="0"/>
                <a:ea typeface="Calibri" pitchFamily="34" charset="-122"/>
                <a:cs typeface="Calibri" pitchFamily="34" charset="-120"/>
              </a:rPr>
              <a:t>EDGE &amp; API</a:t>
            </a:r>
            <a:endParaRPr lang="en-US" sz="920" dirty="0"/>
          </a:p>
        </p:txBody>
      </p:sp>
      <p:sp>
        <p:nvSpPr>
          <p:cNvPr id="28" name="Shape 26"/>
          <p:cNvSpPr/>
          <p:nvPr/>
        </p:nvSpPr>
        <p:spPr>
          <a:xfrm>
            <a:off x="2194560" y="2487168"/>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29" name="Text 27"/>
          <p:cNvSpPr txBox="1"/>
          <p:nvPr/>
        </p:nvSpPr>
        <p:spPr>
          <a:xfrm>
            <a:off x="2286000" y="2615184"/>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CDN &amp; WAF</a:t>
            </a:r>
            <a:endParaRPr lang="en-US" sz="1080" dirty="0"/>
          </a:p>
        </p:txBody>
      </p:sp>
      <p:sp>
        <p:nvSpPr>
          <p:cNvPr id="30" name="Text 28"/>
          <p:cNvSpPr txBox="1"/>
          <p:nvPr/>
        </p:nvSpPr>
        <p:spPr>
          <a:xfrm>
            <a:off x="2249424" y="2889504"/>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Cloudflare</a:t>
            </a:r>
            <a:endParaRPr lang="en-US" sz="900" dirty="0"/>
          </a:p>
        </p:txBody>
      </p:sp>
      <p:sp>
        <p:nvSpPr>
          <p:cNvPr id="31" name="Shape 29"/>
          <p:cNvSpPr/>
          <p:nvPr/>
        </p:nvSpPr>
        <p:spPr>
          <a:xfrm>
            <a:off x="4087368" y="2487168"/>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32" name="Text 30"/>
          <p:cNvSpPr txBox="1"/>
          <p:nvPr/>
        </p:nvSpPr>
        <p:spPr>
          <a:xfrm>
            <a:off x="4178808" y="2615184"/>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API gateway</a:t>
            </a:r>
            <a:endParaRPr lang="en-US" sz="1080" dirty="0"/>
          </a:p>
        </p:txBody>
      </p:sp>
      <p:sp>
        <p:nvSpPr>
          <p:cNvPr id="33" name="Text 31"/>
          <p:cNvSpPr txBox="1"/>
          <p:nvPr/>
        </p:nvSpPr>
        <p:spPr>
          <a:xfrm>
            <a:off x="4142232" y="2889504"/>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Auth · rate limits</a:t>
            </a:r>
            <a:endParaRPr lang="en-US" sz="900" dirty="0"/>
          </a:p>
        </p:txBody>
      </p:sp>
      <p:sp>
        <p:nvSpPr>
          <p:cNvPr id="34" name="Shape 32"/>
          <p:cNvSpPr/>
          <p:nvPr/>
        </p:nvSpPr>
        <p:spPr>
          <a:xfrm>
            <a:off x="5980176" y="2487168"/>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35" name="Text 33"/>
          <p:cNvSpPr txBox="1"/>
          <p:nvPr/>
        </p:nvSpPr>
        <p:spPr>
          <a:xfrm>
            <a:off x="6071616" y="2615184"/>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REST + GraphQL</a:t>
            </a:r>
            <a:endParaRPr lang="en-US" sz="1080" dirty="0"/>
          </a:p>
        </p:txBody>
      </p:sp>
      <p:sp>
        <p:nvSpPr>
          <p:cNvPr id="36" name="Text 34"/>
          <p:cNvSpPr txBox="1"/>
          <p:nvPr/>
        </p:nvSpPr>
        <p:spPr>
          <a:xfrm>
            <a:off x="6035040" y="2889504"/>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Node · TypeScript</a:t>
            </a:r>
            <a:endParaRPr lang="en-US" sz="900" dirty="0"/>
          </a:p>
        </p:txBody>
      </p:sp>
      <p:sp>
        <p:nvSpPr>
          <p:cNvPr id="37" name="Shape 35"/>
          <p:cNvSpPr/>
          <p:nvPr/>
        </p:nvSpPr>
        <p:spPr>
          <a:xfrm>
            <a:off x="7872984" y="2487168"/>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38" name="Text 36"/>
          <p:cNvSpPr txBox="1"/>
          <p:nvPr/>
        </p:nvSpPr>
        <p:spPr>
          <a:xfrm>
            <a:off x="7964424" y="2615184"/>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WebSocket</a:t>
            </a:r>
            <a:endParaRPr lang="en-US" sz="1080" dirty="0"/>
          </a:p>
        </p:txBody>
      </p:sp>
      <p:sp>
        <p:nvSpPr>
          <p:cNvPr id="39" name="Text 37"/>
          <p:cNvSpPr txBox="1"/>
          <p:nvPr/>
        </p:nvSpPr>
        <p:spPr>
          <a:xfrm>
            <a:off x="7927848" y="2889504"/>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Live updates</a:t>
            </a:r>
            <a:endParaRPr lang="en-US" sz="900" dirty="0"/>
          </a:p>
        </p:txBody>
      </p:sp>
      <p:sp>
        <p:nvSpPr>
          <p:cNvPr id="40" name="Shape 38"/>
          <p:cNvSpPr/>
          <p:nvPr/>
        </p:nvSpPr>
        <p:spPr>
          <a:xfrm>
            <a:off x="9765792" y="2487168"/>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41" name="Text 39"/>
          <p:cNvSpPr txBox="1"/>
          <p:nvPr/>
        </p:nvSpPr>
        <p:spPr>
          <a:xfrm>
            <a:off x="9857232" y="2615184"/>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Push</a:t>
            </a:r>
            <a:endParaRPr lang="en-US" sz="1080" dirty="0"/>
          </a:p>
        </p:txBody>
      </p:sp>
      <p:sp>
        <p:nvSpPr>
          <p:cNvPr id="42" name="Text 40"/>
          <p:cNvSpPr txBox="1"/>
          <p:nvPr/>
        </p:nvSpPr>
        <p:spPr>
          <a:xfrm>
            <a:off x="9820656" y="2889504"/>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FCM · APNs</a:t>
            </a:r>
            <a:endParaRPr lang="en-US" sz="900" dirty="0"/>
          </a:p>
        </p:txBody>
      </p:sp>
      <p:sp>
        <p:nvSpPr>
          <p:cNvPr id="43" name="Shape 41"/>
          <p:cNvSpPr/>
          <p:nvPr/>
        </p:nvSpPr>
        <p:spPr>
          <a:xfrm>
            <a:off x="566928" y="3364992"/>
            <a:ext cx="1481328" cy="768096"/>
          </a:xfrm>
          <a:prstGeom prst="roundRect">
            <a:avLst>
              <a:gd name="adj" fmla="val 9524"/>
            </a:avLst>
          </a:prstGeom>
          <a:solidFill>
            <a:srgbClr val="F0A81C"/>
          </a:solidFill>
          <a:ln/>
        </p:spPr>
        <p:txBody>
          <a:bodyPr/>
          <a:lstStyle/>
          <a:p>
            <a:endParaRPr lang="en-AE"/>
          </a:p>
        </p:txBody>
      </p:sp>
      <p:sp>
        <p:nvSpPr>
          <p:cNvPr id="44" name="Text 42"/>
          <p:cNvSpPr txBox="1"/>
          <p:nvPr/>
        </p:nvSpPr>
        <p:spPr>
          <a:xfrm>
            <a:off x="566928" y="3364992"/>
            <a:ext cx="1481328" cy="768096"/>
          </a:xfrm>
          <a:prstGeom prst="rect">
            <a:avLst/>
          </a:prstGeom>
          <a:noFill/>
          <a:ln/>
        </p:spPr>
        <p:txBody>
          <a:bodyPr wrap="square" lIns="0" tIns="0" rIns="0" bIns="0" rtlCol="0" anchor="ctr"/>
          <a:lstStyle/>
          <a:p>
            <a:pPr marL="0" indent="0" algn="ctr">
              <a:buNone/>
            </a:pPr>
            <a:r>
              <a:rPr lang="en-US" sz="920" b="1" kern="0" spc="100" dirty="0">
                <a:solidFill>
                  <a:srgbClr val="0F1E3D"/>
                </a:solidFill>
                <a:latin typeface="Calibri" pitchFamily="34" charset="0"/>
                <a:ea typeface="Calibri" pitchFamily="34" charset="-122"/>
                <a:cs typeface="Calibri" pitchFamily="34" charset="-120"/>
              </a:rPr>
              <a:t>SERVICES</a:t>
            </a:r>
            <a:endParaRPr lang="en-US" sz="920" dirty="0"/>
          </a:p>
        </p:txBody>
      </p:sp>
      <p:sp>
        <p:nvSpPr>
          <p:cNvPr id="45" name="Shape 43"/>
          <p:cNvSpPr/>
          <p:nvPr/>
        </p:nvSpPr>
        <p:spPr>
          <a:xfrm>
            <a:off x="2194560" y="3364992"/>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46" name="Text 44"/>
          <p:cNvSpPr txBox="1"/>
          <p:nvPr/>
        </p:nvSpPr>
        <p:spPr>
          <a:xfrm>
            <a:off x="2286000" y="3493008"/>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Content</a:t>
            </a:r>
            <a:endParaRPr lang="en-US" sz="1080" dirty="0"/>
          </a:p>
        </p:txBody>
      </p:sp>
      <p:sp>
        <p:nvSpPr>
          <p:cNvPr id="47" name="Text 45"/>
          <p:cNvSpPr txBox="1"/>
          <p:nvPr/>
        </p:nvSpPr>
        <p:spPr>
          <a:xfrm>
            <a:off x="2249424" y="3767328"/>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Stories · media</a:t>
            </a:r>
            <a:endParaRPr lang="en-US" sz="900" dirty="0"/>
          </a:p>
        </p:txBody>
      </p:sp>
      <p:sp>
        <p:nvSpPr>
          <p:cNvPr id="48" name="Shape 46"/>
          <p:cNvSpPr/>
          <p:nvPr/>
        </p:nvSpPr>
        <p:spPr>
          <a:xfrm>
            <a:off x="4087368" y="3364992"/>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49" name="Text 47"/>
          <p:cNvSpPr txBox="1"/>
          <p:nvPr/>
        </p:nvSpPr>
        <p:spPr>
          <a:xfrm>
            <a:off x="4178808" y="3493008"/>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Identity</a:t>
            </a:r>
            <a:endParaRPr lang="en-US" sz="1080" dirty="0"/>
          </a:p>
        </p:txBody>
      </p:sp>
      <p:sp>
        <p:nvSpPr>
          <p:cNvPr id="50" name="Text 48"/>
          <p:cNvSpPr txBox="1"/>
          <p:nvPr/>
        </p:nvSpPr>
        <p:spPr>
          <a:xfrm>
            <a:off x="4142232" y="3767328"/>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Accounts · OTP</a:t>
            </a:r>
            <a:endParaRPr lang="en-US" sz="900" dirty="0"/>
          </a:p>
        </p:txBody>
      </p:sp>
      <p:sp>
        <p:nvSpPr>
          <p:cNvPr id="51" name="Shape 49"/>
          <p:cNvSpPr/>
          <p:nvPr/>
        </p:nvSpPr>
        <p:spPr>
          <a:xfrm>
            <a:off x="5980176" y="3364992"/>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52" name="Text 50"/>
          <p:cNvSpPr txBox="1"/>
          <p:nvPr/>
        </p:nvSpPr>
        <p:spPr>
          <a:xfrm>
            <a:off x="6071616" y="3493008"/>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Engagement</a:t>
            </a:r>
            <a:endParaRPr lang="en-US" sz="1080" dirty="0"/>
          </a:p>
        </p:txBody>
      </p:sp>
      <p:sp>
        <p:nvSpPr>
          <p:cNvPr id="53" name="Text 51"/>
          <p:cNvSpPr txBox="1"/>
          <p:nvPr/>
        </p:nvSpPr>
        <p:spPr>
          <a:xfrm>
            <a:off x="6035040" y="3767328"/>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Comments · reactions</a:t>
            </a:r>
            <a:endParaRPr lang="en-US" sz="900" dirty="0"/>
          </a:p>
        </p:txBody>
      </p:sp>
      <p:sp>
        <p:nvSpPr>
          <p:cNvPr id="54" name="Shape 52"/>
          <p:cNvSpPr/>
          <p:nvPr/>
        </p:nvSpPr>
        <p:spPr>
          <a:xfrm>
            <a:off x="7872984" y="3364992"/>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55" name="Text 53"/>
          <p:cNvSpPr txBox="1"/>
          <p:nvPr/>
        </p:nvSpPr>
        <p:spPr>
          <a:xfrm>
            <a:off x="7964424" y="3493008"/>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Monetisation</a:t>
            </a:r>
            <a:endParaRPr lang="en-US" sz="1080" dirty="0"/>
          </a:p>
        </p:txBody>
      </p:sp>
      <p:sp>
        <p:nvSpPr>
          <p:cNvPr id="56" name="Text 54"/>
          <p:cNvSpPr txBox="1"/>
          <p:nvPr/>
        </p:nvSpPr>
        <p:spPr>
          <a:xfrm>
            <a:off x="7927848" y="3767328"/>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Ads · billing</a:t>
            </a:r>
            <a:endParaRPr lang="en-US" sz="900" dirty="0"/>
          </a:p>
        </p:txBody>
      </p:sp>
      <p:sp>
        <p:nvSpPr>
          <p:cNvPr id="57" name="Shape 55"/>
          <p:cNvSpPr/>
          <p:nvPr/>
        </p:nvSpPr>
        <p:spPr>
          <a:xfrm>
            <a:off x="9765792" y="3364992"/>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58" name="Text 56"/>
          <p:cNvSpPr txBox="1"/>
          <p:nvPr/>
        </p:nvSpPr>
        <p:spPr>
          <a:xfrm>
            <a:off x="9857232" y="3493008"/>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Notification</a:t>
            </a:r>
            <a:endParaRPr lang="en-US" sz="1080" dirty="0"/>
          </a:p>
        </p:txBody>
      </p:sp>
      <p:sp>
        <p:nvSpPr>
          <p:cNvPr id="59" name="Text 57"/>
          <p:cNvSpPr txBox="1"/>
          <p:nvPr/>
        </p:nvSpPr>
        <p:spPr>
          <a:xfrm>
            <a:off x="9820656" y="3767328"/>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Segments · sends</a:t>
            </a:r>
            <a:endParaRPr lang="en-US" sz="900" dirty="0"/>
          </a:p>
        </p:txBody>
      </p:sp>
      <p:sp>
        <p:nvSpPr>
          <p:cNvPr id="60" name="Shape 58"/>
          <p:cNvSpPr/>
          <p:nvPr/>
        </p:nvSpPr>
        <p:spPr>
          <a:xfrm>
            <a:off x="566928" y="4242816"/>
            <a:ext cx="1481328" cy="768096"/>
          </a:xfrm>
          <a:prstGeom prst="roundRect">
            <a:avLst>
              <a:gd name="adj" fmla="val 9524"/>
            </a:avLst>
          </a:prstGeom>
          <a:solidFill>
            <a:srgbClr val="1B3160"/>
          </a:solidFill>
          <a:ln/>
        </p:spPr>
        <p:txBody>
          <a:bodyPr/>
          <a:lstStyle/>
          <a:p>
            <a:endParaRPr lang="en-AE"/>
          </a:p>
        </p:txBody>
      </p:sp>
      <p:sp>
        <p:nvSpPr>
          <p:cNvPr id="61" name="Text 59"/>
          <p:cNvSpPr txBox="1"/>
          <p:nvPr/>
        </p:nvSpPr>
        <p:spPr>
          <a:xfrm>
            <a:off x="566928" y="4242816"/>
            <a:ext cx="1481328" cy="768096"/>
          </a:xfrm>
          <a:prstGeom prst="rect">
            <a:avLst/>
          </a:prstGeom>
          <a:noFill/>
          <a:ln/>
        </p:spPr>
        <p:txBody>
          <a:bodyPr wrap="square" lIns="0" tIns="0" rIns="0" bIns="0" rtlCol="0" anchor="ctr"/>
          <a:lstStyle/>
          <a:p>
            <a:pPr marL="0" indent="0" algn="ctr">
              <a:buNone/>
            </a:pPr>
            <a:r>
              <a:rPr lang="en-US" sz="920" b="1" kern="0" spc="100" dirty="0">
                <a:solidFill>
                  <a:srgbClr val="FFFFFF"/>
                </a:solidFill>
                <a:latin typeface="Calibri" pitchFamily="34" charset="0"/>
                <a:ea typeface="Calibri" pitchFamily="34" charset="-122"/>
                <a:cs typeface="Calibri" pitchFamily="34" charset="-120"/>
              </a:rPr>
              <a:t>INTELLIGENCE</a:t>
            </a:r>
            <a:endParaRPr lang="en-US" sz="920" dirty="0"/>
          </a:p>
        </p:txBody>
      </p:sp>
      <p:sp>
        <p:nvSpPr>
          <p:cNvPr id="62" name="Shape 60"/>
          <p:cNvSpPr/>
          <p:nvPr/>
        </p:nvSpPr>
        <p:spPr>
          <a:xfrm>
            <a:off x="2194560" y="4242816"/>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63" name="Text 61"/>
          <p:cNvSpPr txBox="1"/>
          <p:nvPr/>
        </p:nvSpPr>
        <p:spPr>
          <a:xfrm>
            <a:off x="2286000" y="4370832"/>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Classifier</a:t>
            </a:r>
            <a:endParaRPr lang="en-US" sz="1080" dirty="0"/>
          </a:p>
        </p:txBody>
      </p:sp>
      <p:sp>
        <p:nvSpPr>
          <p:cNvPr id="64" name="Text 62"/>
          <p:cNvSpPr txBox="1"/>
          <p:nvPr/>
        </p:nvSpPr>
        <p:spPr>
          <a:xfrm>
            <a:off x="2249424" y="4645152"/>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Groq LLM</a:t>
            </a:r>
            <a:endParaRPr lang="en-US" sz="900" dirty="0"/>
          </a:p>
        </p:txBody>
      </p:sp>
      <p:sp>
        <p:nvSpPr>
          <p:cNvPr id="65" name="Shape 63"/>
          <p:cNvSpPr/>
          <p:nvPr/>
        </p:nvSpPr>
        <p:spPr>
          <a:xfrm>
            <a:off x="4087368" y="4242816"/>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66" name="Text 64"/>
          <p:cNvSpPr txBox="1"/>
          <p:nvPr/>
        </p:nvSpPr>
        <p:spPr>
          <a:xfrm>
            <a:off x="4178808" y="4370832"/>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Geo-tagger</a:t>
            </a:r>
            <a:endParaRPr lang="en-US" sz="1080" dirty="0"/>
          </a:p>
        </p:txBody>
      </p:sp>
      <p:sp>
        <p:nvSpPr>
          <p:cNvPr id="67" name="Text 65"/>
          <p:cNvSpPr txBox="1"/>
          <p:nvPr/>
        </p:nvSpPr>
        <p:spPr>
          <a:xfrm>
            <a:off x="4142232" y="4645152"/>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NER + gazetteer</a:t>
            </a:r>
            <a:endParaRPr lang="en-US" sz="900" dirty="0"/>
          </a:p>
        </p:txBody>
      </p:sp>
      <p:sp>
        <p:nvSpPr>
          <p:cNvPr id="68" name="Shape 66"/>
          <p:cNvSpPr/>
          <p:nvPr/>
        </p:nvSpPr>
        <p:spPr>
          <a:xfrm>
            <a:off x="5980176" y="4242816"/>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69" name="Text 67"/>
          <p:cNvSpPr txBox="1"/>
          <p:nvPr/>
        </p:nvSpPr>
        <p:spPr>
          <a:xfrm>
            <a:off x="6071616" y="4370832"/>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Ranker</a:t>
            </a:r>
            <a:endParaRPr lang="en-US" sz="1080" dirty="0"/>
          </a:p>
        </p:txBody>
      </p:sp>
      <p:sp>
        <p:nvSpPr>
          <p:cNvPr id="70" name="Text 68"/>
          <p:cNvSpPr txBox="1"/>
          <p:nvPr/>
        </p:nvSpPr>
        <p:spPr>
          <a:xfrm>
            <a:off x="6035040" y="4645152"/>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Feature store</a:t>
            </a:r>
            <a:endParaRPr lang="en-US" sz="900" dirty="0"/>
          </a:p>
        </p:txBody>
      </p:sp>
      <p:sp>
        <p:nvSpPr>
          <p:cNvPr id="71" name="Shape 69"/>
          <p:cNvSpPr/>
          <p:nvPr/>
        </p:nvSpPr>
        <p:spPr>
          <a:xfrm>
            <a:off x="7872984" y="4242816"/>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72" name="Text 70"/>
          <p:cNvSpPr txBox="1"/>
          <p:nvPr/>
        </p:nvSpPr>
        <p:spPr>
          <a:xfrm>
            <a:off x="7964424" y="4370832"/>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Trending</a:t>
            </a:r>
            <a:endParaRPr lang="en-US" sz="1080" dirty="0"/>
          </a:p>
        </p:txBody>
      </p:sp>
      <p:sp>
        <p:nvSpPr>
          <p:cNvPr id="73" name="Text 71"/>
          <p:cNvSpPr txBox="1"/>
          <p:nvPr/>
        </p:nvSpPr>
        <p:spPr>
          <a:xfrm>
            <a:off x="7927848" y="4645152"/>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Rolling windows</a:t>
            </a:r>
            <a:endParaRPr lang="en-US" sz="900" dirty="0"/>
          </a:p>
        </p:txBody>
      </p:sp>
      <p:sp>
        <p:nvSpPr>
          <p:cNvPr id="74" name="Shape 72"/>
          <p:cNvSpPr/>
          <p:nvPr/>
        </p:nvSpPr>
        <p:spPr>
          <a:xfrm>
            <a:off x="9765792" y="4242816"/>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75" name="Text 73"/>
          <p:cNvSpPr txBox="1"/>
          <p:nvPr/>
        </p:nvSpPr>
        <p:spPr>
          <a:xfrm>
            <a:off x="9857232" y="4370832"/>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Feedback loop</a:t>
            </a:r>
            <a:endParaRPr lang="en-US" sz="1080" dirty="0"/>
          </a:p>
        </p:txBody>
      </p:sp>
      <p:sp>
        <p:nvSpPr>
          <p:cNvPr id="76" name="Text 74"/>
          <p:cNvSpPr txBox="1"/>
          <p:nvPr/>
        </p:nvSpPr>
        <p:spPr>
          <a:xfrm>
            <a:off x="9820656" y="4645152"/>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Editor overrides</a:t>
            </a:r>
            <a:endParaRPr lang="en-US" sz="900" dirty="0"/>
          </a:p>
        </p:txBody>
      </p:sp>
      <p:sp>
        <p:nvSpPr>
          <p:cNvPr id="77" name="Shape 75"/>
          <p:cNvSpPr/>
          <p:nvPr/>
        </p:nvSpPr>
        <p:spPr>
          <a:xfrm>
            <a:off x="566928" y="5120640"/>
            <a:ext cx="1481328" cy="768096"/>
          </a:xfrm>
          <a:prstGeom prst="roundRect">
            <a:avLst>
              <a:gd name="adj" fmla="val 9524"/>
            </a:avLst>
          </a:prstGeom>
          <a:solidFill>
            <a:srgbClr val="5A6B87"/>
          </a:solidFill>
          <a:ln/>
        </p:spPr>
        <p:txBody>
          <a:bodyPr/>
          <a:lstStyle/>
          <a:p>
            <a:endParaRPr lang="en-AE"/>
          </a:p>
        </p:txBody>
      </p:sp>
      <p:sp>
        <p:nvSpPr>
          <p:cNvPr id="78" name="Text 76"/>
          <p:cNvSpPr txBox="1"/>
          <p:nvPr/>
        </p:nvSpPr>
        <p:spPr>
          <a:xfrm>
            <a:off x="566928" y="5120640"/>
            <a:ext cx="1481328" cy="768096"/>
          </a:xfrm>
          <a:prstGeom prst="rect">
            <a:avLst/>
          </a:prstGeom>
          <a:noFill/>
          <a:ln/>
        </p:spPr>
        <p:txBody>
          <a:bodyPr wrap="square" lIns="0" tIns="0" rIns="0" bIns="0" rtlCol="0" anchor="ctr"/>
          <a:lstStyle/>
          <a:p>
            <a:pPr marL="0" indent="0" algn="ctr">
              <a:buNone/>
            </a:pPr>
            <a:r>
              <a:rPr lang="en-US" sz="920" b="1" kern="0" spc="100" dirty="0">
                <a:solidFill>
                  <a:srgbClr val="FFFFFF"/>
                </a:solidFill>
                <a:latin typeface="Calibri" pitchFamily="34" charset="0"/>
                <a:ea typeface="Calibri" pitchFamily="34" charset="-122"/>
                <a:cs typeface="Calibri" pitchFamily="34" charset="-120"/>
              </a:rPr>
              <a:t>DATA</a:t>
            </a:r>
            <a:endParaRPr lang="en-US" sz="920" dirty="0"/>
          </a:p>
        </p:txBody>
      </p:sp>
      <p:sp>
        <p:nvSpPr>
          <p:cNvPr id="79" name="Shape 77"/>
          <p:cNvSpPr/>
          <p:nvPr/>
        </p:nvSpPr>
        <p:spPr>
          <a:xfrm>
            <a:off x="2194560" y="5120640"/>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80" name="Text 78"/>
          <p:cNvSpPr txBox="1"/>
          <p:nvPr/>
        </p:nvSpPr>
        <p:spPr>
          <a:xfrm>
            <a:off x="2286000" y="5248656"/>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PostgreSQL</a:t>
            </a:r>
            <a:endParaRPr lang="en-US" sz="1080" dirty="0"/>
          </a:p>
        </p:txBody>
      </p:sp>
      <p:sp>
        <p:nvSpPr>
          <p:cNvPr id="81" name="Text 79"/>
          <p:cNvSpPr txBox="1"/>
          <p:nvPr/>
        </p:nvSpPr>
        <p:spPr>
          <a:xfrm>
            <a:off x="2249424" y="5522976"/>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Source of truth</a:t>
            </a:r>
            <a:endParaRPr lang="en-US" sz="900" dirty="0"/>
          </a:p>
        </p:txBody>
      </p:sp>
      <p:sp>
        <p:nvSpPr>
          <p:cNvPr id="82" name="Shape 80"/>
          <p:cNvSpPr/>
          <p:nvPr/>
        </p:nvSpPr>
        <p:spPr>
          <a:xfrm>
            <a:off x="4087368" y="5120640"/>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83" name="Text 81"/>
          <p:cNvSpPr txBox="1"/>
          <p:nvPr/>
        </p:nvSpPr>
        <p:spPr>
          <a:xfrm>
            <a:off x="4178808" y="5248656"/>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Redis</a:t>
            </a:r>
            <a:endParaRPr lang="en-US" sz="1080" dirty="0"/>
          </a:p>
        </p:txBody>
      </p:sp>
      <p:sp>
        <p:nvSpPr>
          <p:cNvPr id="84" name="Text 82"/>
          <p:cNvSpPr txBox="1"/>
          <p:nvPr/>
        </p:nvSpPr>
        <p:spPr>
          <a:xfrm>
            <a:off x="4142232" y="5522976"/>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Cache · sessions</a:t>
            </a:r>
            <a:endParaRPr lang="en-US" sz="900" dirty="0"/>
          </a:p>
        </p:txBody>
      </p:sp>
      <p:sp>
        <p:nvSpPr>
          <p:cNvPr id="85" name="Shape 83"/>
          <p:cNvSpPr/>
          <p:nvPr/>
        </p:nvSpPr>
        <p:spPr>
          <a:xfrm>
            <a:off x="5980176" y="5120640"/>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86" name="Text 84"/>
          <p:cNvSpPr txBox="1"/>
          <p:nvPr/>
        </p:nvSpPr>
        <p:spPr>
          <a:xfrm>
            <a:off x="6071616" y="5248656"/>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OpenSearch</a:t>
            </a:r>
            <a:endParaRPr lang="en-US" sz="1080" dirty="0"/>
          </a:p>
        </p:txBody>
      </p:sp>
      <p:sp>
        <p:nvSpPr>
          <p:cNvPr id="87" name="Text 85"/>
          <p:cNvSpPr txBox="1"/>
          <p:nvPr/>
        </p:nvSpPr>
        <p:spPr>
          <a:xfrm>
            <a:off x="6035040" y="5522976"/>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Full-text · bilingual</a:t>
            </a:r>
            <a:endParaRPr lang="en-US" sz="900" dirty="0"/>
          </a:p>
        </p:txBody>
      </p:sp>
      <p:sp>
        <p:nvSpPr>
          <p:cNvPr id="88" name="Shape 86"/>
          <p:cNvSpPr/>
          <p:nvPr/>
        </p:nvSpPr>
        <p:spPr>
          <a:xfrm>
            <a:off x="7872984" y="5120640"/>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89" name="Text 87"/>
          <p:cNvSpPr txBox="1"/>
          <p:nvPr/>
        </p:nvSpPr>
        <p:spPr>
          <a:xfrm>
            <a:off x="7964424" y="5248656"/>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Object storage</a:t>
            </a:r>
            <a:endParaRPr lang="en-US" sz="1080" dirty="0"/>
          </a:p>
        </p:txBody>
      </p:sp>
      <p:sp>
        <p:nvSpPr>
          <p:cNvPr id="90" name="Text 88"/>
          <p:cNvSpPr txBox="1"/>
          <p:nvPr/>
        </p:nvSpPr>
        <p:spPr>
          <a:xfrm>
            <a:off x="7927848" y="5522976"/>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Media · backups</a:t>
            </a:r>
            <a:endParaRPr lang="en-US" sz="900" dirty="0"/>
          </a:p>
        </p:txBody>
      </p:sp>
      <p:sp>
        <p:nvSpPr>
          <p:cNvPr id="91" name="Shape 89"/>
          <p:cNvSpPr/>
          <p:nvPr/>
        </p:nvSpPr>
        <p:spPr>
          <a:xfrm>
            <a:off x="9765792" y="5120640"/>
            <a:ext cx="1773936" cy="768096"/>
          </a:xfrm>
          <a:prstGeom prst="roundRect">
            <a:avLst>
              <a:gd name="adj" fmla="val 9524"/>
            </a:avLst>
          </a:prstGeom>
          <a:solidFill>
            <a:srgbClr val="F4F7FC"/>
          </a:solidFill>
          <a:ln w="12700">
            <a:solidFill>
              <a:srgbClr val="DFE6F0"/>
            </a:solidFill>
            <a:prstDash val="solid"/>
          </a:ln>
        </p:spPr>
        <p:txBody>
          <a:bodyPr/>
          <a:lstStyle/>
          <a:p>
            <a:endParaRPr lang="en-AE"/>
          </a:p>
        </p:txBody>
      </p:sp>
      <p:sp>
        <p:nvSpPr>
          <p:cNvPr id="92" name="Text 90"/>
          <p:cNvSpPr txBox="1"/>
          <p:nvPr/>
        </p:nvSpPr>
        <p:spPr>
          <a:xfrm>
            <a:off x="9857232" y="5248656"/>
            <a:ext cx="1591056" cy="256032"/>
          </a:xfrm>
          <a:prstGeom prst="rect">
            <a:avLst/>
          </a:prstGeom>
          <a:noFill/>
          <a:ln/>
        </p:spPr>
        <p:txBody>
          <a:bodyPr wrap="square" lIns="0" tIns="0" rIns="0" bIns="0" rtlCol="0" anchor="ctr"/>
          <a:lstStyle/>
          <a:p>
            <a:pPr marL="0" indent="0" algn="ctr">
              <a:buNone/>
            </a:pPr>
            <a:r>
              <a:rPr lang="en-US" sz="1080" b="1" dirty="0">
                <a:solidFill>
                  <a:srgbClr val="0F1E3D"/>
                </a:solidFill>
                <a:latin typeface="Calibri" pitchFamily="34" charset="0"/>
                <a:ea typeface="Calibri" pitchFamily="34" charset="-122"/>
                <a:cs typeface="Calibri" pitchFamily="34" charset="-120"/>
              </a:rPr>
              <a:t>Warehouse</a:t>
            </a:r>
            <a:endParaRPr lang="en-US" sz="1080" dirty="0"/>
          </a:p>
        </p:txBody>
      </p:sp>
      <p:sp>
        <p:nvSpPr>
          <p:cNvPr id="93" name="Text 91"/>
          <p:cNvSpPr txBox="1"/>
          <p:nvPr/>
        </p:nvSpPr>
        <p:spPr>
          <a:xfrm>
            <a:off x="9820656" y="5522976"/>
            <a:ext cx="1664208" cy="256032"/>
          </a:xfrm>
          <a:prstGeom prst="rect">
            <a:avLst/>
          </a:prstGeom>
          <a:noFill/>
          <a:ln/>
        </p:spPr>
        <p:txBody>
          <a:bodyPr wrap="square" lIns="0" tIns="0" rIns="0" bIns="0" rtlCol="0" anchor="ctr"/>
          <a:lstStyle/>
          <a:p>
            <a:pPr marL="0" indent="0" algn="ctr">
              <a:buNone/>
            </a:pPr>
            <a:r>
              <a:rPr lang="en-US" sz="900" dirty="0">
                <a:solidFill>
                  <a:srgbClr val="77839B"/>
                </a:solidFill>
                <a:latin typeface="Calibri" pitchFamily="34" charset="0"/>
                <a:ea typeface="Calibri" pitchFamily="34" charset="-122"/>
                <a:cs typeface="Calibri" pitchFamily="34" charset="-120"/>
              </a:rPr>
              <a:t>Analytics</a:t>
            </a:r>
            <a:endParaRPr lang="en-US" sz="900" dirty="0"/>
          </a:p>
        </p:txBody>
      </p:sp>
      <p:sp>
        <p:nvSpPr>
          <p:cNvPr id="94" name="Shape 92"/>
          <p:cNvSpPr/>
          <p:nvPr/>
        </p:nvSpPr>
        <p:spPr>
          <a:xfrm>
            <a:off x="6035040" y="2395728"/>
            <a:ext cx="146304" cy="73152"/>
          </a:xfrm>
          <a:prstGeom prst="downArrow">
            <a:avLst/>
          </a:prstGeom>
          <a:solidFill>
            <a:srgbClr val="AEBACD"/>
          </a:solidFill>
          <a:ln/>
        </p:spPr>
        <p:txBody>
          <a:bodyPr/>
          <a:lstStyle/>
          <a:p>
            <a:endParaRPr lang="en-AE"/>
          </a:p>
        </p:txBody>
      </p:sp>
      <p:sp>
        <p:nvSpPr>
          <p:cNvPr id="95" name="Shape 93"/>
          <p:cNvSpPr/>
          <p:nvPr/>
        </p:nvSpPr>
        <p:spPr>
          <a:xfrm>
            <a:off x="6035040" y="3273552"/>
            <a:ext cx="146304" cy="73152"/>
          </a:xfrm>
          <a:prstGeom prst="downArrow">
            <a:avLst/>
          </a:prstGeom>
          <a:solidFill>
            <a:srgbClr val="AEBACD"/>
          </a:solidFill>
          <a:ln/>
        </p:spPr>
        <p:txBody>
          <a:bodyPr/>
          <a:lstStyle/>
          <a:p>
            <a:endParaRPr lang="en-AE"/>
          </a:p>
        </p:txBody>
      </p:sp>
      <p:sp>
        <p:nvSpPr>
          <p:cNvPr id="96" name="Shape 94"/>
          <p:cNvSpPr/>
          <p:nvPr/>
        </p:nvSpPr>
        <p:spPr>
          <a:xfrm>
            <a:off x="6035040" y="4151376"/>
            <a:ext cx="146304" cy="73152"/>
          </a:xfrm>
          <a:prstGeom prst="downArrow">
            <a:avLst/>
          </a:prstGeom>
          <a:solidFill>
            <a:srgbClr val="AEBACD"/>
          </a:solidFill>
          <a:ln/>
        </p:spPr>
        <p:txBody>
          <a:bodyPr/>
          <a:lstStyle/>
          <a:p>
            <a:endParaRPr lang="en-AE"/>
          </a:p>
        </p:txBody>
      </p:sp>
      <p:sp>
        <p:nvSpPr>
          <p:cNvPr id="97" name="Shape 95"/>
          <p:cNvSpPr/>
          <p:nvPr/>
        </p:nvSpPr>
        <p:spPr>
          <a:xfrm>
            <a:off x="6035040" y="5029200"/>
            <a:ext cx="146304" cy="73152"/>
          </a:xfrm>
          <a:prstGeom prst="downArrow">
            <a:avLst/>
          </a:prstGeom>
          <a:solidFill>
            <a:srgbClr val="AEBACD"/>
          </a:solidFill>
          <a:ln/>
        </p:spPr>
        <p:txBody>
          <a:bodyPr/>
          <a:lstStyle/>
          <a:p>
            <a:endParaRPr lang="en-AE"/>
          </a:p>
        </p:txBody>
      </p:sp>
      <p:sp>
        <p:nvSpPr>
          <p:cNvPr id="98" name="Text 96"/>
          <p:cNvSpPr txBox="1"/>
          <p:nvPr/>
        </p:nvSpPr>
        <p:spPr>
          <a:xfrm>
            <a:off x="566928" y="5998464"/>
            <a:ext cx="11057839" cy="256032"/>
          </a:xfrm>
          <a:prstGeom prst="rect">
            <a:avLst/>
          </a:prstGeom>
          <a:noFill/>
          <a:ln/>
        </p:spPr>
        <p:txBody>
          <a:bodyPr wrap="square" lIns="0" tIns="0" rIns="0" bIns="0" rtlCol="0" anchor="ctr"/>
          <a:lstStyle/>
          <a:p>
            <a:pPr marL="0" indent="0">
              <a:buNone/>
            </a:pPr>
            <a:r>
              <a:rPr lang="en-US" sz="1080" dirty="0">
                <a:solidFill>
                  <a:srgbClr val="77839B"/>
                </a:solidFill>
                <a:latin typeface="Calibri" pitchFamily="34" charset="0"/>
                <a:ea typeface="Calibri" pitchFamily="34" charset="-122"/>
                <a:cs typeface="Calibri" pitchFamily="34" charset="-120"/>
              </a:rPr>
              <a:t>Every layer is deployed independently, so the app can ship while the intelligence layer is still being tuned.</a:t>
            </a:r>
            <a:endParaRPr lang="en-US"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03 · TECHNOLOGY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Technology stack</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Chosen for hiring depth and long-term maintainability, not novelty.</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18</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45952" cy="3950208"/>
        </p:xfrm>
        <a:graphic>
          <a:graphicData uri="http://schemas.openxmlformats.org/drawingml/2006/table">
            <a:tbl>
              <a:tblPr/>
              <a:tblGrid>
                <a:gridCol w="18745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685032">
                  <a:extLst>
                    <a:ext uri="{9D8B030D-6E8A-4147-A177-3AD203B41FA5}">
                      <a16:colId xmlns:a16="http://schemas.microsoft.com/office/drawing/2014/main" val="20003"/>
                    </a:ext>
                  </a:extLst>
                </a:gridCol>
              </a:tblGrid>
              <a:tr h="438912">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Layer</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Choice</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Why this one</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Alternative considered</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extLst>
                  <a:ext uri="{0D108BD9-81ED-4DB2-BD59-A6C34878D82A}">
                    <a16:rowId xmlns:a16="http://schemas.microsoft.com/office/drawing/2014/main" val="10000"/>
                  </a:ext>
                </a:extLst>
              </a:tr>
              <a:tr h="438912">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Mobile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Flutter 3.x</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One codebase for iOS and Android at near-native performance; large Indian talent pool</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React Native — weaker on list performance at feed scale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1"/>
                  </a:ext>
                </a:extLst>
              </a:tr>
              <a:tr h="438912">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Web</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Next.js 14 + React 18</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Server rendering for SEO, which matters enormously for a news publisher</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Pure SPA — would cost you search traffic</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Backend</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Node.js + TypeScript</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Shared types with the web client; fast iteration; easy to hire for</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Go — faster, but slower to build and staff</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3"/>
                  </a:ext>
                </a:extLst>
              </a:tr>
              <a:tr h="438912">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Database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PostgreSQL 16</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Relational integrity for stories, users and billing, with JSON where useful</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MongoDB — weaker for billing and reporting</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Cache &amp; queues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Redis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Feed caching, sessions, rate limits and job queues in one dependency</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Memcached — no queues or data structures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5"/>
                  </a:ext>
                </a:extLst>
              </a:tr>
              <a:tr h="438912">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Search</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OpenSearch</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Bilingual analysers for Kannada and English; faceting and typo tolerance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Postgres FTS — insufficient for Kannada</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AI inference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Groq-hosted LLM</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Sub-second classification at low cost per story; abstracted behind our own interface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Self-hosted — more control, more ops burden</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7"/>
                  </a:ext>
                </a:extLst>
              </a:tr>
              <a:tr h="438912">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Media &amp; CDN</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Object storage + Cloudflare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Cheap image and video delivery, format and size optimised automatically</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Origin serving — slower and costlier at scale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0" name="Text 7"/>
          <p:cNvSpPr txBox="1"/>
          <p:nvPr/>
        </p:nvSpPr>
        <p:spPr>
          <a:xfrm>
            <a:off x="566928" y="5760720"/>
            <a:ext cx="11057839"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Every choice is mainstream and well documented, so News Karnataka is never dependent on one vendor or one developer.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03 · TECHNOLOGY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Infrastructure, DevOps &amp; scale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Built to hold a traffic spike on election night without a phone call.</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19</a:t>
            </a:r>
            <a:endParaRPr lang="en-US" sz="1050" dirty="0"/>
          </a:p>
        </p:txBody>
      </p:sp>
      <p:sp>
        <p:nvSpPr>
          <p:cNvPr id="9" name="Shape 7"/>
          <p:cNvSpPr/>
          <p:nvPr/>
        </p:nvSpPr>
        <p:spPr>
          <a:xfrm>
            <a:off x="566928" y="1591056"/>
            <a:ext cx="3529584" cy="1883664"/>
          </a:xfrm>
          <a:prstGeom prst="roundRect">
            <a:avLst>
              <a:gd name="adj" fmla="val 5825"/>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822960" y="1865376"/>
            <a:ext cx="402336" cy="402336"/>
          </a:xfrm>
          <a:prstGeom prst="ellipse">
            <a:avLst/>
          </a:prstGeom>
          <a:solidFill>
            <a:srgbClr val="0F1E3D"/>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918972" y="1965960"/>
            <a:ext cx="210312" cy="210312"/>
          </a:xfrm>
          <a:prstGeom prst="rect">
            <a:avLst/>
          </a:prstGeom>
        </p:spPr>
      </p:pic>
      <p:sp>
        <p:nvSpPr>
          <p:cNvPr id="12" name="Text 9"/>
          <p:cNvSpPr txBox="1"/>
          <p:nvPr/>
        </p:nvSpPr>
        <p:spPr>
          <a:xfrm>
            <a:off x="1371600" y="1847088"/>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Hosting</a:t>
            </a:r>
            <a:endParaRPr lang="en-US" sz="1450" dirty="0"/>
          </a:p>
        </p:txBody>
      </p:sp>
      <p:sp>
        <p:nvSpPr>
          <p:cNvPr id="13" name="Text 10"/>
          <p:cNvSpPr txBox="1"/>
          <p:nvPr/>
        </p:nvSpPr>
        <p:spPr>
          <a:xfrm>
            <a:off x="822960" y="2231136"/>
            <a:ext cx="3017520" cy="987552"/>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Containerised services on managed Kubernetes in an India region, for latency and data residency.</a:t>
            </a:r>
            <a:endParaRPr lang="en-US" sz="1100" dirty="0"/>
          </a:p>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Separate dev, staging and production from day one.</a:t>
            </a:r>
            <a:endParaRPr lang="en-US" sz="1100" dirty="0"/>
          </a:p>
        </p:txBody>
      </p:sp>
      <p:sp>
        <p:nvSpPr>
          <p:cNvPr id="14" name="Shape 11"/>
          <p:cNvSpPr/>
          <p:nvPr/>
        </p:nvSpPr>
        <p:spPr>
          <a:xfrm>
            <a:off x="4306824" y="1591056"/>
            <a:ext cx="3529584" cy="1883664"/>
          </a:xfrm>
          <a:prstGeom prst="roundRect">
            <a:avLst>
              <a:gd name="adj" fmla="val 5825"/>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5" name="Shape 12"/>
          <p:cNvSpPr/>
          <p:nvPr/>
        </p:nvSpPr>
        <p:spPr>
          <a:xfrm>
            <a:off x="4562856" y="1865376"/>
            <a:ext cx="402336" cy="402336"/>
          </a:xfrm>
          <a:prstGeom prst="ellipse">
            <a:avLst/>
          </a:prstGeom>
          <a:solidFill>
            <a:srgbClr val="0F1E3D"/>
          </a:solidFill>
          <a:ln/>
        </p:spPr>
        <p:txBody>
          <a:bodyPr/>
          <a:lstStyle/>
          <a:p>
            <a:endParaRPr lang="en-AE"/>
          </a:p>
        </p:txBody>
      </p:sp>
      <p:pic>
        <p:nvPicPr>
          <p:cNvPr id="16" name="Image 1" descr="preencoded.png"/>
          <p:cNvPicPr>
            <a:picLocks noChangeAspect="1"/>
          </p:cNvPicPr>
          <p:nvPr/>
        </p:nvPicPr>
        <p:blipFill>
          <a:blip r:embed="rId4"/>
          <a:stretch>
            <a:fillRect/>
          </a:stretch>
        </p:blipFill>
        <p:spPr>
          <a:xfrm>
            <a:off x="4658868" y="1965960"/>
            <a:ext cx="210312" cy="210312"/>
          </a:xfrm>
          <a:prstGeom prst="rect">
            <a:avLst/>
          </a:prstGeom>
        </p:spPr>
      </p:pic>
      <p:sp>
        <p:nvSpPr>
          <p:cNvPr id="17" name="Text 13"/>
          <p:cNvSpPr txBox="1"/>
          <p:nvPr/>
        </p:nvSpPr>
        <p:spPr>
          <a:xfrm>
            <a:off x="5111496" y="1847088"/>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Continuous delivery</a:t>
            </a:r>
            <a:endParaRPr lang="en-US" sz="1450" dirty="0"/>
          </a:p>
        </p:txBody>
      </p:sp>
      <p:sp>
        <p:nvSpPr>
          <p:cNvPr id="18" name="Text 14"/>
          <p:cNvSpPr txBox="1"/>
          <p:nvPr/>
        </p:nvSpPr>
        <p:spPr>
          <a:xfrm>
            <a:off x="4562856" y="2231136"/>
            <a:ext cx="3017520" cy="987552"/>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GitHub Actions pipelines with tests, linting and security scans on every pull request.</a:t>
            </a:r>
            <a:endParaRPr lang="en-US" sz="1100" dirty="0"/>
          </a:p>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One-command deploy and rollback; no manual server changes, ever.</a:t>
            </a:r>
            <a:endParaRPr lang="en-US" sz="1100" dirty="0"/>
          </a:p>
        </p:txBody>
      </p:sp>
      <p:sp>
        <p:nvSpPr>
          <p:cNvPr id="19" name="Shape 15"/>
          <p:cNvSpPr/>
          <p:nvPr/>
        </p:nvSpPr>
        <p:spPr>
          <a:xfrm>
            <a:off x="8046720" y="1591056"/>
            <a:ext cx="3529584" cy="1883664"/>
          </a:xfrm>
          <a:prstGeom prst="roundRect">
            <a:avLst>
              <a:gd name="adj" fmla="val 5825"/>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0" name="Shape 16"/>
          <p:cNvSpPr/>
          <p:nvPr/>
        </p:nvSpPr>
        <p:spPr>
          <a:xfrm>
            <a:off x="8302752" y="1865376"/>
            <a:ext cx="402336" cy="402336"/>
          </a:xfrm>
          <a:prstGeom prst="ellipse">
            <a:avLst/>
          </a:prstGeom>
          <a:solidFill>
            <a:srgbClr val="0F1E3D"/>
          </a:solidFill>
          <a:ln/>
        </p:spPr>
        <p:txBody>
          <a:bodyPr/>
          <a:lstStyle/>
          <a:p>
            <a:endParaRPr lang="en-AE"/>
          </a:p>
        </p:txBody>
      </p:sp>
      <p:pic>
        <p:nvPicPr>
          <p:cNvPr id="21" name="Image 2" descr="preencoded.png"/>
          <p:cNvPicPr>
            <a:picLocks noChangeAspect="1"/>
          </p:cNvPicPr>
          <p:nvPr/>
        </p:nvPicPr>
        <p:blipFill>
          <a:blip r:embed="rId5"/>
          <a:stretch>
            <a:fillRect/>
          </a:stretch>
        </p:blipFill>
        <p:spPr>
          <a:xfrm>
            <a:off x="8398764" y="1965960"/>
            <a:ext cx="210312" cy="210312"/>
          </a:xfrm>
          <a:prstGeom prst="rect">
            <a:avLst/>
          </a:prstGeom>
        </p:spPr>
      </p:pic>
      <p:sp>
        <p:nvSpPr>
          <p:cNvPr id="22" name="Text 17"/>
          <p:cNvSpPr txBox="1"/>
          <p:nvPr/>
        </p:nvSpPr>
        <p:spPr>
          <a:xfrm>
            <a:off x="8851392" y="1847088"/>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Scale &amp; elasticity</a:t>
            </a:r>
            <a:endParaRPr lang="en-US" sz="1450" dirty="0"/>
          </a:p>
        </p:txBody>
      </p:sp>
      <p:sp>
        <p:nvSpPr>
          <p:cNvPr id="23" name="Text 18"/>
          <p:cNvSpPr txBox="1"/>
          <p:nvPr/>
        </p:nvSpPr>
        <p:spPr>
          <a:xfrm>
            <a:off x="8302752" y="2231136"/>
            <a:ext cx="3017520" cy="987552"/>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Horizontal autoscaling on API and feed services; database read replicas.</a:t>
            </a:r>
            <a:endParaRPr lang="en-US" sz="1100" dirty="0"/>
          </a:p>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Feed and story caching, so a viral story is served from cache, not Postgres.</a:t>
            </a:r>
            <a:endParaRPr lang="en-US" sz="1100" dirty="0"/>
          </a:p>
        </p:txBody>
      </p:sp>
      <p:sp>
        <p:nvSpPr>
          <p:cNvPr id="24" name="Shape 19"/>
          <p:cNvSpPr/>
          <p:nvPr/>
        </p:nvSpPr>
        <p:spPr>
          <a:xfrm>
            <a:off x="566928" y="3639312"/>
            <a:ext cx="3529584" cy="1883664"/>
          </a:xfrm>
          <a:prstGeom prst="roundRect">
            <a:avLst>
              <a:gd name="adj" fmla="val 5825"/>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5" name="Shape 20"/>
          <p:cNvSpPr/>
          <p:nvPr/>
        </p:nvSpPr>
        <p:spPr>
          <a:xfrm>
            <a:off x="822960" y="3913632"/>
            <a:ext cx="402336" cy="402336"/>
          </a:xfrm>
          <a:prstGeom prst="ellipse">
            <a:avLst/>
          </a:prstGeom>
          <a:solidFill>
            <a:srgbClr val="C8102E"/>
          </a:solidFill>
          <a:ln/>
        </p:spPr>
        <p:txBody>
          <a:bodyPr/>
          <a:lstStyle/>
          <a:p>
            <a:endParaRPr lang="en-AE"/>
          </a:p>
        </p:txBody>
      </p:sp>
      <p:pic>
        <p:nvPicPr>
          <p:cNvPr id="26" name="Image 3" descr="preencoded.png"/>
          <p:cNvPicPr>
            <a:picLocks noChangeAspect="1"/>
          </p:cNvPicPr>
          <p:nvPr/>
        </p:nvPicPr>
        <p:blipFill>
          <a:blip r:embed="rId6"/>
          <a:stretch>
            <a:fillRect/>
          </a:stretch>
        </p:blipFill>
        <p:spPr>
          <a:xfrm>
            <a:off x="918972" y="4014216"/>
            <a:ext cx="210312" cy="210312"/>
          </a:xfrm>
          <a:prstGeom prst="rect">
            <a:avLst/>
          </a:prstGeom>
        </p:spPr>
      </p:pic>
      <p:sp>
        <p:nvSpPr>
          <p:cNvPr id="27" name="Text 21"/>
          <p:cNvSpPr txBox="1"/>
          <p:nvPr/>
        </p:nvSpPr>
        <p:spPr>
          <a:xfrm>
            <a:off x="1371600" y="3895344"/>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Observability</a:t>
            </a:r>
            <a:endParaRPr lang="en-US" sz="1450" dirty="0"/>
          </a:p>
        </p:txBody>
      </p:sp>
      <p:sp>
        <p:nvSpPr>
          <p:cNvPr id="28" name="Text 22"/>
          <p:cNvSpPr txBox="1"/>
          <p:nvPr/>
        </p:nvSpPr>
        <p:spPr>
          <a:xfrm>
            <a:off x="822960" y="4279392"/>
            <a:ext cx="3017520" cy="987552"/>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Central logs and metrics, with dashboards for latency, errors and queue depth.</a:t>
            </a:r>
            <a:endParaRPr lang="en-US" sz="1100" dirty="0"/>
          </a:p>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Sentry for crashes; uptime alerts to an on-call rota during hypercare.</a:t>
            </a:r>
            <a:endParaRPr lang="en-US" sz="1100" dirty="0"/>
          </a:p>
        </p:txBody>
      </p:sp>
      <p:sp>
        <p:nvSpPr>
          <p:cNvPr id="29" name="Shape 23"/>
          <p:cNvSpPr/>
          <p:nvPr/>
        </p:nvSpPr>
        <p:spPr>
          <a:xfrm>
            <a:off x="4306824" y="3639312"/>
            <a:ext cx="3529584" cy="1883664"/>
          </a:xfrm>
          <a:prstGeom prst="roundRect">
            <a:avLst>
              <a:gd name="adj" fmla="val 5825"/>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30" name="Shape 24"/>
          <p:cNvSpPr/>
          <p:nvPr/>
        </p:nvSpPr>
        <p:spPr>
          <a:xfrm>
            <a:off x="4562856" y="3913632"/>
            <a:ext cx="402336" cy="402336"/>
          </a:xfrm>
          <a:prstGeom prst="ellipse">
            <a:avLst/>
          </a:prstGeom>
          <a:solidFill>
            <a:srgbClr val="C8102E"/>
          </a:solidFill>
          <a:ln/>
        </p:spPr>
        <p:txBody>
          <a:bodyPr/>
          <a:lstStyle/>
          <a:p>
            <a:endParaRPr lang="en-AE"/>
          </a:p>
        </p:txBody>
      </p:sp>
      <p:pic>
        <p:nvPicPr>
          <p:cNvPr id="31" name="Image 4" descr="preencoded.png"/>
          <p:cNvPicPr>
            <a:picLocks noChangeAspect="1"/>
          </p:cNvPicPr>
          <p:nvPr/>
        </p:nvPicPr>
        <p:blipFill>
          <a:blip r:embed="rId7"/>
          <a:stretch>
            <a:fillRect/>
          </a:stretch>
        </p:blipFill>
        <p:spPr>
          <a:xfrm>
            <a:off x="4658868" y="4014216"/>
            <a:ext cx="210312" cy="210312"/>
          </a:xfrm>
          <a:prstGeom prst="rect">
            <a:avLst/>
          </a:prstGeom>
        </p:spPr>
      </p:pic>
      <p:sp>
        <p:nvSpPr>
          <p:cNvPr id="32" name="Text 25"/>
          <p:cNvSpPr txBox="1"/>
          <p:nvPr/>
        </p:nvSpPr>
        <p:spPr>
          <a:xfrm>
            <a:off x="5111496" y="3895344"/>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Backup &amp; recovery</a:t>
            </a:r>
            <a:endParaRPr lang="en-US" sz="1450" dirty="0"/>
          </a:p>
        </p:txBody>
      </p:sp>
      <p:sp>
        <p:nvSpPr>
          <p:cNvPr id="33" name="Text 26"/>
          <p:cNvSpPr txBox="1"/>
          <p:nvPr/>
        </p:nvSpPr>
        <p:spPr>
          <a:xfrm>
            <a:off x="4562856" y="4279392"/>
            <a:ext cx="3017520" cy="987552"/>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Daily backups with point-in-time recovery, rehearsed before launch not after an incident.</a:t>
            </a:r>
            <a:endParaRPr lang="en-US" sz="1100" dirty="0"/>
          </a:p>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RPO and RTO targets documented and agreed in week 2.</a:t>
            </a:r>
            <a:endParaRPr lang="en-US" sz="1100" dirty="0"/>
          </a:p>
        </p:txBody>
      </p:sp>
      <p:sp>
        <p:nvSpPr>
          <p:cNvPr id="34" name="Shape 27"/>
          <p:cNvSpPr/>
          <p:nvPr/>
        </p:nvSpPr>
        <p:spPr>
          <a:xfrm>
            <a:off x="8046720" y="3639312"/>
            <a:ext cx="3529584" cy="1883664"/>
          </a:xfrm>
          <a:prstGeom prst="roundRect">
            <a:avLst>
              <a:gd name="adj" fmla="val 5825"/>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35" name="Shape 28"/>
          <p:cNvSpPr/>
          <p:nvPr/>
        </p:nvSpPr>
        <p:spPr>
          <a:xfrm>
            <a:off x="8302752" y="3913632"/>
            <a:ext cx="402336" cy="402336"/>
          </a:xfrm>
          <a:prstGeom prst="ellipse">
            <a:avLst/>
          </a:prstGeom>
          <a:solidFill>
            <a:srgbClr val="C8102E"/>
          </a:solidFill>
          <a:ln/>
        </p:spPr>
        <p:txBody>
          <a:bodyPr/>
          <a:lstStyle/>
          <a:p>
            <a:endParaRPr lang="en-AE"/>
          </a:p>
        </p:txBody>
      </p:sp>
      <p:pic>
        <p:nvPicPr>
          <p:cNvPr id="36" name="Image 5" descr="preencoded.png"/>
          <p:cNvPicPr>
            <a:picLocks noChangeAspect="1"/>
          </p:cNvPicPr>
          <p:nvPr/>
        </p:nvPicPr>
        <p:blipFill>
          <a:blip r:embed="rId8"/>
          <a:stretch>
            <a:fillRect/>
          </a:stretch>
        </p:blipFill>
        <p:spPr>
          <a:xfrm>
            <a:off x="8398764" y="4014216"/>
            <a:ext cx="210312" cy="210312"/>
          </a:xfrm>
          <a:prstGeom prst="rect">
            <a:avLst/>
          </a:prstGeom>
        </p:spPr>
      </p:pic>
      <p:sp>
        <p:nvSpPr>
          <p:cNvPr id="37" name="Text 29"/>
          <p:cNvSpPr txBox="1"/>
          <p:nvPr/>
        </p:nvSpPr>
        <p:spPr>
          <a:xfrm>
            <a:off x="8851392" y="3895344"/>
            <a:ext cx="2468880" cy="292608"/>
          </a:xfrm>
          <a:prstGeom prst="rect">
            <a:avLst/>
          </a:prstGeom>
          <a:noFill/>
          <a:ln/>
        </p:spPr>
        <p:txBody>
          <a:bodyPr wrap="square" lIns="0" tIns="0" rIns="0" bIns="0" rtlCol="0" anchor="t"/>
          <a:lstStyle/>
          <a:p>
            <a:pPr marL="0" indent="0">
              <a:lnSpc>
                <a:spcPct val="95000"/>
              </a:lnSpc>
              <a:buNone/>
            </a:pPr>
            <a:r>
              <a:rPr lang="en-US" sz="1450" b="1" dirty="0">
                <a:solidFill>
                  <a:srgbClr val="0F1E3D"/>
                </a:solidFill>
                <a:latin typeface="Cambria" pitchFamily="34" charset="0"/>
                <a:ea typeface="Cambria" pitchFamily="34" charset="-122"/>
                <a:cs typeface="Cambria" pitchFamily="34" charset="-120"/>
              </a:rPr>
              <a:t>Handover</a:t>
            </a:r>
            <a:endParaRPr lang="en-US" sz="1450" dirty="0"/>
          </a:p>
        </p:txBody>
      </p:sp>
      <p:sp>
        <p:nvSpPr>
          <p:cNvPr id="38" name="Text 30"/>
          <p:cNvSpPr txBox="1"/>
          <p:nvPr/>
        </p:nvSpPr>
        <p:spPr>
          <a:xfrm>
            <a:off x="8302752" y="4279392"/>
            <a:ext cx="3017520" cy="987552"/>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All code in News Karnataka repositories; all infrastructure defined as code.</a:t>
            </a:r>
            <a:endParaRPr lang="en-US" sz="1100" dirty="0"/>
          </a:p>
          <a:p>
            <a:pPr marL="165100" indent="-165100">
              <a:lnSpc>
                <a:spcPct val="106000"/>
              </a:lnSpc>
              <a:spcAft>
                <a:spcPts val="400"/>
              </a:spcAft>
              <a:buSzPct val="100000"/>
              <a:buChar char="•"/>
            </a:pPr>
            <a:r>
              <a:rPr lang="en-US" sz="1100" dirty="0">
                <a:solidFill>
                  <a:srgbClr val="4A5568"/>
                </a:solidFill>
                <a:latin typeface="Calibri" pitchFamily="34" charset="0"/>
                <a:ea typeface="Calibri" pitchFamily="34" charset="-122"/>
                <a:cs typeface="Calibri" pitchFamily="34" charset="-120"/>
              </a:rPr>
              <a:t>Runbooks and architecture docs shipped with the build — no key-person risk.</a:t>
            </a:r>
            <a:endParaRPr lang="en-US" sz="1100" dirty="0"/>
          </a:p>
        </p:txBody>
      </p:sp>
      <p:sp>
        <p:nvSpPr>
          <p:cNvPr id="39" name="Text 31"/>
          <p:cNvSpPr txBox="1"/>
          <p:nvPr/>
        </p:nvSpPr>
        <p:spPr>
          <a:xfrm>
            <a:off x="566928" y="5724144"/>
            <a:ext cx="11057839" cy="274320"/>
          </a:xfrm>
          <a:prstGeom prst="rect">
            <a:avLst/>
          </a:prstGeom>
          <a:noFill/>
          <a:ln/>
        </p:spPr>
        <p:txBody>
          <a:bodyPr wrap="square" lIns="0" tIns="0" rIns="0" bIns="0" rtlCol="0" anchor="ctr"/>
          <a:lstStyle/>
          <a:p>
            <a:pPr marL="0" indent="0">
              <a:buNone/>
            </a:pPr>
            <a:r>
              <a:rPr lang="en-US" sz="1120" b="1" dirty="0">
                <a:solidFill>
                  <a:srgbClr val="0F1E3D"/>
                </a:solidFill>
                <a:latin typeface="Calibri" pitchFamily="34" charset="0"/>
                <a:ea typeface="Calibri" pitchFamily="34" charset="-122"/>
                <a:cs typeface="Calibri" pitchFamily="34" charset="-120"/>
              </a:rPr>
              <a:t>Note on cloud cost:  </a:t>
            </a:r>
            <a:r>
              <a:rPr lang="en-US" sz="1120" dirty="0">
                <a:solidFill>
                  <a:srgbClr val="4A5568"/>
                </a:solidFill>
                <a:latin typeface="Calibri" pitchFamily="34" charset="0"/>
                <a:ea typeface="Calibri" pitchFamily="34" charset="-122"/>
                <a:cs typeface="Calibri" pitchFamily="34" charset="-120"/>
              </a:rPr>
              <a:t>hosting, CDN, AI inference and app-store fees are billed to News Karnataka directly at cost and sit outside the build price. We size and forecast them in week 2.</a:t>
            </a:r>
            <a:endParaRPr lang="en-US" sz="11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03 · TECHNOLOGY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Security, privacy &amp; compliance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A digital news publisher carries obligations that a generic app does not.</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20</a:t>
            </a:r>
            <a:endParaRPr lang="en-US" sz="1050" dirty="0"/>
          </a:p>
        </p:txBody>
      </p:sp>
      <p:sp>
        <p:nvSpPr>
          <p:cNvPr id="9" name="Shape 7"/>
          <p:cNvSpPr/>
          <p:nvPr/>
        </p:nvSpPr>
        <p:spPr>
          <a:xfrm>
            <a:off x="566928" y="1719072"/>
            <a:ext cx="420624" cy="420624"/>
          </a:xfrm>
          <a:prstGeom prst="ellipse">
            <a:avLst/>
          </a:prstGeom>
          <a:solidFill>
            <a:srgbClr val="0F1E3D"/>
          </a:solidFill>
          <a:ln/>
        </p:spPr>
        <p:txBody>
          <a:bodyPr/>
          <a:lstStyle/>
          <a:p>
            <a:endParaRPr lang="en-AE"/>
          </a:p>
        </p:txBody>
      </p:sp>
      <p:pic>
        <p:nvPicPr>
          <p:cNvPr id="10" name="Image 0" descr="preencoded.png"/>
          <p:cNvPicPr>
            <a:picLocks noChangeAspect="1"/>
          </p:cNvPicPr>
          <p:nvPr/>
        </p:nvPicPr>
        <p:blipFill>
          <a:blip r:embed="rId3"/>
          <a:stretch>
            <a:fillRect/>
          </a:stretch>
        </p:blipFill>
        <p:spPr>
          <a:xfrm>
            <a:off x="672084" y="1824228"/>
            <a:ext cx="210312" cy="210312"/>
          </a:xfrm>
          <a:prstGeom prst="rect">
            <a:avLst/>
          </a:prstGeom>
        </p:spPr>
      </p:pic>
      <p:sp>
        <p:nvSpPr>
          <p:cNvPr id="11" name="Text 8"/>
          <p:cNvSpPr txBox="1"/>
          <p:nvPr/>
        </p:nvSpPr>
        <p:spPr>
          <a:xfrm>
            <a:off x="1133856" y="1700784"/>
            <a:ext cx="469087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Application security</a:t>
            </a:r>
            <a:endParaRPr lang="en-US" sz="1300" dirty="0"/>
          </a:p>
        </p:txBody>
      </p:sp>
      <p:sp>
        <p:nvSpPr>
          <p:cNvPr id="12" name="Text 9"/>
          <p:cNvSpPr txBox="1"/>
          <p:nvPr/>
        </p:nvSpPr>
        <p:spPr>
          <a:xfrm>
            <a:off x="1133856" y="1965960"/>
            <a:ext cx="4690872" cy="1078992"/>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TLS everywhere, encryption at rest, JWT sessions with refresh rotation, and OWASP Top 10 controls verified by automated scans plus a manual review in week 7.</a:t>
            </a:r>
            <a:endParaRPr lang="en-US" sz="1140" dirty="0"/>
          </a:p>
        </p:txBody>
      </p:sp>
      <p:sp>
        <p:nvSpPr>
          <p:cNvPr id="13" name="Shape 10"/>
          <p:cNvSpPr/>
          <p:nvPr/>
        </p:nvSpPr>
        <p:spPr>
          <a:xfrm>
            <a:off x="566928" y="3182112"/>
            <a:ext cx="420624" cy="420624"/>
          </a:xfrm>
          <a:prstGeom prst="ellipse">
            <a:avLst/>
          </a:prstGeom>
          <a:solidFill>
            <a:srgbClr val="0F1E3D"/>
          </a:solidFill>
          <a:ln/>
        </p:spPr>
        <p:txBody>
          <a:bodyPr/>
          <a:lstStyle/>
          <a:p>
            <a:endParaRPr lang="en-AE"/>
          </a:p>
        </p:txBody>
      </p:sp>
      <p:pic>
        <p:nvPicPr>
          <p:cNvPr id="14" name="Image 1" descr="preencoded.png"/>
          <p:cNvPicPr>
            <a:picLocks noChangeAspect="1"/>
          </p:cNvPicPr>
          <p:nvPr/>
        </p:nvPicPr>
        <p:blipFill>
          <a:blip r:embed="rId4"/>
          <a:stretch>
            <a:fillRect/>
          </a:stretch>
        </p:blipFill>
        <p:spPr>
          <a:xfrm>
            <a:off x="672084" y="3287268"/>
            <a:ext cx="210312" cy="210312"/>
          </a:xfrm>
          <a:prstGeom prst="rect">
            <a:avLst/>
          </a:prstGeom>
        </p:spPr>
      </p:pic>
      <p:sp>
        <p:nvSpPr>
          <p:cNvPr id="15" name="Text 11"/>
          <p:cNvSpPr txBox="1"/>
          <p:nvPr/>
        </p:nvSpPr>
        <p:spPr>
          <a:xfrm>
            <a:off x="1133856" y="3163824"/>
            <a:ext cx="469087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Access &amp; secrets</a:t>
            </a:r>
            <a:endParaRPr lang="en-US" sz="1300" dirty="0"/>
          </a:p>
        </p:txBody>
      </p:sp>
      <p:sp>
        <p:nvSpPr>
          <p:cNvPr id="16" name="Text 12"/>
          <p:cNvSpPr txBox="1"/>
          <p:nvPr/>
        </p:nvSpPr>
        <p:spPr>
          <a:xfrm>
            <a:off x="1133856" y="3429000"/>
            <a:ext cx="4690872" cy="1078992"/>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Least-privilege roles, no shared credentials, secrets held in a managed vault, and full audit logs on every console action.</a:t>
            </a:r>
            <a:endParaRPr lang="en-US" sz="1140" dirty="0"/>
          </a:p>
        </p:txBody>
      </p:sp>
      <p:sp>
        <p:nvSpPr>
          <p:cNvPr id="17" name="Shape 13"/>
          <p:cNvSpPr/>
          <p:nvPr/>
        </p:nvSpPr>
        <p:spPr>
          <a:xfrm>
            <a:off x="566928" y="4645152"/>
            <a:ext cx="420624" cy="420624"/>
          </a:xfrm>
          <a:prstGeom prst="ellipse">
            <a:avLst/>
          </a:prstGeom>
          <a:solidFill>
            <a:srgbClr val="0F1E3D"/>
          </a:solidFill>
          <a:ln/>
        </p:spPr>
        <p:txBody>
          <a:bodyPr/>
          <a:lstStyle/>
          <a:p>
            <a:endParaRPr lang="en-AE"/>
          </a:p>
        </p:txBody>
      </p:sp>
      <p:pic>
        <p:nvPicPr>
          <p:cNvPr id="18" name="Image 2" descr="preencoded.png"/>
          <p:cNvPicPr>
            <a:picLocks noChangeAspect="1"/>
          </p:cNvPicPr>
          <p:nvPr/>
        </p:nvPicPr>
        <p:blipFill>
          <a:blip r:embed="rId5"/>
          <a:stretch>
            <a:fillRect/>
          </a:stretch>
        </p:blipFill>
        <p:spPr>
          <a:xfrm>
            <a:off x="672084" y="4750308"/>
            <a:ext cx="210312" cy="210312"/>
          </a:xfrm>
          <a:prstGeom prst="rect">
            <a:avLst/>
          </a:prstGeom>
        </p:spPr>
      </p:pic>
      <p:sp>
        <p:nvSpPr>
          <p:cNvPr id="19" name="Text 14"/>
          <p:cNvSpPr txBox="1"/>
          <p:nvPr/>
        </p:nvSpPr>
        <p:spPr>
          <a:xfrm>
            <a:off x="1133856" y="4626864"/>
            <a:ext cx="469087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Abuse resistance</a:t>
            </a:r>
            <a:endParaRPr lang="en-US" sz="1300" dirty="0"/>
          </a:p>
        </p:txBody>
      </p:sp>
      <p:sp>
        <p:nvSpPr>
          <p:cNvPr id="20" name="Text 15"/>
          <p:cNvSpPr txBox="1"/>
          <p:nvPr/>
        </p:nvSpPr>
        <p:spPr>
          <a:xfrm>
            <a:off x="1133856" y="4892040"/>
            <a:ext cx="4690872" cy="1078992"/>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Rate limiting, bot detection, WAF rules and DDoS protection at the edge — a news site is a target on the days it matters most.</a:t>
            </a:r>
            <a:endParaRPr lang="en-US" sz="1140" dirty="0"/>
          </a:p>
        </p:txBody>
      </p:sp>
      <p:sp>
        <p:nvSpPr>
          <p:cNvPr id="21" name="Shape 16"/>
          <p:cNvSpPr/>
          <p:nvPr/>
        </p:nvSpPr>
        <p:spPr>
          <a:xfrm>
            <a:off x="6327648" y="1719072"/>
            <a:ext cx="420624" cy="420624"/>
          </a:xfrm>
          <a:prstGeom prst="ellipse">
            <a:avLst/>
          </a:prstGeom>
          <a:solidFill>
            <a:srgbClr val="C8102E"/>
          </a:solidFill>
          <a:ln/>
        </p:spPr>
        <p:txBody>
          <a:bodyPr/>
          <a:lstStyle/>
          <a:p>
            <a:endParaRPr lang="en-AE"/>
          </a:p>
        </p:txBody>
      </p:sp>
      <p:pic>
        <p:nvPicPr>
          <p:cNvPr id="22" name="Image 3" descr="preencoded.png"/>
          <p:cNvPicPr>
            <a:picLocks noChangeAspect="1"/>
          </p:cNvPicPr>
          <p:nvPr/>
        </p:nvPicPr>
        <p:blipFill>
          <a:blip r:embed="rId6"/>
          <a:stretch>
            <a:fillRect/>
          </a:stretch>
        </p:blipFill>
        <p:spPr>
          <a:xfrm>
            <a:off x="6432804" y="1824228"/>
            <a:ext cx="210312" cy="210312"/>
          </a:xfrm>
          <a:prstGeom prst="rect">
            <a:avLst/>
          </a:prstGeom>
        </p:spPr>
      </p:pic>
      <p:sp>
        <p:nvSpPr>
          <p:cNvPr id="23" name="Text 17"/>
          <p:cNvSpPr txBox="1"/>
          <p:nvPr/>
        </p:nvSpPr>
        <p:spPr>
          <a:xfrm>
            <a:off x="6894576" y="1700784"/>
            <a:ext cx="469087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DPDP Act readiness</a:t>
            </a:r>
            <a:endParaRPr lang="en-US" sz="1300" dirty="0"/>
          </a:p>
        </p:txBody>
      </p:sp>
      <p:sp>
        <p:nvSpPr>
          <p:cNvPr id="24" name="Text 18"/>
          <p:cNvSpPr txBox="1"/>
          <p:nvPr/>
        </p:nvSpPr>
        <p:spPr>
          <a:xfrm>
            <a:off x="6894576" y="1965960"/>
            <a:ext cx="4690872" cy="1078992"/>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Explicit consent capture, a stated purpose for every data field collected, data-minimisation by default, and self-service export and account deletion for readers.</a:t>
            </a:r>
            <a:endParaRPr lang="en-US" sz="1140" dirty="0"/>
          </a:p>
        </p:txBody>
      </p:sp>
      <p:sp>
        <p:nvSpPr>
          <p:cNvPr id="25" name="Shape 19"/>
          <p:cNvSpPr/>
          <p:nvPr/>
        </p:nvSpPr>
        <p:spPr>
          <a:xfrm>
            <a:off x="6327648" y="3182112"/>
            <a:ext cx="420624" cy="420624"/>
          </a:xfrm>
          <a:prstGeom prst="ellipse">
            <a:avLst/>
          </a:prstGeom>
          <a:solidFill>
            <a:srgbClr val="C8102E"/>
          </a:solidFill>
          <a:ln/>
        </p:spPr>
        <p:txBody>
          <a:bodyPr/>
          <a:lstStyle/>
          <a:p>
            <a:endParaRPr lang="en-AE"/>
          </a:p>
        </p:txBody>
      </p:sp>
      <p:pic>
        <p:nvPicPr>
          <p:cNvPr id="26" name="Image 4" descr="preencoded.png"/>
          <p:cNvPicPr>
            <a:picLocks noChangeAspect="1"/>
          </p:cNvPicPr>
          <p:nvPr/>
        </p:nvPicPr>
        <p:blipFill>
          <a:blip r:embed="rId7"/>
          <a:stretch>
            <a:fillRect/>
          </a:stretch>
        </p:blipFill>
        <p:spPr>
          <a:xfrm>
            <a:off x="6432804" y="3287268"/>
            <a:ext cx="210312" cy="210312"/>
          </a:xfrm>
          <a:prstGeom prst="rect">
            <a:avLst/>
          </a:prstGeom>
        </p:spPr>
      </p:pic>
      <p:sp>
        <p:nvSpPr>
          <p:cNvPr id="27" name="Text 20"/>
          <p:cNvSpPr txBox="1"/>
          <p:nvPr/>
        </p:nvSpPr>
        <p:spPr>
          <a:xfrm>
            <a:off x="6894576" y="3163824"/>
            <a:ext cx="469087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IT Rules obligations</a:t>
            </a:r>
            <a:endParaRPr lang="en-US" sz="1300" dirty="0"/>
          </a:p>
        </p:txBody>
      </p:sp>
      <p:sp>
        <p:nvSpPr>
          <p:cNvPr id="28" name="Text 21"/>
          <p:cNvSpPr txBox="1"/>
          <p:nvPr/>
        </p:nvSpPr>
        <p:spPr>
          <a:xfrm>
            <a:off x="6894576" y="3429000"/>
            <a:ext cx="4690872" cy="1078992"/>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Grievance officer contact surfaced in-app, a takedown and correction workflow with timestamps, and a comment-moderation audit trail that stands up to scrutiny.</a:t>
            </a:r>
            <a:endParaRPr lang="en-US" sz="1140" dirty="0"/>
          </a:p>
        </p:txBody>
      </p:sp>
      <p:sp>
        <p:nvSpPr>
          <p:cNvPr id="29" name="Shape 22"/>
          <p:cNvSpPr/>
          <p:nvPr/>
        </p:nvSpPr>
        <p:spPr>
          <a:xfrm>
            <a:off x="6327648" y="4645152"/>
            <a:ext cx="420624" cy="420624"/>
          </a:xfrm>
          <a:prstGeom prst="ellipse">
            <a:avLst/>
          </a:prstGeom>
          <a:solidFill>
            <a:srgbClr val="C8102E"/>
          </a:solidFill>
          <a:ln/>
        </p:spPr>
        <p:txBody>
          <a:bodyPr/>
          <a:lstStyle/>
          <a:p>
            <a:endParaRPr lang="en-AE"/>
          </a:p>
        </p:txBody>
      </p:sp>
      <p:pic>
        <p:nvPicPr>
          <p:cNvPr id="30" name="Image 5" descr="preencoded.png"/>
          <p:cNvPicPr>
            <a:picLocks noChangeAspect="1"/>
          </p:cNvPicPr>
          <p:nvPr/>
        </p:nvPicPr>
        <p:blipFill>
          <a:blip r:embed="rId8"/>
          <a:stretch>
            <a:fillRect/>
          </a:stretch>
        </p:blipFill>
        <p:spPr>
          <a:xfrm>
            <a:off x="6432804" y="4750308"/>
            <a:ext cx="210312" cy="210312"/>
          </a:xfrm>
          <a:prstGeom prst="rect">
            <a:avLst/>
          </a:prstGeom>
        </p:spPr>
      </p:pic>
      <p:sp>
        <p:nvSpPr>
          <p:cNvPr id="31" name="Text 23"/>
          <p:cNvSpPr txBox="1"/>
          <p:nvPr/>
        </p:nvSpPr>
        <p:spPr>
          <a:xfrm>
            <a:off x="6894576" y="4626864"/>
            <a:ext cx="4690872"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Editorial integrity in the product</a:t>
            </a:r>
            <a:endParaRPr lang="en-US" sz="1300" dirty="0"/>
          </a:p>
        </p:txBody>
      </p:sp>
      <p:sp>
        <p:nvSpPr>
          <p:cNvPr id="32" name="Text 24"/>
          <p:cNvSpPr txBox="1"/>
          <p:nvPr/>
        </p:nvSpPr>
        <p:spPr>
          <a:xfrm>
            <a:off x="6894576" y="4892040"/>
            <a:ext cx="4690872" cy="1078992"/>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Visible corrections on updated stories, clear sponsored-content labelling, and bylines and timestamps on every article — your published policies, enforced by the UI.</a:t>
            </a:r>
            <a:endParaRPr lang="en-US" sz="1140" dirty="0"/>
          </a:p>
        </p:txBody>
      </p:sp>
      <p:sp>
        <p:nvSpPr>
          <p:cNvPr id="33" name="Shape 25"/>
          <p:cNvSpPr/>
          <p:nvPr/>
        </p:nvSpPr>
        <p:spPr>
          <a:xfrm>
            <a:off x="566928" y="5779008"/>
            <a:ext cx="11057839" cy="475488"/>
          </a:xfrm>
          <a:prstGeom prst="roundRect">
            <a:avLst>
              <a:gd name="adj" fmla="val 15385"/>
            </a:avLst>
          </a:prstGeom>
          <a:solidFill>
            <a:srgbClr val="F4F7FC"/>
          </a:solidFill>
          <a:ln/>
        </p:spPr>
        <p:txBody>
          <a:bodyPr/>
          <a:lstStyle/>
          <a:p>
            <a:endParaRPr lang="en-AE"/>
          </a:p>
        </p:txBody>
      </p:sp>
      <p:sp>
        <p:nvSpPr>
          <p:cNvPr id="34" name="Text 26"/>
          <p:cNvSpPr txBox="1"/>
          <p:nvPr/>
        </p:nvSpPr>
        <p:spPr>
          <a:xfrm>
            <a:off x="841248" y="5779008"/>
            <a:ext cx="10509199" cy="47548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We build to these requirements as engineering practice. Final legal sign-off on privacy policy, consent wording and grievance process rests with your counsel — we provide the technical implementation and the documentation they will ask for.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03 · TECHNOLOGY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Performance targets &amp; service levels</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Numbers we commit to and measure, not aspirations.</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21</a:t>
            </a:r>
            <a:endParaRPr lang="en-US" sz="1050" dirty="0"/>
          </a:p>
        </p:txBody>
      </p:sp>
      <p:sp>
        <p:nvSpPr>
          <p:cNvPr id="9" name="Shape 7"/>
          <p:cNvSpPr/>
          <p:nvPr/>
        </p:nvSpPr>
        <p:spPr>
          <a:xfrm>
            <a:off x="566928" y="1645920"/>
            <a:ext cx="2615184" cy="1591056"/>
          </a:xfrm>
          <a:prstGeom prst="roundRect">
            <a:avLst>
              <a:gd name="adj" fmla="val 689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Text 8"/>
          <p:cNvSpPr txBox="1"/>
          <p:nvPr/>
        </p:nvSpPr>
        <p:spPr>
          <a:xfrm>
            <a:off x="749808" y="1847088"/>
            <a:ext cx="2249424" cy="658368"/>
          </a:xfrm>
          <a:prstGeom prst="rect">
            <a:avLst/>
          </a:prstGeom>
          <a:noFill/>
          <a:ln/>
        </p:spPr>
        <p:txBody>
          <a:bodyPr wrap="square" lIns="0" tIns="0" rIns="0" bIns="0" rtlCol="0" anchor="ctr"/>
          <a:lstStyle/>
          <a:p>
            <a:pPr marL="0" indent="0" algn="ctr">
              <a:buNone/>
            </a:pPr>
            <a:r>
              <a:rPr lang="en-US" sz="3400" b="1" dirty="0">
                <a:solidFill>
                  <a:srgbClr val="C8102E"/>
                </a:solidFill>
                <a:latin typeface="Cambria" pitchFamily="34" charset="0"/>
                <a:ea typeface="Cambria" pitchFamily="34" charset="-122"/>
                <a:cs typeface="Cambria" pitchFamily="34" charset="-120"/>
              </a:rPr>
              <a:t>&lt; 2.0s</a:t>
            </a:r>
            <a:endParaRPr lang="en-US" sz="3400" dirty="0"/>
          </a:p>
        </p:txBody>
      </p:sp>
      <p:sp>
        <p:nvSpPr>
          <p:cNvPr id="11" name="Text 9"/>
          <p:cNvSpPr txBox="1"/>
          <p:nvPr/>
        </p:nvSpPr>
        <p:spPr>
          <a:xfrm>
            <a:off x="713232" y="2505456"/>
            <a:ext cx="2322576" cy="274320"/>
          </a:xfrm>
          <a:prstGeom prst="rect">
            <a:avLst/>
          </a:prstGeom>
          <a:noFill/>
          <a:ln/>
        </p:spPr>
        <p:txBody>
          <a:bodyPr wrap="square" lIns="0" tIns="0" rIns="0" bIns="0" rtlCol="0" anchor="t"/>
          <a:lstStyle/>
          <a:p>
            <a:pPr marL="0" indent="0" algn="ctr">
              <a:buNone/>
            </a:pPr>
            <a:r>
              <a:rPr lang="en-US" sz="1150" b="1" dirty="0">
                <a:solidFill>
                  <a:srgbClr val="0F1E3D"/>
                </a:solidFill>
                <a:latin typeface="Calibri" pitchFamily="34" charset="0"/>
                <a:ea typeface="Calibri" pitchFamily="34" charset="-122"/>
                <a:cs typeface="Calibri" pitchFamily="34" charset="-120"/>
              </a:rPr>
              <a:t>Cold app start</a:t>
            </a:r>
            <a:endParaRPr lang="en-US" sz="1150" dirty="0"/>
          </a:p>
        </p:txBody>
      </p:sp>
      <p:sp>
        <p:nvSpPr>
          <p:cNvPr id="12" name="Text 10"/>
          <p:cNvSpPr txBox="1"/>
          <p:nvPr/>
        </p:nvSpPr>
        <p:spPr>
          <a:xfrm>
            <a:off x="713232" y="2743200"/>
            <a:ext cx="2322576" cy="384048"/>
          </a:xfrm>
          <a:prstGeom prst="rect">
            <a:avLst/>
          </a:prstGeom>
          <a:noFill/>
          <a:ln/>
        </p:spPr>
        <p:txBody>
          <a:bodyPr wrap="square" lIns="0" tIns="0" rIns="0" bIns="0" rtlCol="0" anchor="t"/>
          <a:lstStyle/>
          <a:p>
            <a:pPr marL="0" indent="0" algn="ctr">
              <a:buNone/>
            </a:pPr>
            <a:r>
              <a:rPr lang="en-US" sz="980" dirty="0">
                <a:solidFill>
                  <a:srgbClr val="77839B"/>
                </a:solidFill>
                <a:latin typeface="Calibri" pitchFamily="34" charset="0"/>
                <a:ea typeface="Calibri" pitchFamily="34" charset="-122"/>
                <a:cs typeface="Calibri" pitchFamily="34" charset="-120"/>
              </a:rPr>
              <a:t>On a mid-range Android device</a:t>
            </a:r>
            <a:endParaRPr lang="en-US" sz="980" dirty="0"/>
          </a:p>
        </p:txBody>
      </p:sp>
      <p:sp>
        <p:nvSpPr>
          <p:cNvPr id="13" name="Shape 11"/>
          <p:cNvSpPr/>
          <p:nvPr/>
        </p:nvSpPr>
        <p:spPr>
          <a:xfrm>
            <a:off x="3392424" y="1645920"/>
            <a:ext cx="2615184" cy="1591056"/>
          </a:xfrm>
          <a:prstGeom prst="roundRect">
            <a:avLst>
              <a:gd name="adj" fmla="val 689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4" name="Text 12"/>
          <p:cNvSpPr txBox="1"/>
          <p:nvPr/>
        </p:nvSpPr>
        <p:spPr>
          <a:xfrm>
            <a:off x="3575304" y="1847088"/>
            <a:ext cx="2249424" cy="658368"/>
          </a:xfrm>
          <a:prstGeom prst="rect">
            <a:avLst/>
          </a:prstGeom>
          <a:noFill/>
          <a:ln/>
        </p:spPr>
        <p:txBody>
          <a:bodyPr wrap="square" lIns="0" tIns="0" rIns="0" bIns="0" rtlCol="0" anchor="ctr"/>
          <a:lstStyle/>
          <a:p>
            <a:pPr marL="0" indent="0" algn="ctr">
              <a:buNone/>
            </a:pPr>
            <a:r>
              <a:rPr lang="en-US" sz="3400" b="1" dirty="0">
                <a:solidFill>
                  <a:srgbClr val="0F1E3D"/>
                </a:solidFill>
                <a:latin typeface="Cambria" pitchFamily="34" charset="0"/>
                <a:ea typeface="Cambria" pitchFamily="34" charset="-122"/>
                <a:cs typeface="Cambria" pitchFamily="34" charset="-120"/>
              </a:rPr>
              <a:t>&lt; 1.5s</a:t>
            </a:r>
            <a:endParaRPr lang="en-US" sz="3400" dirty="0"/>
          </a:p>
        </p:txBody>
      </p:sp>
      <p:sp>
        <p:nvSpPr>
          <p:cNvPr id="15" name="Text 13"/>
          <p:cNvSpPr txBox="1"/>
          <p:nvPr/>
        </p:nvSpPr>
        <p:spPr>
          <a:xfrm>
            <a:off x="3538728" y="2505456"/>
            <a:ext cx="2322576" cy="274320"/>
          </a:xfrm>
          <a:prstGeom prst="rect">
            <a:avLst/>
          </a:prstGeom>
          <a:noFill/>
          <a:ln/>
        </p:spPr>
        <p:txBody>
          <a:bodyPr wrap="square" lIns="0" tIns="0" rIns="0" bIns="0" rtlCol="0" anchor="t"/>
          <a:lstStyle/>
          <a:p>
            <a:pPr marL="0" indent="0" algn="ctr">
              <a:buNone/>
            </a:pPr>
            <a:r>
              <a:rPr lang="en-US" sz="1150" b="1" dirty="0">
                <a:solidFill>
                  <a:srgbClr val="0F1E3D"/>
                </a:solidFill>
                <a:latin typeface="Calibri" pitchFamily="34" charset="0"/>
                <a:ea typeface="Calibri" pitchFamily="34" charset="-122"/>
                <a:cs typeface="Calibri" pitchFamily="34" charset="-120"/>
              </a:rPr>
              <a:t>Feed first paint</a:t>
            </a:r>
            <a:endParaRPr lang="en-US" sz="1150" dirty="0"/>
          </a:p>
        </p:txBody>
      </p:sp>
      <p:sp>
        <p:nvSpPr>
          <p:cNvPr id="16" name="Text 14"/>
          <p:cNvSpPr txBox="1"/>
          <p:nvPr/>
        </p:nvSpPr>
        <p:spPr>
          <a:xfrm>
            <a:off x="3538728" y="2743200"/>
            <a:ext cx="2322576" cy="384048"/>
          </a:xfrm>
          <a:prstGeom prst="rect">
            <a:avLst/>
          </a:prstGeom>
          <a:noFill/>
          <a:ln/>
        </p:spPr>
        <p:txBody>
          <a:bodyPr wrap="square" lIns="0" tIns="0" rIns="0" bIns="0" rtlCol="0" anchor="t"/>
          <a:lstStyle/>
          <a:p>
            <a:pPr marL="0" indent="0" algn="ctr">
              <a:buNone/>
            </a:pPr>
            <a:r>
              <a:rPr lang="en-US" sz="980" dirty="0">
                <a:solidFill>
                  <a:srgbClr val="77839B"/>
                </a:solidFill>
                <a:latin typeface="Calibri" pitchFamily="34" charset="0"/>
                <a:ea typeface="Calibri" pitchFamily="34" charset="-122"/>
                <a:cs typeface="Calibri" pitchFamily="34" charset="-120"/>
              </a:rPr>
              <a:t>From cache on repeat opens</a:t>
            </a:r>
            <a:endParaRPr lang="en-US" sz="980" dirty="0"/>
          </a:p>
        </p:txBody>
      </p:sp>
      <p:sp>
        <p:nvSpPr>
          <p:cNvPr id="17" name="Shape 15"/>
          <p:cNvSpPr/>
          <p:nvPr/>
        </p:nvSpPr>
        <p:spPr>
          <a:xfrm>
            <a:off x="6217920" y="1645920"/>
            <a:ext cx="2615184" cy="1591056"/>
          </a:xfrm>
          <a:prstGeom prst="roundRect">
            <a:avLst>
              <a:gd name="adj" fmla="val 689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8" name="Text 16"/>
          <p:cNvSpPr txBox="1"/>
          <p:nvPr/>
        </p:nvSpPr>
        <p:spPr>
          <a:xfrm>
            <a:off x="6400800" y="1847088"/>
            <a:ext cx="2249424" cy="658368"/>
          </a:xfrm>
          <a:prstGeom prst="rect">
            <a:avLst/>
          </a:prstGeom>
          <a:noFill/>
          <a:ln/>
        </p:spPr>
        <p:txBody>
          <a:bodyPr wrap="square" lIns="0" tIns="0" rIns="0" bIns="0" rtlCol="0" anchor="ctr"/>
          <a:lstStyle/>
          <a:p>
            <a:pPr marL="0" indent="0" algn="ctr">
              <a:buNone/>
            </a:pPr>
            <a:r>
              <a:rPr lang="en-US" sz="3400" b="1" dirty="0">
                <a:solidFill>
                  <a:srgbClr val="C8102E"/>
                </a:solidFill>
                <a:latin typeface="Cambria" pitchFamily="34" charset="0"/>
                <a:ea typeface="Cambria" pitchFamily="34" charset="-122"/>
                <a:cs typeface="Cambria" pitchFamily="34" charset="-120"/>
              </a:rPr>
              <a:t>&lt; 300ms</a:t>
            </a:r>
            <a:endParaRPr lang="en-US" sz="3400" dirty="0"/>
          </a:p>
        </p:txBody>
      </p:sp>
      <p:sp>
        <p:nvSpPr>
          <p:cNvPr id="19" name="Text 17"/>
          <p:cNvSpPr txBox="1"/>
          <p:nvPr/>
        </p:nvSpPr>
        <p:spPr>
          <a:xfrm>
            <a:off x="6364224" y="2505456"/>
            <a:ext cx="2322576" cy="274320"/>
          </a:xfrm>
          <a:prstGeom prst="rect">
            <a:avLst/>
          </a:prstGeom>
          <a:noFill/>
          <a:ln/>
        </p:spPr>
        <p:txBody>
          <a:bodyPr wrap="square" lIns="0" tIns="0" rIns="0" bIns="0" rtlCol="0" anchor="t"/>
          <a:lstStyle/>
          <a:p>
            <a:pPr marL="0" indent="0" algn="ctr">
              <a:buNone/>
            </a:pPr>
            <a:r>
              <a:rPr lang="en-US" sz="1150" b="1" dirty="0">
                <a:solidFill>
                  <a:srgbClr val="0F1E3D"/>
                </a:solidFill>
                <a:latin typeface="Calibri" pitchFamily="34" charset="0"/>
                <a:ea typeface="Calibri" pitchFamily="34" charset="-122"/>
                <a:cs typeface="Calibri" pitchFamily="34" charset="-120"/>
              </a:rPr>
              <a:t>API p95 latency</a:t>
            </a:r>
            <a:endParaRPr lang="en-US" sz="1150" dirty="0"/>
          </a:p>
        </p:txBody>
      </p:sp>
      <p:sp>
        <p:nvSpPr>
          <p:cNvPr id="20" name="Text 18"/>
          <p:cNvSpPr txBox="1"/>
          <p:nvPr/>
        </p:nvSpPr>
        <p:spPr>
          <a:xfrm>
            <a:off x="6364224" y="2743200"/>
            <a:ext cx="2322576" cy="384048"/>
          </a:xfrm>
          <a:prstGeom prst="rect">
            <a:avLst/>
          </a:prstGeom>
          <a:noFill/>
          <a:ln/>
        </p:spPr>
        <p:txBody>
          <a:bodyPr wrap="square" lIns="0" tIns="0" rIns="0" bIns="0" rtlCol="0" anchor="t"/>
          <a:lstStyle/>
          <a:p>
            <a:pPr marL="0" indent="0" algn="ctr">
              <a:buNone/>
            </a:pPr>
            <a:r>
              <a:rPr lang="en-US" sz="980" dirty="0">
                <a:solidFill>
                  <a:srgbClr val="77839B"/>
                </a:solidFill>
                <a:latin typeface="Calibri" pitchFamily="34" charset="0"/>
                <a:ea typeface="Calibri" pitchFamily="34" charset="-122"/>
                <a:cs typeface="Calibri" pitchFamily="34" charset="-120"/>
              </a:rPr>
              <a:t>Feed and story endpoints</a:t>
            </a:r>
            <a:endParaRPr lang="en-US" sz="980" dirty="0"/>
          </a:p>
        </p:txBody>
      </p:sp>
      <p:sp>
        <p:nvSpPr>
          <p:cNvPr id="21" name="Shape 19"/>
          <p:cNvSpPr/>
          <p:nvPr/>
        </p:nvSpPr>
        <p:spPr>
          <a:xfrm>
            <a:off x="9043416" y="1645920"/>
            <a:ext cx="2615184" cy="1591056"/>
          </a:xfrm>
          <a:prstGeom prst="roundRect">
            <a:avLst>
              <a:gd name="adj" fmla="val 6897"/>
            </a:avLst>
          </a:prstGeom>
          <a:solidFill>
            <a:srgbClr val="0F1E3D"/>
          </a:solidFill>
          <a:ln/>
          <a:effectLst>
            <a:outerShdw blurRad="127000" dist="25400" dir="5400000" algn="bl" rotWithShape="0">
              <a:srgbClr val="0F1E3D">
                <a:alpha val="10000"/>
              </a:srgbClr>
            </a:outerShdw>
          </a:effectLst>
        </p:spPr>
        <p:txBody>
          <a:bodyPr/>
          <a:lstStyle/>
          <a:p>
            <a:endParaRPr lang="en-AE"/>
          </a:p>
        </p:txBody>
      </p:sp>
      <p:sp>
        <p:nvSpPr>
          <p:cNvPr id="22" name="Text 20"/>
          <p:cNvSpPr txBox="1"/>
          <p:nvPr/>
        </p:nvSpPr>
        <p:spPr>
          <a:xfrm>
            <a:off x="9226296" y="1847088"/>
            <a:ext cx="2249424" cy="658368"/>
          </a:xfrm>
          <a:prstGeom prst="rect">
            <a:avLst/>
          </a:prstGeom>
          <a:noFill/>
          <a:ln/>
        </p:spPr>
        <p:txBody>
          <a:bodyPr wrap="square" lIns="0" tIns="0" rIns="0" bIns="0" rtlCol="0" anchor="ctr"/>
          <a:lstStyle/>
          <a:p>
            <a:pPr marL="0" indent="0" algn="ctr">
              <a:buNone/>
            </a:pPr>
            <a:r>
              <a:rPr lang="en-US" sz="3400" b="1" dirty="0">
                <a:solidFill>
                  <a:srgbClr val="F0A81C"/>
                </a:solidFill>
                <a:latin typeface="Cambria" pitchFamily="34" charset="0"/>
                <a:ea typeface="Cambria" pitchFamily="34" charset="-122"/>
                <a:cs typeface="Cambria" pitchFamily="34" charset="-120"/>
              </a:rPr>
              <a:t>99.5%</a:t>
            </a:r>
            <a:endParaRPr lang="en-US" sz="3400" dirty="0"/>
          </a:p>
        </p:txBody>
      </p:sp>
      <p:sp>
        <p:nvSpPr>
          <p:cNvPr id="23" name="Text 21"/>
          <p:cNvSpPr txBox="1"/>
          <p:nvPr/>
        </p:nvSpPr>
        <p:spPr>
          <a:xfrm>
            <a:off x="9189720" y="2505456"/>
            <a:ext cx="2322576" cy="27432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Monthly uptime</a:t>
            </a:r>
            <a:endParaRPr lang="en-US" sz="1150" dirty="0"/>
          </a:p>
        </p:txBody>
      </p:sp>
      <p:sp>
        <p:nvSpPr>
          <p:cNvPr id="24" name="Text 22"/>
          <p:cNvSpPr txBox="1"/>
          <p:nvPr/>
        </p:nvSpPr>
        <p:spPr>
          <a:xfrm>
            <a:off x="9189720" y="2743200"/>
            <a:ext cx="2322576" cy="384048"/>
          </a:xfrm>
          <a:prstGeom prst="rect">
            <a:avLst/>
          </a:prstGeom>
          <a:noFill/>
          <a:ln/>
        </p:spPr>
        <p:txBody>
          <a:bodyPr wrap="square" lIns="0" tIns="0" rIns="0" bIns="0" rtlCol="0" anchor="t"/>
          <a:lstStyle/>
          <a:p>
            <a:pPr marL="0" indent="0" algn="ctr">
              <a:buNone/>
            </a:pPr>
            <a:r>
              <a:rPr lang="en-US" sz="980" dirty="0">
                <a:solidFill>
                  <a:srgbClr val="9DB0CE"/>
                </a:solidFill>
                <a:latin typeface="Calibri" pitchFamily="34" charset="0"/>
                <a:ea typeface="Calibri" pitchFamily="34" charset="-122"/>
                <a:cs typeface="Calibri" pitchFamily="34" charset="-120"/>
              </a:rPr>
              <a:t>Measured by external monitoring</a:t>
            </a:r>
            <a:endParaRPr lang="en-US" sz="98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3493008"/>
          <a:ext cx="11057839" cy="2286000"/>
        </p:xfrm>
        <a:graphic>
          <a:graphicData uri="http://schemas.openxmlformats.org/drawingml/2006/table">
            <a:tbl>
              <a:tblPr/>
              <a:tblGrid>
                <a:gridCol w="30175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45359">
                  <a:extLst>
                    <a:ext uri="{9D8B030D-6E8A-4147-A177-3AD203B41FA5}">
                      <a16:colId xmlns:a16="http://schemas.microsoft.com/office/drawing/2014/main" val="20003"/>
                    </a:ext>
                  </a:extLst>
                </a:gridCol>
              </a:tblGrid>
              <a:tr h="457200">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Load scenario</a:t>
                      </a:r>
                      <a:endParaRPr lang="en-US" sz="104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Target</a:t>
                      </a:r>
                      <a:endParaRPr lang="en-US" sz="104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How we get there</a:t>
                      </a:r>
                      <a:endParaRPr lang="en-US" sz="104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Verified</a:t>
                      </a:r>
                      <a:endParaRPr lang="en-US" sz="104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extLst>
                  <a:ext uri="{0D108BD9-81ED-4DB2-BD59-A6C34878D82A}">
                    <a16:rowId xmlns:a16="http://schemas.microsoft.com/office/drawing/2014/main" val="10000"/>
                  </a:ext>
                </a:extLst>
              </a:tr>
              <a:tr h="457200">
                <a:tc>
                  <a:txBody>
                    <a:bodyPr/>
                    <a:lstStyle/>
                    <a:p>
                      <a:pPr marL="0" indent="0" algn="l">
                        <a:buNone/>
                      </a:pPr>
                      <a:r>
                        <a:rPr lang="en-US" sz="1080" b="1" dirty="0">
                          <a:solidFill>
                            <a:srgbClr val="0F1E3D"/>
                          </a:solidFill>
                          <a:latin typeface="Calibri" pitchFamily="34" charset="0"/>
                          <a:ea typeface="Calibri" pitchFamily="34" charset="-122"/>
                          <a:cs typeface="Calibri" pitchFamily="34" charset="-120"/>
                        </a:rPr>
                        <a:t>Normal day</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5,000 concurrent readers</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Cached feeds, CDN-served media, two API replicas</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Load test, week 7</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1"/>
                  </a:ext>
                </a:extLst>
              </a:tr>
              <a:tr h="457200">
                <a:tc>
                  <a:txBody>
                    <a:bodyPr/>
                    <a:lstStyle/>
                    <a:p>
                      <a:pPr marL="0" indent="0" algn="l">
                        <a:buNone/>
                      </a:pPr>
                      <a:r>
                        <a:rPr lang="en-US" sz="1080" b="1" dirty="0">
                          <a:solidFill>
                            <a:srgbClr val="0F1E3D"/>
                          </a:solidFill>
                          <a:latin typeface="Calibri" pitchFamily="34" charset="0"/>
                          <a:ea typeface="Calibri" pitchFamily="34" charset="-122"/>
                          <a:cs typeface="Calibri" pitchFamily="34" charset="-120"/>
                        </a:rPr>
                        <a:t>Breaking news spike</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25,000 concurrent readers</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Autoscaling plus a static breaking-story path that bypasses personalisation</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Spike test, week 7</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080" b="1" dirty="0">
                          <a:solidFill>
                            <a:srgbClr val="0F1E3D"/>
                          </a:solidFill>
                          <a:latin typeface="Calibri" pitchFamily="34" charset="0"/>
                          <a:ea typeface="Calibri" pitchFamily="34" charset="-122"/>
                          <a:cs typeface="Calibri" pitchFamily="34" charset="-120"/>
                        </a:rPr>
                        <a:t>Election-night peak</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50,000 concurrent readers</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Pre-warmed capacity, read replicas, degraded-mode feed as a last resort</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Rehearsed pre-launch</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3"/>
                  </a:ext>
                </a:extLst>
              </a:tr>
              <a:tr h="457200">
                <a:tc>
                  <a:txBody>
                    <a:bodyPr/>
                    <a:lstStyle/>
                    <a:p>
                      <a:pPr marL="0" indent="0" algn="l">
                        <a:buNone/>
                      </a:pPr>
                      <a:r>
                        <a:rPr lang="en-US" sz="1080" b="1" dirty="0">
                          <a:solidFill>
                            <a:srgbClr val="0F1E3D"/>
                          </a:solidFill>
                          <a:latin typeface="Calibri" pitchFamily="34" charset="0"/>
                          <a:ea typeface="Calibri" pitchFamily="34" charset="-122"/>
                          <a:cs typeface="Calibri" pitchFamily="34" charset="-120"/>
                        </a:rPr>
                        <a:t>AI service outage</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No reader impact</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Feed falls back to editorial ordering; tagging queues and drains on recovery</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80" dirty="0">
                          <a:solidFill>
                            <a:srgbClr val="4A5568"/>
                          </a:solidFill>
                          <a:latin typeface="Calibri" pitchFamily="34" charset="0"/>
                          <a:ea typeface="Calibri" pitchFamily="34" charset="-122"/>
                          <a:cs typeface="Calibri" pitchFamily="34" charset="-120"/>
                        </a:rPr>
                        <a:t>Chaos test, week 7</a:t>
                      </a:r>
                      <a:endParaRPr lang="en-US" sz="108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6" name="Text 23"/>
          <p:cNvSpPr txBox="1"/>
          <p:nvPr/>
        </p:nvSpPr>
        <p:spPr>
          <a:xfrm>
            <a:off x="566928" y="5943600"/>
            <a:ext cx="11057839" cy="292608"/>
          </a:xfrm>
          <a:prstGeom prst="rect">
            <a:avLst/>
          </a:prstGeom>
          <a:noFill/>
          <a:ln/>
        </p:spPr>
        <p:txBody>
          <a:bodyPr wrap="square" lIns="0" tIns="0" rIns="0" bIns="0" rtlCol="0" anchor="ctr"/>
          <a:lstStyle/>
          <a:p>
            <a:pPr marL="0" indent="0">
              <a:buNone/>
            </a:pPr>
            <a:r>
              <a:rPr lang="en-US" sz="1080" dirty="0">
                <a:solidFill>
                  <a:srgbClr val="4A5568"/>
                </a:solidFill>
                <a:latin typeface="Calibri" pitchFamily="34" charset="0"/>
                <a:ea typeface="Calibri" pitchFamily="34" charset="-122"/>
                <a:cs typeface="Calibri" pitchFamily="34" charset="-120"/>
              </a:rPr>
              <a:t>Performance budgets are enforced in CI — a pull request that pushes cold start past 2.0 seconds fails the build rather than reaching production.</a:t>
            </a:r>
            <a:endParaRPr lang="en-US" sz="10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E3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58368" y="2286000"/>
            <a:ext cx="4572000" cy="274320"/>
          </a:xfrm>
          <a:prstGeom prst="rect">
            <a:avLst/>
          </a:prstGeom>
          <a:noFill/>
          <a:ln/>
        </p:spPr>
        <p:txBody>
          <a:bodyPr wrap="square" lIns="0" tIns="0" rIns="0" bIns="0" rtlCol="0" anchor="ctr"/>
          <a:lstStyle/>
          <a:p>
            <a:pPr marL="0" indent="0">
              <a:buNone/>
            </a:pPr>
            <a:r>
              <a:rPr lang="en-US" sz="1200" b="1" kern="0" spc="300" dirty="0">
                <a:solidFill>
                  <a:srgbClr val="F0A81C"/>
                </a:solidFill>
                <a:latin typeface="Calibri" pitchFamily="34" charset="0"/>
                <a:ea typeface="Calibri" pitchFamily="34" charset="-122"/>
                <a:cs typeface="Calibri" pitchFamily="34" charset="-120"/>
              </a:rPr>
              <a:t>PART 04</a:t>
            </a:r>
            <a:endParaRPr lang="en-US" sz="1200" dirty="0"/>
          </a:p>
        </p:txBody>
      </p:sp>
      <p:sp>
        <p:nvSpPr>
          <p:cNvPr id="4" name="Text 1"/>
          <p:cNvSpPr txBox="1"/>
          <p:nvPr/>
        </p:nvSpPr>
        <p:spPr>
          <a:xfrm>
            <a:off x="658368" y="2651760"/>
            <a:ext cx="6309360" cy="10058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Business Case</a:t>
            </a:r>
            <a:endParaRPr lang="en-US" sz="4000" dirty="0"/>
          </a:p>
        </p:txBody>
      </p:sp>
      <p:sp>
        <p:nvSpPr>
          <p:cNvPr id="5" name="Text 2"/>
          <p:cNvSpPr txBox="1"/>
          <p:nvPr/>
        </p:nvSpPr>
        <p:spPr>
          <a:xfrm>
            <a:off x="658368" y="3703320"/>
            <a:ext cx="5669280" cy="731520"/>
          </a:xfrm>
          <a:prstGeom prst="rect">
            <a:avLst/>
          </a:prstGeom>
          <a:noFill/>
          <a:ln/>
        </p:spPr>
        <p:txBody>
          <a:bodyPr wrap="square" lIns="0" tIns="0" rIns="0" bIns="0" rtlCol="0" anchor="ctr"/>
          <a:lstStyle/>
          <a:p>
            <a:pPr marL="0" indent="0">
              <a:buNone/>
            </a:pPr>
            <a:r>
              <a:rPr lang="en-US" sz="1400" dirty="0">
                <a:solidFill>
                  <a:srgbClr val="C6D2E6"/>
                </a:solidFill>
                <a:latin typeface="Calibri" pitchFamily="34" charset="0"/>
                <a:ea typeface="Calibri" pitchFamily="34" charset="-122"/>
                <a:cs typeface="Calibri" pitchFamily="34" charset="-120"/>
              </a:rPr>
              <a:t>How the platform pays for itself, and how we will know whether it is working.</a:t>
            </a:r>
            <a:endParaRPr lang="en-US" sz="1400" dirty="0"/>
          </a:p>
        </p:txBody>
      </p:sp>
      <p:sp>
        <p:nvSpPr>
          <p:cNvPr id="6" name="Shape 3"/>
          <p:cNvSpPr/>
          <p:nvPr/>
        </p:nvSpPr>
        <p:spPr>
          <a:xfrm>
            <a:off x="7772400" y="2185416"/>
            <a:ext cx="274320" cy="274320"/>
          </a:xfrm>
          <a:prstGeom prst="ellipse">
            <a:avLst/>
          </a:prstGeom>
          <a:solidFill>
            <a:srgbClr val="C8102E"/>
          </a:solidFill>
          <a:ln/>
        </p:spPr>
        <p:txBody>
          <a:bodyPr/>
          <a:lstStyle/>
          <a:p>
            <a:endParaRPr lang="en-AE"/>
          </a:p>
        </p:txBody>
      </p:sp>
      <p:sp>
        <p:nvSpPr>
          <p:cNvPr id="7" name="Text 4"/>
          <p:cNvSpPr txBox="1"/>
          <p:nvPr/>
        </p:nvSpPr>
        <p:spPr>
          <a:xfrm>
            <a:off x="7772400" y="218541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5"/>
          <p:cNvSpPr txBox="1"/>
          <p:nvPr/>
        </p:nvSpPr>
        <p:spPr>
          <a:xfrm>
            <a:off x="8211312" y="2039112"/>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Three revenue streams</a:t>
            </a:r>
            <a:endParaRPr lang="en-US" sz="1250" dirty="0"/>
          </a:p>
        </p:txBody>
      </p:sp>
      <p:sp>
        <p:nvSpPr>
          <p:cNvPr id="9" name="Shape 6"/>
          <p:cNvSpPr/>
          <p:nvPr/>
        </p:nvSpPr>
        <p:spPr>
          <a:xfrm>
            <a:off x="7772400" y="2752344"/>
            <a:ext cx="274320" cy="274320"/>
          </a:xfrm>
          <a:prstGeom prst="ellipse">
            <a:avLst/>
          </a:prstGeom>
          <a:solidFill>
            <a:srgbClr val="C8102E"/>
          </a:solidFill>
          <a:ln/>
        </p:spPr>
        <p:txBody>
          <a:bodyPr/>
          <a:lstStyle/>
          <a:p>
            <a:endParaRPr lang="en-AE"/>
          </a:p>
        </p:txBody>
      </p:sp>
      <p:sp>
        <p:nvSpPr>
          <p:cNvPr id="10" name="Text 7"/>
          <p:cNvSpPr txBox="1"/>
          <p:nvPr/>
        </p:nvSpPr>
        <p:spPr>
          <a:xfrm>
            <a:off x="7772400" y="275234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8"/>
          <p:cNvSpPr txBox="1"/>
          <p:nvPr/>
        </p:nvSpPr>
        <p:spPr>
          <a:xfrm>
            <a:off x="8211312" y="2606040"/>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Advertising &amp; real estate</a:t>
            </a:r>
            <a:endParaRPr lang="en-US" sz="1250" dirty="0"/>
          </a:p>
        </p:txBody>
      </p:sp>
      <p:sp>
        <p:nvSpPr>
          <p:cNvPr id="12" name="Shape 9"/>
          <p:cNvSpPr/>
          <p:nvPr/>
        </p:nvSpPr>
        <p:spPr>
          <a:xfrm>
            <a:off x="7772400" y="3319272"/>
            <a:ext cx="274320" cy="274320"/>
          </a:xfrm>
          <a:prstGeom prst="ellipse">
            <a:avLst/>
          </a:prstGeom>
          <a:solidFill>
            <a:srgbClr val="C8102E"/>
          </a:solidFill>
          <a:ln/>
        </p:spPr>
        <p:txBody>
          <a:bodyPr/>
          <a:lstStyle/>
          <a:p>
            <a:endParaRPr lang="en-AE"/>
          </a:p>
        </p:txBody>
      </p:sp>
      <p:sp>
        <p:nvSpPr>
          <p:cNvPr id="13" name="Text 10"/>
          <p:cNvSpPr txBox="1"/>
          <p:nvPr/>
        </p:nvSpPr>
        <p:spPr>
          <a:xfrm>
            <a:off x="7772400" y="331927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4" name="Text 11"/>
          <p:cNvSpPr txBox="1"/>
          <p:nvPr/>
        </p:nvSpPr>
        <p:spPr>
          <a:xfrm>
            <a:off x="8211312" y="3172968"/>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Subscriptions</a:t>
            </a:r>
            <a:endParaRPr lang="en-US" sz="1250" dirty="0"/>
          </a:p>
        </p:txBody>
      </p:sp>
      <p:sp>
        <p:nvSpPr>
          <p:cNvPr id="15" name="Shape 12"/>
          <p:cNvSpPr/>
          <p:nvPr/>
        </p:nvSpPr>
        <p:spPr>
          <a:xfrm>
            <a:off x="7772400" y="3886200"/>
            <a:ext cx="274320" cy="274320"/>
          </a:xfrm>
          <a:prstGeom prst="ellipse">
            <a:avLst/>
          </a:prstGeom>
          <a:solidFill>
            <a:srgbClr val="C8102E"/>
          </a:solidFill>
          <a:ln/>
        </p:spPr>
        <p:txBody>
          <a:bodyPr/>
          <a:lstStyle/>
          <a:p>
            <a:endParaRPr lang="en-AE"/>
          </a:p>
        </p:txBody>
      </p:sp>
      <p:sp>
        <p:nvSpPr>
          <p:cNvPr id="16" name="Text 13"/>
          <p:cNvSpPr txBox="1"/>
          <p:nvPr/>
        </p:nvSpPr>
        <p:spPr>
          <a:xfrm>
            <a:off x="7772400" y="388620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Text 14"/>
          <p:cNvSpPr txBox="1"/>
          <p:nvPr/>
        </p:nvSpPr>
        <p:spPr>
          <a:xfrm>
            <a:off x="8211312" y="3739896"/>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Revenue ramp</a:t>
            </a:r>
            <a:endParaRPr lang="en-US" sz="1250" dirty="0"/>
          </a:p>
        </p:txBody>
      </p:sp>
      <p:sp>
        <p:nvSpPr>
          <p:cNvPr id="18" name="Shape 15"/>
          <p:cNvSpPr/>
          <p:nvPr/>
        </p:nvSpPr>
        <p:spPr>
          <a:xfrm>
            <a:off x="7772400" y="4453128"/>
            <a:ext cx="274320" cy="274320"/>
          </a:xfrm>
          <a:prstGeom prst="ellipse">
            <a:avLst/>
          </a:prstGeom>
          <a:solidFill>
            <a:srgbClr val="C8102E"/>
          </a:solidFill>
          <a:ln/>
        </p:spPr>
        <p:txBody>
          <a:bodyPr/>
          <a:lstStyle/>
          <a:p>
            <a:endParaRPr lang="en-AE"/>
          </a:p>
        </p:txBody>
      </p:sp>
      <p:sp>
        <p:nvSpPr>
          <p:cNvPr id="19" name="Text 16"/>
          <p:cNvSpPr txBox="1"/>
          <p:nvPr/>
        </p:nvSpPr>
        <p:spPr>
          <a:xfrm>
            <a:off x="7772400" y="445312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7"/>
          <p:cNvSpPr txBox="1"/>
          <p:nvPr/>
        </p:nvSpPr>
        <p:spPr>
          <a:xfrm>
            <a:off x="8211312" y="4306824"/>
            <a:ext cx="3520440" cy="566928"/>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Success metrics</a:t>
            </a:r>
            <a:endParaRPr lang="en-US" sz="1250" dirty="0"/>
          </a:p>
        </p:txBody>
      </p:sp>
      <p:sp>
        <p:nvSpPr>
          <p:cNvPr id="21" name="Text 18"/>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8FA0BF"/>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22" name="Text 19"/>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8FA0BF"/>
                </a:solidFill>
                <a:latin typeface="Calibri" pitchFamily="34" charset="0"/>
                <a:ea typeface="Calibri" pitchFamily="34" charset="-122"/>
                <a:cs typeface="Calibri" pitchFamily="34" charset="-120"/>
              </a:rPr>
              <a:t>Opus Infinite</a:t>
            </a:r>
            <a:endParaRPr lang="en-US" sz="950" dirty="0"/>
          </a:p>
        </p:txBody>
      </p:sp>
      <p:sp>
        <p:nvSpPr>
          <p:cNvPr id="23" name="Shape 20"/>
          <p:cNvSpPr/>
          <p:nvPr/>
        </p:nvSpPr>
        <p:spPr>
          <a:xfrm>
            <a:off x="11240719" y="6300216"/>
            <a:ext cx="384048" cy="384048"/>
          </a:xfrm>
          <a:prstGeom prst="ellipse">
            <a:avLst/>
          </a:prstGeom>
          <a:solidFill>
            <a:srgbClr val="22375F"/>
          </a:solidFill>
          <a:ln/>
        </p:spPr>
        <p:txBody>
          <a:bodyPr/>
          <a:lstStyle/>
          <a:p>
            <a:endParaRPr lang="en-AE"/>
          </a:p>
        </p:txBody>
      </p:sp>
      <p:sp>
        <p:nvSpPr>
          <p:cNvPr id="24" name="Text 21"/>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04 · BUSINESS CASE</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Three revenue streams, live at launch</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Diversified deliberately — no single stream carries the business.</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23</a:t>
            </a:r>
            <a:endParaRPr lang="en-US" sz="1050" dirty="0"/>
          </a:p>
        </p:txBody>
      </p:sp>
      <p:sp>
        <p:nvSpPr>
          <p:cNvPr id="9" name="Shape 7"/>
          <p:cNvSpPr/>
          <p:nvPr/>
        </p:nvSpPr>
        <p:spPr>
          <a:xfrm>
            <a:off x="566928" y="1645920"/>
            <a:ext cx="3529584" cy="3602736"/>
          </a:xfrm>
          <a:prstGeom prst="roundRect">
            <a:avLst>
              <a:gd name="adj" fmla="val 3109"/>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841248" y="1883664"/>
            <a:ext cx="566928" cy="566928"/>
          </a:xfrm>
          <a:prstGeom prst="ellipse">
            <a:avLst/>
          </a:prstGeom>
          <a:solidFill>
            <a:srgbClr val="C8102E"/>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982980" y="2025396"/>
            <a:ext cx="283464" cy="283464"/>
          </a:xfrm>
          <a:prstGeom prst="rect">
            <a:avLst/>
          </a:prstGeom>
        </p:spPr>
      </p:pic>
      <p:sp>
        <p:nvSpPr>
          <p:cNvPr id="12" name="Text 9"/>
          <p:cNvSpPr txBox="1"/>
          <p:nvPr/>
        </p:nvSpPr>
        <p:spPr>
          <a:xfrm>
            <a:off x="1536192" y="1883664"/>
            <a:ext cx="2377440" cy="329184"/>
          </a:xfrm>
          <a:prstGeom prst="rect">
            <a:avLst/>
          </a:prstGeom>
          <a:noFill/>
          <a:ln/>
        </p:spPr>
        <p:txBody>
          <a:bodyPr wrap="square" lIns="0" tIns="0" rIns="0" bIns="0" rtlCol="0" anchor="ctr"/>
          <a:lstStyle/>
          <a:p>
            <a:pPr marL="0" indent="0">
              <a:buNone/>
            </a:pPr>
            <a:r>
              <a:rPr lang="en-US" sz="1800" b="1" dirty="0">
                <a:solidFill>
                  <a:srgbClr val="0F1E3D"/>
                </a:solidFill>
                <a:latin typeface="Cambria" pitchFamily="34" charset="0"/>
                <a:ea typeface="Cambria" pitchFamily="34" charset="-122"/>
                <a:cs typeface="Cambria" pitchFamily="34" charset="-120"/>
              </a:rPr>
              <a:t>Advertising</a:t>
            </a:r>
            <a:endParaRPr lang="en-US" sz="1800" dirty="0"/>
          </a:p>
        </p:txBody>
      </p:sp>
      <p:sp>
        <p:nvSpPr>
          <p:cNvPr id="13" name="Text 10"/>
          <p:cNvSpPr txBox="1"/>
          <p:nvPr/>
        </p:nvSpPr>
        <p:spPr>
          <a:xfrm>
            <a:off x="1536192" y="2194560"/>
            <a:ext cx="2395728" cy="274320"/>
          </a:xfrm>
          <a:prstGeom prst="rect">
            <a:avLst/>
          </a:prstGeom>
          <a:noFill/>
          <a:ln/>
        </p:spPr>
        <p:txBody>
          <a:bodyPr wrap="square" lIns="0" tIns="0" rIns="0" bIns="0" rtlCol="0" anchor="ctr"/>
          <a:lstStyle/>
          <a:p>
            <a:pPr marL="0" indent="0">
              <a:buNone/>
            </a:pPr>
            <a:r>
              <a:rPr lang="en-US" sz="1050" b="1" dirty="0">
                <a:solidFill>
                  <a:srgbClr val="C8102E"/>
                </a:solidFill>
                <a:latin typeface="Calibri" pitchFamily="34" charset="0"/>
                <a:ea typeface="Calibri" pitchFamily="34" charset="-122"/>
                <a:cs typeface="Calibri" pitchFamily="34" charset="-120"/>
              </a:rPr>
              <a:t>Largest and fastest</a:t>
            </a:r>
            <a:endParaRPr lang="en-US" sz="1050" dirty="0"/>
          </a:p>
        </p:txBody>
      </p:sp>
      <p:sp>
        <p:nvSpPr>
          <p:cNvPr id="14" name="Text 11"/>
          <p:cNvSpPr txBox="1"/>
          <p:nvPr/>
        </p:nvSpPr>
        <p:spPr>
          <a:xfrm>
            <a:off x="841248" y="2670048"/>
            <a:ext cx="2980944" cy="1828800"/>
          </a:xfrm>
          <a:prstGeom prst="rect">
            <a:avLst/>
          </a:prstGeom>
          <a:noFill/>
          <a:ln/>
        </p:spPr>
        <p:txBody>
          <a:bodyPr wrap="square" lIns="0" tIns="0" rIns="0" bIns="0" rtlCol="0" anchor="t"/>
          <a:lstStyle/>
          <a:p>
            <a:pPr marL="165100" indent="-165100">
              <a:lnSpc>
                <a:spcPct val="108000"/>
              </a:lnSpc>
              <a:spcAft>
                <a:spcPts val="800"/>
              </a:spcAft>
              <a:buSzPct val="100000"/>
              <a:buChar char="•"/>
            </a:pPr>
            <a:r>
              <a:rPr lang="en-US" sz="1140" dirty="0">
                <a:solidFill>
                  <a:srgbClr val="4A5568"/>
                </a:solidFill>
                <a:latin typeface="Calibri" pitchFamily="34" charset="0"/>
                <a:ea typeface="Calibri" pitchFamily="34" charset="-122"/>
                <a:cs typeface="Calibri" pitchFamily="34" charset="-120"/>
              </a:rPr>
              <a:t>Geo- and interest-targeted display, native and video inventory.</a:t>
            </a:r>
            <a:endParaRPr lang="en-US" sz="1140" dirty="0"/>
          </a:p>
          <a:p>
            <a:pPr marL="165100" indent="-165100">
              <a:lnSpc>
                <a:spcPct val="108000"/>
              </a:lnSpc>
              <a:spcAft>
                <a:spcPts val="800"/>
              </a:spcAft>
              <a:buSzPct val="100000"/>
              <a:buChar char="•"/>
            </a:pPr>
            <a:r>
              <a:rPr lang="en-US" sz="1140" dirty="0">
                <a:solidFill>
                  <a:srgbClr val="4A5568"/>
                </a:solidFill>
                <a:latin typeface="Calibri" pitchFamily="34" charset="0"/>
                <a:ea typeface="Calibri" pitchFamily="34" charset="-122"/>
                <a:cs typeface="Calibri" pitchFamily="34" charset="-120"/>
              </a:rPr>
              <a:t>Direct-sold at premium rates, with programmatic backfill for unsold slots.</a:t>
            </a:r>
            <a:endParaRPr lang="en-US" sz="1140" dirty="0"/>
          </a:p>
          <a:p>
            <a:pPr marL="165100" indent="-165100">
              <a:lnSpc>
                <a:spcPct val="108000"/>
              </a:lnSpc>
              <a:spcAft>
                <a:spcPts val="800"/>
              </a:spcAft>
              <a:buSzPct val="100000"/>
              <a:buChar char="•"/>
            </a:pPr>
            <a:r>
              <a:rPr lang="en-US" sz="1140" dirty="0">
                <a:solidFill>
                  <a:srgbClr val="4A5568"/>
                </a:solidFill>
                <a:latin typeface="Calibri" pitchFamily="34" charset="0"/>
                <a:ea typeface="Calibri" pitchFamily="34" charset="-122"/>
                <a:cs typeface="Calibri" pitchFamily="34" charset="-120"/>
              </a:rPr>
              <a:t>Sponsored articles and takeovers, clearly labelled.</a:t>
            </a:r>
            <a:endParaRPr lang="en-US" sz="1140" dirty="0"/>
          </a:p>
        </p:txBody>
      </p:sp>
      <p:sp>
        <p:nvSpPr>
          <p:cNvPr id="15" name="Shape 12"/>
          <p:cNvSpPr/>
          <p:nvPr/>
        </p:nvSpPr>
        <p:spPr>
          <a:xfrm>
            <a:off x="841248" y="4590288"/>
            <a:ext cx="2980944" cy="475488"/>
          </a:xfrm>
          <a:prstGeom prst="roundRect">
            <a:avLst>
              <a:gd name="adj" fmla="val 15385"/>
            </a:avLst>
          </a:prstGeom>
          <a:solidFill>
            <a:srgbClr val="FFFFFF"/>
          </a:solidFill>
          <a:ln/>
        </p:spPr>
        <p:txBody>
          <a:bodyPr/>
          <a:lstStyle/>
          <a:p>
            <a:endParaRPr lang="en-AE"/>
          </a:p>
        </p:txBody>
      </p:sp>
      <p:sp>
        <p:nvSpPr>
          <p:cNvPr id="16" name="Text 13"/>
          <p:cNvSpPr txBox="1"/>
          <p:nvPr/>
        </p:nvSpPr>
        <p:spPr>
          <a:xfrm>
            <a:off x="841248" y="4590288"/>
            <a:ext cx="2980944" cy="475488"/>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Live from week 8</a:t>
            </a:r>
            <a:endParaRPr lang="en-US" sz="1100" dirty="0"/>
          </a:p>
        </p:txBody>
      </p:sp>
      <p:sp>
        <p:nvSpPr>
          <p:cNvPr id="17" name="Shape 14"/>
          <p:cNvSpPr/>
          <p:nvPr/>
        </p:nvSpPr>
        <p:spPr>
          <a:xfrm>
            <a:off x="4306824" y="1645920"/>
            <a:ext cx="3529584" cy="3602736"/>
          </a:xfrm>
          <a:prstGeom prst="roundRect">
            <a:avLst>
              <a:gd name="adj" fmla="val 3109"/>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8" name="Shape 15"/>
          <p:cNvSpPr/>
          <p:nvPr/>
        </p:nvSpPr>
        <p:spPr>
          <a:xfrm>
            <a:off x="4581144" y="1883664"/>
            <a:ext cx="566928" cy="566928"/>
          </a:xfrm>
          <a:prstGeom prst="ellipse">
            <a:avLst/>
          </a:prstGeom>
          <a:solidFill>
            <a:srgbClr val="0F1E3D"/>
          </a:solidFill>
          <a:ln/>
        </p:spPr>
        <p:txBody>
          <a:bodyPr/>
          <a:lstStyle/>
          <a:p>
            <a:endParaRPr lang="en-AE"/>
          </a:p>
        </p:txBody>
      </p:sp>
      <p:pic>
        <p:nvPicPr>
          <p:cNvPr id="19" name="Image 1" descr="preencoded.png"/>
          <p:cNvPicPr>
            <a:picLocks noChangeAspect="1"/>
          </p:cNvPicPr>
          <p:nvPr/>
        </p:nvPicPr>
        <p:blipFill>
          <a:blip r:embed="rId4"/>
          <a:stretch>
            <a:fillRect/>
          </a:stretch>
        </p:blipFill>
        <p:spPr>
          <a:xfrm>
            <a:off x="4722876" y="2025396"/>
            <a:ext cx="283464" cy="283464"/>
          </a:xfrm>
          <a:prstGeom prst="rect">
            <a:avLst/>
          </a:prstGeom>
        </p:spPr>
      </p:pic>
      <p:sp>
        <p:nvSpPr>
          <p:cNvPr id="20" name="Text 16"/>
          <p:cNvSpPr txBox="1"/>
          <p:nvPr/>
        </p:nvSpPr>
        <p:spPr>
          <a:xfrm>
            <a:off x="5276088" y="1883664"/>
            <a:ext cx="2377440" cy="329184"/>
          </a:xfrm>
          <a:prstGeom prst="rect">
            <a:avLst/>
          </a:prstGeom>
          <a:noFill/>
          <a:ln/>
        </p:spPr>
        <p:txBody>
          <a:bodyPr wrap="square" lIns="0" tIns="0" rIns="0" bIns="0" rtlCol="0" anchor="ctr"/>
          <a:lstStyle/>
          <a:p>
            <a:pPr marL="0" indent="0">
              <a:buNone/>
            </a:pPr>
            <a:r>
              <a:rPr lang="en-US" sz="1800" b="1" dirty="0">
                <a:solidFill>
                  <a:srgbClr val="0F1E3D"/>
                </a:solidFill>
                <a:latin typeface="Cambria" pitchFamily="34" charset="0"/>
                <a:ea typeface="Cambria" pitchFamily="34" charset="-122"/>
                <a:cs typeface="Cambria" pitchFamily="34" charset="-120"/>
              </a:rPr>
              <a:t>Subscriptions</a:t>
            </a:r>
            <a:endParaRPr lang="en-US" sz="1800" dirty="0"/>
          </a:p>
        </p:txBody>
      </p:sp>
      <p:sp>
        <p:nvSpPr>
          <p:cNvPr id="21" name="Text 17"/>
          <p:cNvSpPr txBox="1"/>
          <p:nvPr/>
        </p:nvSpPr>
        <p:spPr>
          <a:xfrm>
            <a:off x="5276088" y="2194560"/>
            <a:ext cx="2395728" cy="274320"/>
          </a:xfrm>
          <a:prstGeom prst="rect">
            <a:avLst/>
          </a:prstGeom>
          <a:noFill/>
          <a:ln/>
        </p:spPr>
        <p:txBody>
          <a:bodyPr wrap="square" lIns="0" tIns="0" rIns="0" bIns="0" rtlCol="0" anchor="ctr"/>
          <a:lstStyle/>
          <a:p>
            <a:pPr marL="0" indent="0">
              <a:buNone/>
            </a:pPr>
            <a:r>
              <a:rPr lang="en-US" sz="1050" b="1" dirty="0">
                <a:solidFill>
                  <a:srgbClr val="0F1E3D"/>
                </a:solidFill>
                <a:latin typeface="Calibri" pitchFamily="34" charset="0"/>
                <a:ea typeface="Calibri" pitchFamily="34" charset="-122"/>
                <a:cs typeface="Calibri" pitchFamily="34" charset="-120"/>
              </a:rPr>
              <a:t>Highest margin</a:t>
            </a:r>
            <a:endParaRPr lang="en-US" sz="1050" dirty="0"/>
          </a:p>
        </p:txBody>
      </p:sp>
      <p:sp>
        <p:nvSpPr>
          <p:cNvPr id="22" name="Text 18"/>
          <p:cNvSpPr txBox="1"/>
          <p:nvPr/>
        </p:nvSpPr>
        <p:spPr>
          <a:xfrm>
            <a:off x="4581144" y="2670048"/>
            <a:ext cx="2980944" cy="1828800"/>
          </a:xfrm>
          <a:prstGeom prst="rect">
            <a:avLst/>
          </a:prstGeom>
          <a:noFill/>
          <a:ln/>
        </p:spPr>
        <p:txBody>
          <a:bodyPr wrap="square" lIns="0" tIns="0" rIns="0" bIns="0" rtlCol="0" anchor="t"/>
          <a:lstStyle/>
          <a:p>
            <a:pPr marL="165100" indent="-165100">
              <a:lnSpc>
                <a:spcPct val="108000"/>
              </a:lnSpc>
              <a:spcAft>
                <a:spcPts val="800"/>
              </a:spcAft>
              <a:buSzPct val="100000"/>
              <a:buChar char="•"/>
            </a:pPr>
            <a:r>
              <a:rPr lang="en-US" sz="1140" dirty="0">
                <a:solidFill>
                  <a:srgbClr val="4A5568"/>
                </a:solidFill>
                <a:latin typeface="Calibri" pitchFamily="34" charset="0"/>
                <a:ea typeface="Calibri" pitchFamily="34" charset="-122"/>
                <a:cs typeface="Calibri" pitchFamily="34" charset="-120"/>
              </a:rPr>
              <a:t>Ad-free reading, offline downloads and early access.</a:t>
            </a:r>
            <a:endParaRPr lang="en-US" sz="1140" dirty="0"/>
          </a:p>
          <a:p>
            <a:pPr marL="165100" indent="-165100">
              <a:lnSpc>
                <a:spcPct val="108000"/>
              </a:lnSpc>
              <a:spcAft>
                <a:spcPts val="800"/>
              </a:spcAft>
              <a:buSzPct val="100000"/>
              <a:buChar char="•"/>
            </a:pPr>
            <a:r>
              <a:rPr lang="en-US" sz="1140" dirty="0">
                <a:solidFill>
                  <a:srgbClr val="4A5568"/>
                </a:solidFill>
                <a:latin typeface="Calibri" pitchFamily="34" charset="0"/>
                <a:ea typeface="Calibri" pitchFamily="34" charset="-122"/>
                <a:cs typeface="Calibri" pitchFamily="34" charset="-120"/>
              </a:rPr>
              <a:t>Recurring, predictable revenue independent of ad market cycles.</a:t>
            </a:r>
            <a:endParaRPr lang="en-US" sz="1140" dirty="0"/>
          </a:p>
          <a:p>
            <a:pPr marL="165100" indent="-165100">
              <a:lnSpc>
                <a:spcPct val="108000"/>
              </a:lnSpc>
              <a:spcAft>
                <a:spcPts val="800"/>
              </a:spcAft>
              <a:buSzPct val="100000"/>
              <a:buChar char="•"/>
            </a:pPr>
            <a:r>
              <a:rPr lang="en-US" sz="1140" dirty="0">
                <a:solidFill>
                  <a:srgbClr val="4A5568"/>
                </a:solidFill>
                <a:latin typeface="Calibri" pitchFamily="34" charset="0"/>
                <a:ea typeface="Calibri" pitchFamily="34" charset="-122"/>
                <a:cs typeface="Calibri" pitchFamily="34" charset="-120"/>
              </a:rPr>
              <a:t>Three tiers so price is never the reason a reader says no.</a:t>
            </a:r>
            <a:endParaRPr lang="en-US" sz="1140" dirty="0"/>
          </a:p>
        </p:txBody>
      </p:sp>
      <p:sp>
        <p:nvSpPr>
          <p:cNvPr id="23" name="Shape 19"/>
          <p:cNvSpPr/>
          <p:nvPr/>
        </p:nvSpPr>
        <p:spPr>
          <a:xfrm>
            <a:off x="4581144" y="4590288"/>
            <a:ext cx="2980944" cy="475488"/>
          </a:xfrm>
          <a:prstGeom prst="roundRect">
            <a:avLst>
              <a:gd name="adj" fmla="val 15385"/>
            </a:avLst>
          </a:prstGeom>
          <a:solidFill>
            <a:srgbClr val="FFFFFF"/>
          </a:solidFill>
          <a:ln/>
        </p:spPr>
        <p:txBody>
          <a:bodyPr/>
          <a:lstStyle/>
          <a:p>
            <a:endParaRPr lang="en-AE"/>
          </a:p>
        </p:txBody>
      </p:sp>
      <p:sp>
        <p:nvSpPr>
          <p:cNvPr id="24" name="Text 20"/>
          <p:cNvSpPr txBox="1"/>
          <p:nvPr/>
        </p:nvSpPr>
        <p:spPr>
          <a:xfrm>
            <a:off x="4581144" y="4590288"/>
            <a:ext cx="2980944" cy="475488"/>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Live from week 8</a:t>
            </a:r>
            <a:endParaRPr lang="en-US" sz="1100" dirty="0"/>
          </a:p>
        </p:txBody>
      </p:sp>
      <p:sp>
        <p:nvSpPr>
          <p:cNvPr id="25" name="Shape 21"/>
          <p:cNvSpPr/>
          <p:nvPr/>
        </p:nvSpPr>
        <p:spPr>
          <a:xfrm>
            <a:off x="8046720" y="1645920"/>
            <a:ext cx="3529584" cy="3602736"/>
          </a:xfrm>
          <a:prstGeom prst="roundRect">
            <a:avLst>
              <a:gd name="adj" fmla="val 3109"/>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6" name="Shape 22"/>
          <p:cNvSpPr/>
          <p:nvPr/>
        </p:nvSpPr>
        <p:spPr>
          <a:xfrm>
            <a:off x="8321040" y="1883664"/>
            <a:ext cx="566928" cy="566928"/>
          </a:xfrm>
          <a:prstGeom prst="ellipse">
            <a:avLst/>
          </a:prstGeom>
          <a:solidFill>
            <a:srgbClr val="F0A81C"/>
          </a:solidFill>
          <a:ln/>
        </p:spPr>
        <p:txBody>
          <a:bodyPr/>
          <a:lstStyle/>
          <a:p>
            <a:endParaRPr lang="en-AE"/>
          </a:p>
        </p:txBody>
      </p:sp>
      <p:pic>
        <p:nvPicPr>
          <p:cNvPr id="27" name="Image 2" descr="preencoded.png"/>
          <p:cNvPicPr>
            <a:picLocks noChangeAspect="1"/>
          </p:cNvPicPr>
          <p:nvPr/>
        </p:nvPicPr>
        <p:blipFill>
          <a:blip r:embed="rId5"/>
          <a:stretch>
            <a:fillRect/>
          </a:stretch>
        </p:blipFill>
        <p:spPr>
          <a:xfrm>
            <a:off x="8462772" y="2025396"/>
            <a:ext cx="283464" cy="283464"/>
          </a:xfrm>
          <a:prstGeom prst="rect">
            <a:avLst/>
          </a:prstGeom>
        </p:spPr>
      </p:pic>
      <p:sp>
        <p:nvSpPr>
          <p:cNvPr id="28" name="Text 23"/>
          <p:cNvSpPr txBox="1"/>
          <p:nvPr/>
        </p:nvSpPr>
        <p:spPr>
          <a:xfrm>
            <a:off x="9015984" y="1883664"/>
            <a:ext cx="2377440" cy="329184"/>
          </a:xfrm>
          <a:prstGeom prst="rect">
            <a:avLst/>
          </a:prstGeom>
          <a:noFill/>
          <a:ln/>
        </p:spPr>
        <p:txBody>
          <a:bodyPr wrap="square" lIns="0" tIns="0" rIns="0" bIns="0" rtlCol="0" anchor="ctr"/>
          <a:lstStyle/>
          <a:p>
            <a:pPr marL="0" indent="0">
              <a:buNone/>
            </a:pPr>
            <a:r>
              <a:rPr lang="en-US" sz="1800" b="1" dirty="0">
                <a:solidFill>
                  <a:srgbClr val="0F1E3D"/>
                </a:solidFill>
                <a:latin typeface="Cambria" pitchFamily="34" charset="0"/>
                <a:ea typeface="Cambria" pitchFamily="34" charset="-122"/>
                <a:cs typeface="Cambria" pitchFamily="34" charset="-120"/>
              </a:rPr>
              <a:t>Classifieds</a:t>
            </a:r>
            <a:endParaRPr lang="en-US" sz="1800" dirty="0"/>
          </a:p>
        </p:txBody>
      </p:sp>
      <p:sp>
        <p:nvSpPr>
          <p:cNvPr id="29" name="Text 24"/>
          <p:cNvSpPr txBox="1"/>
          <p:nvPr/>
        </p:nvSpPr>
        <p:spPr>
          <a:xfrm>
            <a:off x="9015984" y="2194560"/>
            <a:ext cx="2395728" cy="274320"/>
          </a:xfrm>
          <a:prstGeom prst="rect">
            <a:avLst/>
          </a:prstGeom>
          <a:noFill/>
          <a:ln/>
        </p:spPr>
        <p:txBody>
          <a:bodyPr wrap="square" lIns="0" tIns="0" rIns="0" bIns="0" rtlCol="0" anchor="ctr"/>
          <a:lstStyle/>
          <a:p>
            <a:pPr marL="0" indent="0">
              <a:buNone/>
            </a:pPr>
            <a:r>
              <a:rPr lang="en-US" sz="1050" b="1" dirty="0">
                <a:solidFill>
                  <a:srgbClr val="A87400"/>
                </a:solidFill>
                <a:latin typeface="Calibri" pitchFamily="34" charset="0"/>
                <a:ea typeface="Calibri" pitchFamily="34" charset="-122"/>
                <a:cs typeface="Calibri" pitchFamily="34" charset="-120"/>
              </a:rPr>
              <a:t>Highest local leverage</a:t>
            </a:r>
            <a:endParaRPr lang="en-US" sz="1050" dirty="0"/>
          </a:p>
        </p:txBody>
      </p:sp>
      <p:sp>
        <p:nvSpPr>
          <p:cNvPr id="30" name="Text 25"/>
          <p:cNvSpPr txBox="1"/>
          <p:nvPr/>
        </p:nvSpPr>
        <p:spPr>
          <a:xfrm>
            <a:off x="8321040" y="2670048"/>
            <a:ext cx="2980944" cy="1828800"/>
          </a:xfrm>
          <a:prstGeom prst="rect">
            <a:avLst/>
          </a:prstGeom>
          <a:noFill/>
          <a:ln/>
        </p:spPr>
        <p:txBody>
          <a:bodyPr wrap="square" lIns="0" tIns="0" rIns="0" bIns="0" rtlCol="0" anchor="t"/>
          <a:lstStyle/>
          <a:p>
            <a:pPr marL="165100" indent="-165100">
              <a:lnSpc>
                <a:spcPct val="108000"/>
              </a:lnSpc>
              <a:spcAft>
                <a:spcPts val="800"/>
              </a:spcAft>
              <a:buSzPct val="100000"/>
              <a:buChar char="•"/>
            </a:pPr>
            <a:r>
              <a:rPr lang="en-US" sz="1140" dirty="0">
                <a:solidFill>
                  <a:srgbClr val="4A5568"/>
                </a:solidFill>
                <a:latin typeface="Calibri" pitchFamily="34" charset="0"/>
                <a:ea typeface="Calibri" pitchFamily="34" charset="-122"/>
                <a:cs typeface="Calibri" pitchFamily="34" charset="-120"/>
              </a:rPr>
              <a:t>Geo-targeted property listings alongside a property news section.</a:t>
            </a:r>
            <a:endParaRPr lang="en-US" sz="1140" dirty="0"/>
          </a:p>
          <a:p>
            <a:pPr marL="165100" indent="-165100">
              <a:lnSpc>
                <a:spcPct val="108000"/>
              </a:lnSpc>
              <a:spcAft>
                <a:spcPts val="800"/>
              </a:spcAft>
              <a:buSzPct val="100000"/>
              <a:buChar char="•"/>
            </a:pPr>
            <a:r>
              <a:rPr lang="en-US" sz="1140" dirty="0">
                <a:solidFill>
                  <a:srgbClr val="4A5568"/>
                </a:solidFill>
                <a:latin typeface="Calibri" pitchFamily="34" charset="0"/>
                <a:ea typeface="Calibri" pitchFamily="34" charset="-122"/>
                <a:cs typeface="Calibri" pitchFamily="34" charset="-120"/>
              </a:rPr>
              <a:t>Local builder and realtor partnerships, priced per city.</a:t>
            </a:r>
            <a:endParaRPr lang="en-US" sz="1140" dirty="0"/>
          </a:p>
          <a:p>
            <a:pPr marL="165100" indent="-165100">
              <a:lnSpc>
                <a:spcPct val="108000"/>
              </a:lnSpc>
              <a:spcAft>
                <a:spcPts val="800"/>
              </a:spcAft>
              <a:buSzPct val="100000"/>
              <a:buChar char="•"/>
            </a:pPr>
            <a:r>
              <a:rPr lang="en-US" sz="1140" dirty="0">
                <a:solidFill>
                  <a:srgbClr val="4A5568"/>
                </a:solidFill>
                <a:latin typeface="Calibri" pitchFamily="34" charset="0"/>
                <a:ea typeface="Calibri" pitchFamily="34" charset="-122"/>
                <a:cs typeface="Calibri" pitchFamily="34" charset="-120"/>
              </a:rPr>
              <a:t>Extends naturally to jobs, education and matrimonial verticals.</a:t>
            </a:r>
            <a:endParaRPr lang="en-US" sz="1140" dirty="0"/>
          </a:p>
        </p:txBody>
      </p:sp>
      <p:sp>
        <p:nvSpPr>
          <p:cNvPr id="31" name="Shape 26"/>
          <p:cNvSpPr/>
          <p:nvPr/>
        </p:nvSpPr>
        <p:spPr>
          <a:xfrm>
            <a:off x="8321040" y="4590288"/>
            <a:ext cx="2980944" cy="475488"/>
          </a:xfrm>
          <a:prstGeom prst="roundRect">
            <a:avLst>
              <a:gd name="adj" fmla="val 15385"/>
            </a:avLst>
          </a:prstGeom>
          <a:solidFill>
            <a:srgbClr val="FFFFFF"/>
          </a:solidFill>
          <a:ln/>
        </p:spPr>
        <p:txBody>
          <a:bodyPr/>
          <a:lstStyle/>
          <a:p>
            <a:endParaRPr lang="en-AE"/>
          </a:p>
        </p:txBody>
      </p:sp>
      <p:sp>
        <p:nvSpPr>
          <p:cNvPr id="32" name="Text 27"/>
          <p:cNvSpPr txBox="1"/>
          <p:nvPr/>
        </p:nvSpPr>
        <p:spPr>
          <a:xfrm>
            <a:off x="8321040" y="4590288"/>
            <a:ext cx="2980944" cy="475488"/>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Phase 2 candidate</a:t>
            </a:r>
            <a:endParaRPr lang="en-US" sz="1100" dirty="0"/>
          </a:p>
        </p:txBody>
      </p:sp>
      <p:sp>
        <p:nvSpPr>
          <p:cNvPr id="33" name="Text 28"/>
          <p:cNvSpPr txBox="1"/>
          <p:nvPr/>
        </p:nvSpPr>
        <p:spPr>
          <a:xfrm>
            <a:off x="566928" y="5449824"/>
            <a:ext cx="11057839" cy="457200"/>
          </a:xfrm>
          <a:prstGeom prst="rect">
            <a:avLst/>
          </a:prstGeom>
          <a:noFill/>
          <a:ln/>
        </p:spPr>
        <p:txBody>
          <a:bodyPr wrap="square" lIns="0" tIns="0" rIns="0" bIns="0" rtlCol="0" anchor="ctr"/>
          <a:lstStyle/>
          <a:p>
            <a:pPr marL="0" indent="0">
              <a:lnSpc>
                <a:spcPct val="108000"/>
              </a:lnSpc>
              <a:buNone/>
            </a:pPr>
            <a:r>
              <a:rPr lang="en-US" sz="1160" dirty="0">
                <a:solidFill>
                  <a:srgbClr val="4A5568"/>
                </a:solidFill>
                <a:latin typeface="Calibri" pitchFamily="34" charset="0"/>
                <a:ea typeface="Calibri" pitchFamily="34" charset="-122"/>
                <a:cs typeface="Calibri" pitchFamily="34" charset="-120"/>
              </a:rPr>
              <a:t>Classifieds is scoped in this proposal as an integration-ready module: the listing model, geo-targeting and ad slots are built, while partner onboarding and sales run in parallel with your commercial team.</a:t>
            </a:r>
            <a:endParaRPr lang="en-US" sz="11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04 · BUSINESS CASE</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Advertising &amp; the real-estate vertical</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Why a logged-in local audience sells for more than an anonymous one.</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24</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3017520"/>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736799">
                  <a:extLst>
                    <a:ext uri="{9D8B030D-6E8A-4147-A177-3AD203B41FA5}">
                      <a16:colId xmlns:a16="http://schemas.microsoft.com/office/drawing/2014/main" val="20003"/>
                    </a:ext>
                  </a:extLst>
                </a:gridCol>
              </a:tblGrid>
              <a:tr h="502920">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Inventory</a:t>
                      </a:r>
                      <a:endParaRPr lang="en-US" sz="103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Placement</a:t>
                      </a:r>
                      <a:endParaRPr lang="en-US" sz="103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Why it earns</a:t>
                      </a:r>
                      <a:endParaRPr lang="en-US" sz="103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Guardrail</a:t>
                      </a:r>
                      <a:endParaRPr lang="en-US" sz="103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extLst>
                  <a:ext uri="{0D108BD9-81ED-4DB2-BD59-A6C34878D82A}">
                    <a16:rowId xmlns:a16="http://schemas.microsoft.com/office/drawing/2014/main" val="10000"/>
                  </a:ext>
                </a:extLst>
              </a:tr>
              <a:tr h="502920">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Display banners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Feed positions 3 and 9, story footer</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Geo- and category-targeted, so a Mangaluru advertiser pays only for Mangaluru readers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Frequency-capped; never above the fold on a story</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1"/>
                  </a:ext>
                </a:extLst>
              </a:tr>
              <a:tr h="502920">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Native / sponsored</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In-feed cards and full sponsored articles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Reads like editorial and performs several times better than banners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Always labelled 'Sponsored'; separate from editorial ranking</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Video pre-roll</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Before video stories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Highest CPM inventory on the platform</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Skippable after 5 seconds; capped once per session</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3"/>
                  </a:ext>
                </a:extLst>
              </a:tr>
              <a:tr h="502920">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Property listings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Dedicated real-estate section and in-feed cards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Local builders pay for intent-qualified reach in a specific city</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Listings clearly separated from property news coverage</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House ads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Any unsold slot</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Unsold inventory promotes your own subscriptions instead of showing blank space</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Managed by editors from the console</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5"/>
                  </a:ext>
                </a:extLst>
              </a:tr>
            </a:tbl>
          </a:graphicData>
        </a:graphic>
      </p:graphicFrame>
      <p:sp>
        <p:nvSpPr>
          <p:cNvPr id="10" name="Shape 7"/>
          <p:cNvSpPr/>
          <p:nvPr/>
        </p:nvSpPr>
        <p:spPr>
          <a:xfrm>
            <a:off x="566928" y="4992624"/>
            <a:ext cx="420624" cy="420624"/>
          </a:xfrm>
          <a:prstGeom prst="ellipse">
            <a:avLst/>
          </a:prstGeom>
          <a:solidFill>
            <a:srgbClr val="C8102E"/>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672084" y="5097780"/>
            <a:ext cx="210312" cy="210312"/>
          </a:xfrm>
          <a:prstGeom prst="rect">
            <a:avLst/>
          </a:prstGeom>
        </p:spPr>
      </p:pic>
      <p:sp>
        <p:nvSpPr>
          <p:cNvPr id="12" name="Text 8"/>
          <p:cNvSpPr txBox="1"/>
          <p:nvPr/>
        </p:nvSpPr>
        <p:spPr>
          <a:xfrm>
            <a:off x="1133856" y="4974336"/>
            <a:ext cx="2962656"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Targeting depth</a:t>
            </a:r>
            <a:endParaRPr lang="en-US" sz="1300" dirty="0"/>
          </a:p>
        </p:txBody>
      </p:sp>
      <p:sp>
        <p:nvSpPr>
          <p:cNvPr id="13" name="Text 9"/>
          <p:cNvSpPr txBox="1"/>
          <p:nvPr/>
        </p:nvSpPr>
        <p:spPr>
          <a:xfrm>
            <a:off x="1133856" y="5239512"/>
            <a:ext cx="2962656" cy="100584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City, category, language, time of day and reader interest — sold as a package rather than as impressions.</a:t>
            </a:r>
            <a:endParaRPr lang="en-US" sz="1140" dirty="0"/>
          </a:p>
        </p:txBody>
      </p:sp>
      <p:sp>
        <p:nvSpPr>
          <p:cNvPr id="14" name="Shape 10"/>
          <p:cNvSpPr/>
          <p:nvPr/>
        </p:nvSpPr>
        <p:spPr>
          <a:xfrm>
            <a:off x="4306824" y="4992624"/>
            <a:ext cx="420624" cy="420624"/>
          </a:xfrm>
          <a:prstGeom prst="ellipse">
            <a:avLst/>
          </a:prstGeom>
          <a:solidFill>
            <a:srgbClr val="0F1E3D"/>
          </a:solidFill>
          <a:ln/>
        </p:spPr>
        <p:txBody>
          <a:bodyPr/>
          <a:lstStyle/>
          <a:p>
            <a:endParaRPr lang="en-AE"/>
          </a:p>
        </p:txBody>
      </p:sp>
      <p:pic>
        <p:nvPicPr>
          <p:cNvPr id="15" name="Image 1" descr="preencoded.png"/>
          <p:cNvPicPr>
            <a:picLocks noChangeAspect="1"/>
          </p:cNvPicPr>
          <p:nvPr/>
        </p:nvPicPr>
        <p:blipFill>
          <a:blip r:embed="rId4"/>
          <a:stretch>
            <a:fillRect/>
          </a:stretch>
        </p:blipFill>
        <p:spPr>
          <a:xfrm>
            <a:off x="4411980" y="5097780"/>
            <a:ext cx="210312" cy="210312"/>
          </a:xfrm>
          <a:prstGeom prst="rect">
            <a:avLst/>
          </a:prstGeom>
        </p:spPr>
      </p:pic>
      <p:sp>
        <p:nvSpPr>
          <p:cNvPr id="16" name="Text 11"/>
          <p:cNvSpPr txBox="1"/>
          <p:nvPr/>
        </p:nvSpPr>
        <p:spPr>
          <a:xfrm>
            <a:off x="4873752" y="4974336"/>
            <a:ext cx="2962656"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Advertiser reporting</a:t>
            </a:r>
            <a:endParaRPr lang="en-US" sz="1300" dirty="0"/>
          </a:p>
        </p:txBody>
      </p:sp>
      <p:sp>
        <p:nvSpPr>
          <p:cNvPr id="17" name="Text 12"/>
          <p:cNvSpPr txBox="1"/>
          <p:nvPr/>
        </p:nvSpPr>
        <p:spPr>
          <a:xfrm>
            <a:off x="4873752" y="5239512"/>
            <a:ext cx="2962656" cy="100584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A self-serve dashboard for direct advertisers: impressions, clicks and reach by city.</a:t>
            </a:r>
            <a:endParaRPr lang="en-US" sz="1140" dirty="0"/>
          </a:p>
        </p:txBody>
      </p:sp>
      <p:sp>
        <p:nvSpPr>
          <p:cNvPr id="18" name="Shape 13"/>
          <p:cNvSpPr/>
          <p:nvPr/>
        </p:nvSpPr>
        <p:spPr>
          <a:xfrm>
            <a:off x="8046720" y="4992624"/>
            <a:ext cx="420624" cy="420624"/>
          </a:xfrm>
          <a:prstGeom prst="ellipse">
            <a:avLst/>
          </a:prstGeom>
          <a:solidFill>
            <a:srgbClr val="C8102E"/>
          </a:solidFill>
          <a:ln/>
        </p:spPr>
        <p:txBody>
          <a:bodyPr/>
          <a:lstStyle/>
          <a:p>
            <a:endParaRPr lang="en-AE"/>
          </a:p>
        </p:txBody>
      </p:sp>
      <p:pic>
        <p:nvPicPr>
          <p:cNvPr id="19" name="Image 2" descr="preencoded.png"/>
          <p:cNvPicPr>
            <a:picLocks noChangeAspect="1"/>
          </p:cNvPicPr>
          <p:nvPr/>
        </p:nvPicPr>
        <p:blipFill>
          <a:blip r:embed="rId5"/>
          <a:stretch>
            <a:fillRect/>
          </a:stretch>
        </p:blipFill>
        <p:spPr>
          <a:xfrm>
            <a:off x="8151876" y="5097780"/>
            <a:ext cx="210312" cy="210312"/>
          </a:xfrm>
          <a:prstGeom prst="rect">
            <a:avLst/>
          </a:prstGeom>
        </p:spPr>
      </p:pic>
      <p:sp>
        <p:nvSpPr>
          <p:cNvPr id="20" name="Text 14"/>
          <p:cNvSpPr txBox="1"/>
          <p:nvPr/>
        </p:nvSpPr>
        <p:spPr>
          <a:xfrm>
            <a:off x="8613648" y="4974336"/>
            <a:ext cx="2962656"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Reader experience first</a:t>
            </a:r>
            <a:endParaRPr lang="en-US" sz="1300" dirty="0"/>
          </a:p>
        </p:txBody>
      </p:sp>
      <p:sp>
        <p:nvSpPr>
          <p:cNvPr id="21" name="Text 15"/>
          <p:cNvSpPr txBox="1"/>
          <p:nvPr/>
        </p:nvSpPr>
        <p:spPr>
          <a:xfrm>
            <a:off x="8613648" y="5239512"/>
            <a:ext cx="2962656" cy="100584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Hard limits on ad density per screen. An app abandoned over ad load earns nothing at all.</a:t>
            </a:r>
            <a:endParaRPr lang="en-US" sz="11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04 · BUSINESS CASE</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Subscription tiers</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A free tier that stays genuinely useful, and two paid tiers worth upgrading to.</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25</a:t>
            </a:r>
            <a:endParaRPr lang="en-US" sz="1050" dirty="0"/>
          </a:p>
        </p:txBody>
      </p:sp>
      <p:sp>
        <p:nvSpPr>
          <p:cNvPr id="9" name="Shape 7"/>
          <p:cNvSpPr/>
          <p:nvPr/>
        </p:nvSpPr>
        <p:spPr>
          <a:xfrm>
            <a:off x="566928" y="1645920"/>
            <a:ext cx="3529584" cy="3968496"/>
          </a:xfrm>
          <a:prstGeom prst="roundRect">
            <a:avLst>
              <a:gd name="adj" fmla="val 3109"/>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Text 8"/>
          <p:cNvSpPr txBox="1"/>
          <p:nvPr/>
        </p:nvSpPr>
        <p:spPr>
          <a:xfrm>
            <a:off x="841248" y="1828800"/>
            <a:ext cx="1920240" cy="347472"/>
          </a:xfrm>
          <a:prstGeom prst="rect">
            <a:avLst/>
          </a:prstGeom>
          <a:noFill/>
          <a:ln/>
        </p:spPr>
        <p:txBody>
          <a:bodyPr wrap="square" lIns="0" tIns="0" rIns="0" bIns="0" rtlCol="0" anchor="ctr"/>
          <a:lstStyle/>
          <a:p>
            <a:pPr marL="0" indent="0">
              <a:buNone/>
            </a:pPr>
            <a:r>
              <a:rPr lang="en-US" sz="2000" b="1" dirty="0">
                <a:solidFill>
                  <a:srgbClr val="0F1E3D"/>
                </a:solidFill>
                <a:latin typeface="Cambria" pitchFamily="34" charset="0"/>
                <a:ea typeface="Cambria" pitchFamily="34" charset="-122"/>
                <a:cs typeface="Cambria" pitchFamily="34" charset="-120"/>
              </a:rPr>
              <a:t>Free</a:t>
            </a:r>
            <a:endParaRPr lang="en-US" sz="2000" dirty="0"/>
          </a:p>
        </p:txBody>
      </p:sp>
      <p:sp>
        <p:nvSpPr>
          <p:cNvPr id="11" name="Text 9"/>
          <p:cNvSpPr txBox="1"/>
          <p:nvPr/>
        </p:nvSpPr>
        <p:spPr>
          <a:xfrm>
            <a:off x="841248" y="2249424"/>
            <a:ext cx="2194560" cy="566928"/>
          </a:xfrm>
          <a:prstGeom prst="rect">
            <a:avLst/>
          </a:prstGeom>
          <a:noFill/>
          <a:ln/>
        </p:spPr>
        <p:txBody>
          <a:bodyPr wrap="square" lIns="0" tIns="0" rIns="0" bIns="0" rtlCol="0" anchor="ctr"/>
          <a:lstStyle/>
          <a:p>
            <a:pPr marL="0" indent="0">
              <a:buNone/>
            </a:pPr>
            <a:r>
              <a:rPr lang="en-US" sz="3400" b="1" dirty="0">
                <a:solidFill>
                  <a:srgbClr val="5A6B87"/>
                </a:solidFill>
                <a:latin typeface="Cambria" pitchFamily="34" charset="0"/>
                <a:ea typeface="Cambria" pitchFamily="34" charset="-122"/>
                <a:cs typeface="Cambria" pitchFamily="34" charset="-120"/>
              </a:rPr>
              <a:t>₹0</a:t>
            </a:r>
            <a:endParaRPr lang="en-US" sz="3400" dirty="0"/>
          </a:p>
        </p:txBody>
      </p:sp>
      <p:sp>
        <p:nvSpPr>
          <p:cNvPr id="12" name="Text 10"/>
          <p:cNvSpPr txBox="1"/>
          <p:nvPr/>
        </p:nvSpPr>
        <p:spPr>
          <a:xfrm>
            <a:off x="841248" y="2816352"/>
            <a:ext cx="2980944" cy="237744"/>
          </a:xfrm>
          <a:prstGeom prst="rect">
            <a:avLst/>
          </a:prstGeom>
          <a:noFill/>
          <a:ln/>
        </p:spPr>
        <p:txBody>
          <a:bodyPr wrap="square" lIns="0" tIns="0" rIns="0" bIns="0" rtlCol="0" anchor="ctr"/>
          <a:lstStyle/>
          <a:p>
            <a:pPr marL="0" indent="0">
              <a:buNone/>
            </a:pPr>
            <a:r>
              <a:rPr lang="en-US" sz="1050" dirty="0">
                <a:solidFill>
                  <a:srgbClr val="77839B"/>
                </a:solidFill>
                <a:latin typeface="Calibri" pitchFamily="34" charset="0"/>
                <a:ea typeface="Calibri" pitchFamily="34" charset="-122"/>
                <a:cs typeface="Calibri" pitchFamily="34" charset="-120"/>
              </a:rPr>
              <a:t>The default experience</a:t>
            </a:r>
            <a:endParaRPr lang="en-US" sz="1050" dirty="0"/>
          </a:p>
        </p:txBody>
      </p:sp>
      <p:sp>
        <p:nvSpPr>
          <p:cNvPr id="13" name="Shape 11"/>
          <p:cNvSpPr/>
          <p:nvPr/>
        </p:nvSpPr>
        <p:spPr>
          <a:xfrm>
            <a:off x="841248" y="3209544"/>
            <a:ext cx="201168" cy="201168"/>
          </a:xfrm>
          <a:prstGeom prst="ellipse">
            <a:avLst/>
          </a:prstGeom>
          <a:solidFill>
            <a:srgbClr val="5A6B87"/>
          </a:solidFill>
          <a:ln/>
        </p:spPr>
        <p:txBody>
          <a:bodyPr/>
          <a:lstStyle/>
          <a:p>
            <a:endParaRPr lang="en-AE"/>
          </a:p>
        </p:txBody>
      </p:sp>
      <p:pic>
        <p:nvPicPr>
          <p:cNvPr id="14" name="Image 0" descr="preencoded.png"/>
          <p:cNvPicPr>
            <a:picLocks noChangeAspect="1"/>
          </p:cNvPicPr>
          <p:nvPr/>
        </p:nvPicPr>
        <p:blipFill>
          <a:blip r:embed="rId3"/>
          <a:stretch>
            <a:fillRect/>
          </a:stretch>
        </p:blipFill>
        <p:spPr>
          <a:xfrm>
            <a:off x="891540" y="3259836"/>
            <a:ext cx="100584" cy="100584"/>
          </a:xfrm>
          <a:prstGeom prst="rect">
            <a:avLst/>
          </a:prstGeom>
        </p:spPr>
      </p:pic>
      <p:sp>
        <p:nvSpPr>
          <p:cNvPr id="15" name="Text 12"/>
          <p:cNvSpPr txBox="1"/>
          <p:nvPr/>
        </p:nvSpPr>
        <p:spPr>
          <a:xfrm>
            <a:off x="1133856" y="3163824"/>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Full access to all news</a:t>
            </a:r>
            <a:endParaRPr lang="en-US" sz="1120" dirty="0"/>
          </a:p>
        </p:txBody>
      </p:sp>
      <p:sp>
        <p:nvSpPr>
          <p:cNvPr id="16" name="Shape 13"/>
          <p:cNvSpPr/>
          <p:nvPr/>
        </p:nvSpPr>
        <p:spPr>
          <a:xfrm>
            <a:off x="841248" y="3611880"/>
            <a:ext cx="201168" cy="201168"/>
          </a:xfrm>
          <a:prstGeom prst="ellipse">
            <a:avLst/>
          </a:prstGeom>
          <a:solidFill>
            <a:srgbClr val="5A6B87"/>
          </a:solidFill>
          <a:ln/>
        </p:spPr>
        <p:txBody>
          <a:bodyPr/>
          <a:lstStyle/>
          <a:p>
            <a:endParaRPr lang="en-AE"/>
          </a:p>
        </p:txBody>
      </p:sp>
      <p:pic>
        <p:nvPicPr>
          <p:cNvPr id="17" name="Image 1" descr="preencoded.png"/>
          <p:cNvPicPr>
            <a:picLocks noChangeAspect="1"/>
          </p:cNvPicPr>
          <p:nvPr/>
        </p:nvPicPr>
        <p:blipFill>
          <a:blip r:embed="rId3"/>
          <a:stretch>
            <a:fillRect/>
          </a:stretch>
        </p:blipFill>
        <p:spPr>
          <a:xfrm>
            <a:off x="891540" y="3662172"/>
            <a:ext cx="100584" cy="100584"/>
          </a:xfrm>
          <a:prstGeom prst="rect">
            <a:avLst/>
          </a:prstGeom>
        </p:spPr>
      </p:pic>
      <p:sp>
        <p:nvSpPr>
          <p:cNvPr id="18" name="Text 14"/>
          <p:cNvSpPr txBox="1"/>
          <p:nvPr/>
        </p:nvSpPr>
        <p:spPr>
          <a:xfrm>
            <a:off x="1133856" y="3566160"/>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Both languages</a:t>
            </a:r>
            <a:endParaRPr lang="en-US" sz="1120" dirty="0"/>
          </a:p>
        </p:txBody>
      </p:sp>
      <p:sp>
        <p:nvSpPr>
          <p:cNvPr id="19" name="Shape 15"/>
          <p:cNvSpPr/>
          <p:nvPr/>
        </p:nvSpPr>
        <p:spPr>
          <a:xfrm>
            <a:off x="841248" y="4014216"/>
            <a:ext cx="201168" cy="201168"/>
          </a:xfrm>
          <a:prstGeom prst="ellipse">
            <a:avLst/>
          </a:prstGeom>
          <a:solidFill>
            <a:srgbClr val="5A6B87"/>
          </a:solidFill>
          <a:ln/>
        </p:spPr>
        <p:txBody>
          <a:bodyPr/>
          <a:lstStyle/>
          <a:p>
            <a:endParaRPr lang="en-AE"/>
          </a:p>
        </p:txBody>
      </p:sp>
      <p:pic>
        <p:nvPicPr>
          <p:cNvPr id="20" name="Image 2" descr="preencoded.png"/>
          <p:cNvPicPr>
            <a:picLocks noChangeAspect="1"/>
          </p:cNvPicPr>
          <p:nvPr/>
        </p:nvPicPr>
        <p:blipFill>
          <a:blip r:embed="rId3"/>
          <a:stretch>
            <a:fillRect/>
          </a:stretch>
        </p:blipFill>
        <p:spPr>
          <a:xfrm>
            <a:off x="891540" y="4064508"/>
            <a:ext cx="100584" cy="100584"/>
          </a:xfrm>
          <a:prstGeom prst="rect">
            <a:avLst/>
          </a:prstGeom>
        </p:spPr>
      </p:pic>
      <p:sp>
        <p:nvSpPr>
          <p:cNvPr id="21" name="Text 16"/>
          <p:cNvSpPr txBox="1"/>
          <p:nvPr/>
        </p:nvSpPr>
        <p:spPr>
          <a:xfrm>
            <a:off x="1133856" y="3968496"/>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Comments and bookmarks</a:t>
            </a:r>
            <a:endParaRPr lang="en-US" sz="1120" dirty="0"/>
          </a:p>
        </p:txBody>
      </p:sp>
      <p:sp>
        <p:nvSpPr>
          <p:cNvPr id="22" name="Shape 17"/>
          <p:cNvSpPr/>
          <p:nvPr/>
        </p:nvSpPr>
        <p:spPr>
          <a:xfrm>
            <a:off x="841248" y="4416552"/>
            <a:ext cx="201168" cy="201168"/>
          </a:xfrm>
          <a:prstGeom prst="ellipse">
            <a:avLst/>
          </a:prstGeom>
          <a:solidFill>
            <a:srgbClr val="5A6B87"/>
          </a:solidFill>
          <a:ln/>
        </p:spPr>
        <p:txBody>
          <a:bodyPr/>
          <a:lstStyle/>
          <a:p>
            <a:endParaRPr lang="en-AE"/>
          </a:p>
        </p:txBody>
      </p:sp>
      <p:pic>
        <p:nvPicPr>
          <p:cNvPr id="23" name="Image 3" descr="preencoded.png"/>
          <p:cNvPicPr>
            <a:picLocks noChangeAspect="1"/>
          </p:cNvPicPr>
          <p:nvPr/>
        </p:nvPicPr>
        <p:blipFill>
          <a:blip r:embed="rId3"/>
          <a:stretch>
            <a:fillRect/>
          </a:stretch>
        </p:blipFill>
        <p:spPr>
          <a:xfrm>
            <a:off x="891540" y="4466844"/>
            <a:ext cx="100584" cy="100584"/>
          </a:xfrm>
          <a:prstGeom prst="rect">
            <a:avLst/>
          </a:prstGeom>
        </p:spPr>
      </p:pic>
      <p:sp>
        <p:nvSpPr>
          <p:cNvPr id="24" name="Text 18"/>
          <p:cNvSpPr txBox="1"/>
          <p:nvPr/>
        </p:nvSpPr>
        <p:spPr>
          <a:xfrm>
            <a:off x="1133856" y="4370832"/>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Ad-supported</a:t>
            </a:r>
            <a:endParaRPr lang="en-US" sz="1120" dirty="0"/>
          </a:p>
        </p:txBody>
      </p:sp>
      <p:sp>
        <p:nvSpPr>
          <p:cNvPr id="25" name="Shape 19"/>
          <p:cNvSpPr/>
          <p:nvPr/>
        </p:nvSpPr>
        <p:spPr>
          <a:xfrm>
            <a:off x="841248" y="4818888"/>
            <a:ext cx="201168" cy="201168"/>
          </a:xfrm>
          <a:prstGeom prst="ellipse">
            <a:avLst/>
          </a:prstGeom>
          <a:solidFill>
            <a:srgbClr val="5A6B87"/>
          </a:solidFill>
          <a:ln/>
        </p:spPr>
        <p:txBody>
          <a:bodyPr/>
          <a:lstStyle/>
          <a:p>
            <a:endParaRPr lang="en-AE"/>
          </a:p>
        </p:txBody>
      </p:sp>
      <p:pic>
        <p:nvPicPr>
          <p:cNvPr id="26" name="Image 4" descr="preencoded.png"/>
          <p:cNvPicPr>
            <a:picLocks noChangeAspect="1"/>
          </p:cNvPicPr>
          <p:nvPr/>
        </p:nvPicPr>
        <p:blipFill>
          <a:blip r:embed="rId3"/>
          <a:stretch>
            <a:fillRect/>
          </a:stretch>
        </p:blipFill>
        <p:spPr>
          <a:xfrm>
            <a:off x="891540" y="4869180"/>
            <a:ext cx="100584" cy="100584"/>
          </a:xfrm>
          <a:prstGeom prst="rect">
            <a:avLst/>
          </a:prstGeom>
        </p:spPr>
      </p:pic>
      <p:sp>
        <p:nvSpPr>
          <p:cNvPr id="27" name="Text 20"/>
          <p:cNvSpPr txBox="1"/>
          <p:nvPr/>
        </p:nvSpPr>
        <p:spPr>
          <a:xfrm>
            <a:off x="1133856" y="4773168"/>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Standard push alerts</a:t>
            </a:r>
            <a:endParaRPr lang="en-US" sz="1120" dirty="0"/>
          </a:p>
        </p:txBody>
      </p:sp>
      <p:sp>
        <p:nvSpPr>
          <p:cNvPr id="28" name="Text 21"/>
          <p:cNvSpPr txBox="1"/>
          <p:nvPr/>
        </p:nvSpPr>
        <p:spPr>
          <a:xfrm>
            <a:off x="841248" y="5047488"/>
            <a:ext cx="2980944" cy="310896"/>
          </a:xfrm>
          <a:prstGeom prst="rect">
            <a:avLst/>
          </a:prstGeom>
          <a:noFill/>
          <a:ln/>
        </p:spPr>
        <p:txBody>
          <a:bodyPr wrap="square" lIns="0" tIns="0" rIns="0" bIns="0" rtlCol="0" anchor="ctr"/>
          <a:lstStyle/>
          <a:p>
            <a:pPr marL="0" indent="0">
              <a:buNone/>
            </a:pPr>
            <a:r>
              <a:rPr lang="en-US" sz="1050" b="1" dirty="0">
                <a:solidFill>
                  <a:srgbClr val="77839B"/>
                </a:solidFill>
                <a:latin typeface="Calibri" pitchFamily="34" charset="0"/>
                <a:ea typeface="Calibri" pitchFamily="34" charset="-122"/>
                <a:cs typeface="Calibri" pitchFamily="34" charset="-120"/>
              </a:rPr>
              <a:t>Reader acquisition</a:t>
            </a:r>
            <a:endParaRPr lang="en-US" sz="1050" dirty="0"/>
          </a:p>
        </p:txBody>
      </p:sp>
      <p:sp>
        <p:nvSpPr>
          <p:cNvPr id="29" name="Shape 22"/>
          <p:cNvSpPr/>
          <p:nvPr/>
        </p:nvSpPr>
        <p:spPr>
          <a:xfrm>
            <a:off x="4306824" y="1645920"/>
            <a:ext cx="3529584" cy="3968496"/>
          </a:xfrm>
          <a:prstGeom prst="roundRect">
            <a:avLst>
              <a:gd name="adj" fmla="val 3109"/>
            </a:avLst>
          </a:prstGeom>
          <a:solidFill>
            <a:srgbClr val="0F1E3D"/>
          </a:solidFill>
          <a:ln/>
          <a:effectLst>
            <a:outerShdw blurRad="127000" dist="25400" dir="5400000" algn="bl" rotWithShape="0">
              <a:srgbClr val="0F1E3D">
                <a:alpha val="10000"/>
              </a:srgbClr>
            </a:outerShdw>
          </a:effectLst>
        </p:spPr>
        <p:txBody>
          <a:bodyPr/>
          <a:lstStyle/>
          <a:p>
            <a:endParaRPr lang="en-AE"/>
          </a:p>
        </p:txBody>
      </p:sp>
      <p:sp>
        <p:nvSpPr>
          <p:cNvPr id="30" name="Shape 23"/>
          <p:cNvSpPr/>
          <p:nvPr/>
        </p:nvSpPr>
        <p:spPr>
          <a:xfrm>
            <a:off x="6556248" y="1865376"/>
            <a:ext cx="1060704" cy="274320"/>
          </a:xfrm>
          <a:prstGeom prst="roundRect">
            <a:avLst>
              <a:gd name="adj" fmla="val 20000"/>
            </a:avLst>
          </a:prstGeom>
          <a:solidFill>
            <a:srgbClr val="F0A81C"/>
          </a:solidFill>
          <a:ln/>
        </p:spPr>
        <p:txBody>
          <a:bodyPr/>
          <a:lstStyle/>
          <a:p>
            <a:endParaRPr lang="en-AE"/>
          </a:p>
        </p:txBody>
      </p:sp>
      <p:sp>
        <p:nvSpPr>
          <p:cNvPr id="31" name="Text 24"/>
          <p:cNvSpPr txBox="1"/>
          <p:nvPr/>
        </p:nvSpPr>
        <p:spPr>
          <a:xfrm>
            <a:off x="6556248" y="1865376"/>
            <a:ext cx="1060704" cy="274320"/>
          </a:xfrm>
          <a:prstGeom prst="rect">
            <a:avLst/>
          </a:prstGeom>
          <a:noFill/>
          <a:ln/>
        </p:spPr>
        <p:txBody>
          <a:bodyPr wrap="square" lIns="0" tIns="0" rIns="0" bIns="0" rtlCol="0" anchor="ctr"/>
          <a:lstStyle/>
          <a:p>
            <a:pPr marL="0" indent="0" algn="ctr">
              <a:buNone/>
            </a:pPr>
            <a:r>
              <a:rPr lang="en-US" sz="800" b="1" kern="0" spc="100" dirty="0">
                <a:solidFill>
                  <a:srgbClr val="0F1E3D"/>
                </a:solidFill>
                <a:latin typeface="Calibri" pitchFamily="34" charset="0"/>
                <a:ea typeface="Calibri" pitchFamily="34" charset="-122"/>
                <a:cs typeface="Calibri" pitchFamily="34" charset="-120"/>
              </a:rPr>
              <a:t>POPULAR</a:t>
            </a:r>
            <a:endParaRPr lang="en-US" sz="800" dirty="0"/>
          </a:p>
        </p:txBody>
      </p:sp>
      <p:sp>
        <p:nvSpPr>
          <p:cNvPr id="32" name="Text 25"/>
          <p:cNvSpPr txBox="1"/>
          <p:nvPr/>
        </p:nvSpPr>
        <p:spPr>
          <a:xfrm>
            <a:off x="4581144" y="1828800"/>
            <a:ext cx="1920240" cy="347472"/>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Plus</a:t>
            </a:r>
            <a:endParaRPr lang="en-US" sz="2000" dirty="0"/>
          </a:p>
        </p:txBody>
      </p:sp>
      <p:sp>
        <p:nvSpPr>
          <p:cNvPr id="33" name="Text 26"/>
          <p:cNvSpPr txBox="1"/>
          <p:nvPr/>
        </p:nvSpPr>
        <p:spPr>
          <a:xfrm>
            <a:off x="4581144" y="2249424"/>
            <a:ext cx="2194560" cy="566928"/>
          </a:xfrm>
          <a:prstGeom prst="rect">
            <a:avLst/>
          </a:prstGeom>
          <a:noFill/>
          <a:ln/>
        </p:spPr>
        <p:txBody>
          <a:bodyPr wrap="square" lIns="0" tIns="0" rIns="0" bIns="0" rtlCol="0" anchor="ctr"/>
          <a:lstStyle/>
          <a:p>
            <a:pPr marL="0" indent="0">
              <a:buNone/>
            </a:pPr>
            <a:r>
              <a:rPr lang="en-US" sz="3400" b="1" dirty="0">
                <a:solidFill>
                  <a:srgbClr val="F0A81C"/>
                </a:solidFill>
                <a:latin typeface="Cambria" pitchFamily="34" charset="0"/>
                <a:ea typeface="Cambria" pitchFamily="34" charset="-122"/>
                <a:cs typeface="Cambria" pitchFamily="34" charset="-120"/>
              </a:rPr>
              <a:t>₹99</a:t>
            </a:r>
            <a:endParaRPr lang="en-US" sz="3400" dirty="0"/>
          </a:p>
        </p:txBody>
      </p:sp>
      <p:sp>
        <p:nvSpPr>
          <p:cNvPr id="34" name="Text 27"/>
          <p:cNvSpPr txBox="1"/>
          <p:nvPr/>
        </p:nvSpPr>
        <p:spPr>
          <a:xfrm>
            <a:off x="4581144" y="2816352"/>
            <a:ext cx="2980944" cy="237744"/>
          </a:xfrm>
          <a:prstGeom prst="rect">
            <a:avLst/>
          </a:prstGeom>
          <a:noFill/>
          <a:ln/>
        </p:spPr>
        <p:txBody>
          <a:bodyPr wrap="square" lIns="0" tIns="0" rIns="0" bIns="0" rtlCol="0" anchor="ctr"/>
          <a:lstStyle/>
          <a:p>
            <a:pPr marL="0" indent="0">
              <a:buNone/>
            </a:pPr>
            <a:r>
              <a:rPr lang="en-US" sz="1050" dirty="0">
                <a:solidFill>
                  <a:srgbClr val="9DB0CE"/>
                </a:solidFill>
                <a:latin typeface="Calibri" pitchFamily="34" charset="0"/>
                <a:ea typeface="Calibri" pitchFamily="34" charset="-122"/>
                <a:cs typeface="Calibri" pitchFamily="34" charset="-120"/>
              </a:rPr>
              <a:t>per month</a:t>
            </a:r>
            <a:endParaRPr lang="en-US" sz="1050" dirty="0"/>
          </a:p>
        </p:txBody>
      </p:sp>
      <p:sp>
        <p:nvSpPr>
          <p:cNvPr id="35" name="Shape 28"/>
          <p:cNvSpPr/>
          <p:nvPr/>
        </p:nvSpPr>
        <p:spPr>
          <a:xfrm>
            <a:off x="4581144" y="3209544"/>
            <a:ext cx="201168" cy="201168"/>
          </a:xfrm>
          <a:prstGeom prst="ellipse">
            <a:avLst/>
          </a:prstGeom>
          <a:solidFill>
            <a:srgbClr val="F0A81C"/>
          </a:solidFill>
          <a:ln/>
        </p:spPr>
        <p:txBody>
          <a:bodyPr/>
          <a:lstStyle/>
          <a:p>
            <a:endParaRPr lang="en-AE"/>
          </a:p>
        </p:txBody>
      </p:sp>
      <p:pic>
        <p:nvPicPr>
          <p:cNvPr id="36" name="Image 5" descr="preencoded.png"/>
          <p:cNvPicPr>
            <a:picLocks noChangeAspect="1"/>
          </p:cNvPicPr>
          <p:nvPr/>
        </p:nvPicPr>
        <p:blipFill>
          <a:blip r:embed="rId4"/>
          <a:stretch>
            <a:fillRect/>
          </a:stretch>
        </p:blipFill>
        <p:spPr>
          <a:xfrm>
            <a:off x="4631436" y="3259836"/>
            <a:ext cx="100584" cy="100584"/>
          </a:xfrm>
          <a:prstGeom prst="rect">
            <a:avLst/>
          </a:prstGeom>
        </p:spPr>
      </p:pic>
      <p:sp>
        <p:nvSpPr>
          <p:cNvPr id="37" name="Text 29"/>
          <p:cNvSpPr txBox="1"/>
          <p:nvPr/>
        </p:nvSpPr>
        <p:spPr>
          <a:xfrm>
            <a:off x="4873752" y="3163824"/>
            <a:ext cx="2724912" cy="292608"/>
          </a:xfrm>
          <a:prstGeom prst="rect">
            <a:avLst/>
          </a:prstGeom>
          <a:noFill/>
          <a:ln/>
        </p:spPr>
        <p:txBody>
          <a:bodyPr wrap="square" lIns="0" tIns="0" rIns="0" bIns="0" rtlCol="0" anchor="ctr"/>
          <a:lstStyle/>
          <a:p>
            <a:pPr marL="0" indent="0">
              <a:buNone/>
            </a:pPr>
            <a:r>
              <a:rPr lang="en-US" sz="1120" dirty="0">
                <a:solidFill>
                  <a:srgbClr val="DCE5F2"/>
                </a:solidFill>
                <a:latin typeface="Calibri" pitchFamily="34" charset="0"/>
                <a:ea typeface="Calibri" pitchFamily="34" charset="-122"/>
                <a:cs typeface="Calibri" pitchFamily="34" charset="-120"/>
              </a:rPr>
              <a:t>Everything in Free</a:t>
            </a:r>
            <a:endParaRPr lang="en-US" sz="1120" dirty="0"/>
          </a:p>
        </p:txBody>
      </p:sp>
      <p:sp>
        <p:nvSpPr>
          <p:cNvPr id="38" name="Shape 30"/>
          <p:cNvSpPr/>
          <p:nvPr/>
        </p:nvSpPr>
        <p:spPr>
          <a:xfrm>
            <a:off x="4581144" y="3611880"/>
            <a:ext cx="201168" cy="201168"/>
          </a:xfrm>
          <a:prstGeom prst="ellipse">
            <a:avLst/>
          </a:prstGeom>
          <a:solidFill>
            <a:srgbClr val="F0A81C"/>
          </a:solidFill>
          <a:ln/>
        </p:spPr>
        <p:txBody>
          <a:bodyPr/>
          <a:lstStyle/>
          <a:p>
            <a:endParaRPr lang="en-AE"/>
          </a:p>
        </p:txBody>
      </p:sp>
      <p:pic>
        <p:nvPicPr>
          <p:cNvPr id="39" name="Image 6" descr="preencoded.png"/>
          <p:cNvPicPr>
            <a:picLocks noChangeAspect="1"/>
          </p:cNvPicPr>
          <p:nvPr/>
        </p:nvPicPr>
        <p:blipFill>
          <a:blip r:embed="rId4"/>
          <a:stretch>
            <a:fillRect/>
          </a:stretch>
        </p:blipFill>
        <p:spPr>
          <a:xfrm>
            <a:off x="4631436" y="3662172"/>
            <a:ext cx="100584" cy="100584"/>
          </a:xfrm>
          <a:prstGeom prst="rect">
            <a:avLst/>
          </a:prstGeom>
        </p:spPr>
      </p:pic>
      <p:sp>
        <p:nvSpPr>
          <p:cNvPr id="40" name="Text 31"/>
          <p:cNvSpPr txBox="1"/>
          <p:nvPr/>
        </p:nvSpPr>
        <p:spPr>
          <a:xfrm>
            <a:off x="4873752" y="3566160"/>
            <a:ext cx="2724912" cy="292608"/>
          </a:xfrm>
          <a:prstGeom prst="rect">
            <a:avLst/>
          </a:prstGeom>
          <a:noFill/>
          <a:ln/>
        </p:spPr>
        <p:txBody>
          <a:bodyPr wrap="square" lIns="0" tIns="0" rIns="0" bIns="0" rtlCol="0" anchor="ctr"/>
          <a:lstStyle/>
          <a:p>
            <a:pPr marL="0" indent="0">
              <a:buNone/>
            </a:pPr>
            <a:r>
              <a:rPr lang="en-US" sz="1120" dirty="0">
                <a:solidFill>
                  <a:srgbClr val="DCE5F2"/>
                </a:solidFill>
                <a:latin typeface="Calibri" pitchFamily="34" charset="0"/>
                <a:ea typeface="Calibri" pitchFamily="34" charset="-122"/>
                <a:cs typeface="Calibri" pitchFamily="34" charset="-120"/>
              </a:rPr>
              <a:t>Completely ad-free</a:t>
            </a:r>
            <a:endParaRPr lang="en-US" sz="1120" dirty="0"/>
          </a:p>
        </p:txBody>
      </p:sp>
      <p:sp>
        <p:nvSpPr>
          <p:cNvPr id="41" name="Shape 32"/>
          <p:cNvSpPr/>
          <p:nvPr/>
        </p:nvSpPr>
        <p:spPr>
          <a:xfrm>
            <a:off x="4581144" y="4014216"/>
            <a:ext cx="201168" cy="201168"/>
          </a:xfrm>
          <a:prstGeom prst="ellipse">
            <a:avLst/>
          </a:prstGeom>
          <a:solidFill>
            <a:srgbClr val="F0A81C"/>
          </a:solidFill>
          <a:ln/>
        </p:spPr>
        <p:txBody>
          <a:bodyPr/>
          <a:lstStyle/>
          <a:p>
            <a:endParaRPr lang="en-AE"/>
          </a:p>
        </p:txBody>
      </p:sp>
      <p:pic>
        <p:nvPicPr>
          <p:cNvPr id="42" name="Image 7" descr="preencoded.png"/>
          <p:cNvPicPr>
            <a:picLocks noChangeAspect="1"/>
          </p:cNvPicPr>
          <p:nvPr/>
        </p:nvPicPr>
        <p:blipFill>
          <a:blip r:embed="rId4"/>
          <a:stretch>
            <a:fillRect/>
          </a:stretch>
        </p:blipFill>
        <p:spPr>
          <a:xfrm>
            <a:off x="4631436" y="4064508"/>
            <a:ext cx="100584" cy="100584"/>
          </a:xfrm>
          <a:prstGeom prst="rect">
            <a:avLst/>
          </a:prstGeom>
        </p:spPr>
      </p:pic>
      <p:sp>
        <p:nvSpPr>
          <p:cNvPr id="43" name="Text 33"/>
          <p:cNvSpPr txBox="1"/>
          <p:nvPr/>
        </p:nvSpPr>
        <p:spPr>
          <a:xfrm>
            <a:off x="4873752" y="3968496"/>
            <a:ext cx="2724912" cy="292608"/>
          </a:xfrm>
          <a:prstGeom prst="rect">
            <a:avLst/>
          </a:prstGeom>
          <a:noFill/>
          <a:ln/>
        </p:spPr>
        <p:txBody>
          <a:bodyPr wrap="square" lIns="0" tIns="0" rIns="0" bIns="0" rtlCol="0" anchor="ctr"/>
          <a:lstStyle/>
          <a:p>
            <a:pPr marL="0" indent="0">
              <a:buNone/>
            </a:pPr>
            <a:r>
              <a:rPr lang="en-US" sz="1120" dirty="0">
                <a:solidFill>
                  <a:srgbClr val="DCE5F2"/>
                </a:solidFill>
                <a:latin typeface="Calibri" pitchFamily="34" charset="0"/>
                <a:ea typeface="Calibri" pitchFamily="34" charset="-122"/>
                <a:cs typeface="Calibri" pitchFamily="34" charset="-120"/>
              </a:rPr>
              <a:t>Offline download — 100 stories a month</a:t>
            </a:r>
            <a:endParaRPr lang="en-US" sz="1120" dirty="0"/>
          </a:p>
        </p:txBody>
      </p:sp>
      <p:sp>
        <p:nvSpPr>
          <p:cNvPr id="44" name="Shape 34"/>
          <p:cNvSpPr/>
          <p:nvPr/>
        </p:nvSpPr>
        <p:spPr>
          <a:xfrm>
            <a:off x="4581144" y="4416552"/>
            <a:ext cx="201168" cy="201168"/>
          </a:xfrm>
          <a:prstGeom prst="ellipse">
            <a:avLst/>
          </a:prstGeom>
          <a:solidFill>
            <a:srgbClr val="F0A81C"/>
          </a:solidFill>
          <a:ln/>
        </p:spPr>
        <p:txBody>
          <a:bodyPr/>
          <a:lstStyle/>
          <a:p>
            <a:endParaRPr lang="en-AE"/>
          </a:p>
        </p:txBody>
      </p:sp>
      <p:pic>
        <p:nvPicPr>
          <p:cNvPr id="45" name="Image 8" descr="preencoded.png"/>
          <p:cNvPicPr>
            <a:picLocks noChangeAspect="1"/>
          </p:cNvPicPr>
          <p:nvPr/>
        </p:nvPicPr>
        <p:blipFill>
          <a:blip r:embed="rId4"/>
          <a:stretch>
            <a:fillRect/>
          </a:stretch>
        </p:blipFill>
        <p:spPr>
          <a:xfrm>
            <a:off x="4631436" y="4466844"/>
            <a:ext cx="100584" cy="100584"/>
          </a:xfrm>
          <a:prstGeom prst="rect">
            <a:avLst/>
          </a:prstGeom>
        </p:spPr>
      </p:pic>
      <p:sp>
        <p:nvSpPr>
          <p:cNvPr id="46" name="Text 35"/>
          <p:cNvSpPr txBox="1"/>
          <p:nvPr/>
        </p:nvSpPr>
        <p:spPr>
          <a:xfrm>
            <a:off x="4873752" y="4370832"/>
            <a:ext cx="2724912" cy="292608"/>
          </a:xfrm>
          <a:prstGeom prst="rect">
            <a:avLst/>
          </a:prstGeom>
          <a:noFill/>
          <a:ln/>
        </p:spPr>
        <p:txBody>
          <a:bodyPr wrap="square" lIns="0" tIns="0" rIns="0" bIns="0" rtlCol="0" anchor="ctr"/>
          <a:lstStyle/>
          <a:p>
            <a:pPr marL="0" indent="0">
              <a:buNone/>
            </a:pPr>
            <a:r>
              <a:rPr lang="en-US" sz="1120" dirty="0">
                <a:solidFill>
                  <a:srgbClr val="DCE5F2"/>
                </a:solidFill>
                <a:latin typeface="Calibri" pitchFamily="34" charset="0"/>
                <a:ea typeface="Calibri" pitchFamily="34" charset="-122"/>
                <a:cs typeface="Calibri" pitchFamily="34" charset="-120"/>
              </a:rPr>
              <a:t>Early access to major stories</a:t>
            </a:r>
            <a:endParaRPr lang="en-US" sz="1120" dirty="0"/>
          </a:p>
        </p:txBody>
      </p:sp>
      <p:sp>
        <p:nvSpPr>
          <p:cNvPr id="47" name="Shape 36"/>
          <p:cNvSpPr/>
          <p:nvPr/>
        </p:nvSpPr>
        <p:spPr>
          <a:xfrm>
            <a:off x="4581144" y="4818888"/>
            <a:ext cx="201168" cy="201168"/>
          </a:xfrm>
          <a:prstGeom prst="ellipse">
            <a:avLst/>
          </a:prstGeom>
          <a:solidFill>
            <a:srgbClr val="F0A81C"/>
          </a:solidFill>
          <a:ln/>
        </p:spPr>
        <p:txBody>
          <a:bodyPr/>
          <a:lstStyle/>
          <a:p>
            <a:endParaRPr lang="en-AE"/>
          </a:p>
        </p:txBody>
      </p:sp>
      <p:pic>
        <p:nvPicPr>
          <p:cNvPr id="48" name="Image 9" descr="preencoded.png"/>
          <p:cNvPicPr>
            <a:picLocks noChangeAspect="1"/>
          </p:cNvPicPr>
          <p:nvPr/>
        </p:nvPicPr>
        <p:blipFill>
          <a:blip r:embed="rId4"/>
          <a:stretch>
            <a:fillRect/>
          </a:stretch>
        </p:blipFill>
        <p:spPr>
          <a:xfrm>
            <a:off x="4631436" y="4869180"/>
            <a:ext cx="100584" cy="100584"/>
          </a:xfrm>
          <a:prstGeom prst="rect">
            <a:avLst/>
          </a:prstGeom>
        </p:spPr>
      </p:pic>
      <p:sp>
        <p:nvSpPr>
          <p:cNvPr id="49" name="Text 37"/>
          <p:cNvSpPr txBox="1"/>
          <p:nvPr/>
        </p:nvSpPr>
        <p:spPr>
          <a:xfrm>
            <a:off x="4873752" y="4773168"/>
            <a:ext cx="2724912" cy="292608"/>
          </a:xfrm>
          <a:prstGeom prst="rect">
            <a:avLst/>
          </a:prstGeom>
          <a:noFill/>
          <a:ln/>
        </p:spPr>
        <p:txBody>
          <a:bodyPr wrap="square" lIns="0" tIns="0" rIns="0" bIns="0" rtlCol="0" anchor="ctr"/>
          <a:lstStyle/>
          <a:p>
            <a:pPr marL="0" indent="0">
              <a:buNone/>
            </a:pPr>
            <a:r>
              <a:rPr lang="en-US" sz="1120" dirty="0">
                <a:solidFill>
                  <a:srgbClr val="DCE5F2"/>
                </a:solidFill>
                <a:latin typeface="Calibri" pitchFamily="34" charset="0"/>
                <a:ea typeface="Calibri" pitchFamily="34" charset="-122"/>
                <a:cs typeface="Calibri" pitchFamily="34" charset="-120"/>
              </a:rPr>
              <a:t>Priority push alerts</a:t>
            </a:r>
            <a:endParaRPr lang="en-US" sz="1120" dirty="0"/>
          </a:p>
        </p:txBody>
      </p:sp>
      <p:sp>
        <p:nvSpPr>
          <p:cNvPr id="50" name="Text 38"/>
          <p:cNvSpPr txBox="1"/>
          <p:nvPr/>
        </p:nvSpPr>
        <p:spPr>
          <a:xfrm>
            <a:off x="4581144" y="5047488"/>
            <a:ext cx="2980944" cy="310896"/>
          </a:xfrm>
          <a:prstGeom prst="rect">
            <a:avLst/>
          </a:prstGeom>
          <a:noFill/>
          <a:ln/>
        </p:spPr>
        <p:txBody>
          <a:bodyPr wrap="square" lIns="0" tIns="0" rIns="0" bIns="0" rtlCol="0" anchor="ctr"/>
          <a:lstStyle/>
          <a:p>
            <a:pPr marL="0" indent="0">
              <a:buNone/>
            </a:pPr>
            <a:r>
              <a:rPr lang="en-US" sz="1050" b="1" dirty="0">
                <a:solidFill>
                  <a:srgbClr val="F0A81C"/>
                </a:solidFill>
                <a:latin typeface="Calibri" pitchFamily="34" charset="0"/>
                <a:ea typeface="Calibri" pitchFamily="34" charset="-122"/>
                <a:cs typeface="Calibri" pitchFamily="34" charset="-120"/>
              </a:rPr>
              <a:t>The volume tier</a:t>
            </a:r>
            <a:endParaRPr lang="en-US" sz="1050" dirty="0"/>
          </a:p>
        </p:txBody>
      </p:sp>
      <p:sp>
        <p:nvSpPr>
          <p:cNvPr id="51" name="Shape 39"/>
          <p:cNvSpPr/>
          <p:nvPr/>
        </p:nvSpPr>
        <p:spPr>
          <a:xfrm>
            <a:off x="8046720" y="1645920"/>
            <a:ext cx="3529584" cy="3968496"/>
          </a:xfrm>
          <a:prstGeom prst="roundRect">
            <a:avLst>
              <a:gd name="adj" fmla="val 3109"/>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52" name="Text 40"/>
          <p:cNvSpPr txBox="1"/>
          <p:nvPr/>
        </p:nvSpPr>
        <p:spPr>
          <a:xfrm>
            <a:off x="8321040" y="1828800"/>
            <a:ext cx="1920240" cy="347472"/>
          </a:xfrm>
          <a:prstGeom prst="rect">
            <a:avLst/>
          </a:prstGeom>
          <a:noFill/>
          <a:ln/>
        </p:spPr>
        <p:txBody>
          <a:bodyPr wrap="square" lIns="0" tIns="0" rIns="0" bIns="0" rtlCol="0" anchor="ctr"/>
          <a:lstStyle/>
          <a:p>
            <a:pPr marL="0" indent="0">
              <a:buNone/>
            </a:pPr>
            <a:r>
              <a:rPr lang="en-US" sz="2000" b="1" dirty="0">
                <a:solidFill>
                  <a:srgbClr val="0F1E3D"/>
                </a:solidFill>
                <a:latin typeface="Cambria" pitchFamily="34" charset="0"/>
                <a:ea typeface="Cambria" pitchFamily="34" charset="-122"/>
                <a:cs typeface="Cambria" pitchFamily="34" charset="-120"/>
              </a:rPr>
              <a:t>Pro</a:t>
            </a:r>
            <a:endParaRPr lang="en-US" sz="2000" dirty="0"/>
          </a:p>
        </p:txBody>
      </p:sp>
      <p:sp>
        <p:nvSpPr>
          <p:cNvPr id="53" name="Text 41"/>
          <p:cNvSpPr txBox="1"/>
          <p:nvPr/>
        </p:nvSpPr>
        <p:spPr>
          <a:xfrm>
            <a:off x="8321040" y="2249424"/>
            <a:ext cx="2194560" cy="566928"/>
          </a:xfrm>
          <a:prstGeom prst="rect">
            <a:avLst/>
          </a:prstGeom>
          <a:noFill/>
          <a:ln/>
        </p:spPr>
        <p:txBody>
          <a:bodyPr wrap="square" lIns="0" tIns="0" rIns="0" bIns="0" rtlCol="0" anchor="ctr"/>
          <a:lstStyle/>
          <a:p>
            <a:pPr marL="0" indent="0">
              <a:buNone/>
            </a:pPr>
            <a:r>
              <a:rPr lang="en-US" sz="3400" b="1" dirty="0">
                <a:solidFill>
                  <a:srgbClr val="0F1E3D"/>
                </a:solidFill>
                <a:latin typeface="Cambria" pitchFamily="34" charset="0"/>
                <a:ea typeface="Cambria" pitchFamily="34" charset="-122"/>
                <a:cs typeface="Cambria" pitchFamily="34" charset="-120"/>
              </a:rPr>
              <a:t>₹199</a:t>
            </a:r>
            <a:endParaRPr lang="en-US" sz="3400" dirty="0"/>
          </a:p>
        </p:txBody>
      </p:sp>
      <p:sp>
        <p:nvSpPr>
          <p:cNvPr id="54" name="Text 42"/>
          <p:cNvSpPr txBox="1"/>
          <p:nvPr/>
        </p:nvSpPr>
        <p:spPr>
          <a:xfrm>
            <a:off x="8321040" y="2816352"/>
            <a:ext cx="2980944" cy="237744"/>
          </a:xfrm>
          <a:prstGeom prst="rect">
            <a:avLst/>
          </a:prstGeom>
          <a:noFill/>
          <a:ln/>
        </p:spPr>
        <p:txBody>
          <a:bodyPr wrap="square" lIns="0" tIns="0" rIns="0" bIns="0" rtlCol="0" anchor="ctr"/>
          <a:lstStyle/>
          <a:p>
            <a:pPr marL="0" indent="0">
              <a:buNone/>
            </a:pPr>
            <a:r>
              <a:rPr lang="en-US" sz="1050" dirty="0">
                <a:solidFill>
                  <a:srgbClr val="77839B"/>
                </a:solidFill>
                <a:latin typeface="Calibri" pitchFamily="34" charset="0"/>
                <a:ea typeface="Calibri" pitchFamily="34" charset="-122"/>
                <a:cs typeface="Calibri" pitchFamily="34" charset="-120"/>
              </a:rPr>
              <a:t>per month</a:t>
            </a:r>
            <a:endParaRPr lang="en-US" sz="1050" dirty="0"/>
          </a:p>
        </p:txBody>
      </p:sp>
      <p:sp>
        <p:nvSpPr>
          <p:cNvPr id="55" name="Shape 43"/>
          <p:cNvSpPr/>
          <p:nvPr/>
        </p:nvSpPr>
        <p:spPr>
          <a:xfrm>
            <a:off x="8321040" y="3209544"/>
            <a:ext cx="201168" cy="201168"/>
          </a:xfrm>
          <a:prstGeom prst="ellipse">
            <a:avLst/>
          </a:prstGeom>
          <a:solidFill>
            <a:srgbClr val="0F1E3D"/>
          </a:solidFill>
          <a:ln/>
        </p:spPr>
        <p:txBody>
          <a:bodyPr/>
          <a:lstStyle/>
          <a:p>
            <a:endParaRPr lang="en-AE"/>
          </a:p>
        </p:txBody>
      </p:sp>
      <p:pic>
        <p:nvPicPr>
          <p:cNvPr id="56" name="Image 10" descr="preencoded.png"/>
          <p:cNvPicPr>
            <a:picLocks noChangeAspect="1"/>
          </p:cNvPicPr>
          <p:nvPr/>
        </p:nvPicPr>
        <p:blipFill>
          <a:blip r:embed="rId3"/>
          <a:stretch>
            <a:fillRect/>
          </a:stretch>
        </p:blipFill>
        <p:spPr>
          <a:xfrm>
            <a:off x="8371332" y="3259836"/>
            <a:ext cx="100584" cy="100584"/>
          </a:xfrm>
          <a:prstGeom prst="rect">
            <a:avLst/>
          </a:prstGeom>
        </p:spPr>
      </p:pic>
      <p:sp>
        <p:nvSpPr>
          <p:cNvPr id="57" name="Text 44"/>
          <p:cNvSpPr txBox="1"/>
          <p:nvPr/>
        </p:nvSpPr>
        <p:spPr>
          <a:xfrm>
            <a:off x="8613648" y="3163824"/>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Everything in Plus</a:t>
            </a:r>
            <a:endParaRPr lang="en-US" sz="1120" dirty="0"/>
          </a:p>
        </p:txBody>
      </p:sp>
      <p:sp>
        <p:nvSpPr>
          <p:cNvPr id="58" name="Shape 45"/>
          <p:cNvSpPr/>
          <p:nvPr/>
        </p:nvSpPr>
        <p:spPr>
          <a:xfrm>
            <a:off x="8321040" y="3611880"/>
            <a:ext cx="201168" cy="201168"/>
          </a:xfrm>
          <a:prstGeom prst="ellipse">
            <a:avLst/>
          </a:prstGeom>
          <a:solidFill>
            <a:srgbClr val="0F1E3D"/>
          </a:solidFill>
          <a:ln/>
        </p:spPr>
        <p:txBody>
          <a:bodyPr/>
          <a:lstStyle/>
          <a:p>
            <a:endParaRPr lang="en-AE"/>
          </a:p>
        </p:txBody>
      </p:sp>
      <p:pic>
        <p:nvPicPr>
          <p:cNvPr id="59" name="Image 11" descr="preencoded.png"/>
          <p:cNvPicPr>
            <a:picLocks noChangeAspect="1"/>
          </p:cNvPicPr>
          <p:nvPr/>
        </p:nvPicPr>
        <p:blipFill>
          <a:blip r:embed="rId3"/>
          <a:stretch>
            <a:fillRect/>
          </a:stretch>
        </p:blipFill>
        <p:spPr>
          <a:xfrm>
            <a:off x="8371332" y="3662172"/>
            <a:ext cx="100584" cy="100584"/>
          </a:xfrm>
          <a:prstGeom prst="rect">
            <a:avLst/>
          </a:prstGeom>
        </p:spPr>
      </p:pic>
      <p:sp>
        <p:nvSpPr>
          <p:cNvPr id="60" name="Text 46"/>
          <p:cNvSpPr txBox="1"/>
          <p:nvPr/>
        </p:nvSpPr>
        <p:spPr>
          <a:xfrm>
            <a:off x="8613648" y="3566160"/>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Unlimited offline downloads</a:t>
            </a:r>
            <a:endParaRPr lang="en-US" sz="1120" dirty="0"/>
          </a:p>
        </p:txBody>
      </p:sp>
      <p:sp>
        <p:nvSpPr>
          <p:cNvPr id="61" name="Shape 47"/>
          <p:cNvSpPr/>
          <p:nvPr/>
        </p:nvSpPr>
        <p:spPr>
          <a:xfrm>
            <a:off x="8321040" y="4014216"/>
            <a:ext cx="201168" cy="201168"/>
          </a:xfrm>
          <a:prstGeom prst="ellipse">
            <a:avLst/>
          </a:prstGeom>
          <a:solidFill>
            <a:srgbClr val="0F1E3D"/>
          </a:solidFill>
          <a:ln/>
        </p:spPr>
        <p:txBody>
          <a:bodyPr/>
          <a:lstStyle/>
          <a:p>
            <a:endParaRPr lang="en-AE"/>
          </a:p>
        </p:txBody>
      </p:sp>
      <p:pic>
        <p:nvPicPr>
          <p:cNvPr id="62" name="Image 12" descr="preencoded.png"/>
          <p:cNvPicPr>
            <a:picLocks noChangeAspect="1"/>
          </p:cNvPicPr>
          <p:nvPr/>
        </p:nvPicPr>
        <p:blipFill>
          <a:blip r:embed="rId3"/>
          <a:stretch>
            <a:fillRect/>
          </a:stretch>
        </p:blipFill>
        <p:spPr>
          <a:xfrm>
            <a:off x="8371332" y="4064508"/>
            <a:ext cx="100584" cy="100584"/>
          </a:xfrm>
          <a:prstGeom prst="rect">
            <a:avLst/>
          </a:prstGeom>
        </p:spPr>
      </p:pic>
      <p:sp>
        <p:nvSpPr>
          <p:cNvPr id="63" name="Text 48"/>
          <p:cNvSpPr txBox="1"/>
          <p:nvPr/>
        </p:nvSpPr>
        <p:spPr>
          <a:xfrm>
            <a:off x="8613648" y="3968496"/>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Personal reading analytics</a:t>
            </a:r>
            <a:endParaRPr lang="en-US" sz="1120" dirty="0"/>
          </a:p>
        </p:txBody>
      </p:sp>
      <p:sp>
        <p:nvSpPr>
          <p:cNvPr id="64" name="Shape 49"/>
          <p:cNvSpPr/>
          <p:nvPr/>
        </p:nvSpPr>
        <p:spPr>
          <a:xfrm>
            <a:off x="8321040" y="4416552"/>
            <a:ext cx="201168" cy="201168"/>
          </a:xfrm>
          <a:prstGeom prst="ellipse">
            <a:avLst/>
          </a:prstGeom>
          <a:solidFill>
            <a:srgbClr val="0F1E3D"/>
          </a:solidFill>
          <a:ln/>
        </p:spPr>
        <p:txBody>
          <a:bodyPr/>
          <a:lstStyle/>
          <a:p>
            <a:endParaRPr lang="en-AE"/>
          </a:p>
        </p:txBody>
      </p:sp>
      <p:pic>
        <p:nvPicPr>
          <p:cNvPr id="65" name="Image 13" descr="preencoded.png"/>
          <p:cNvPicPr>
            <a:picLocks noChangeAspect="1"/>
          </p:cNvPicPr>
          <p:nvPr/>
        </p:nvPicPr>
        <p:blipFill>
          <a:blip r:embed="rId3"/>
          <a:stretch>
            <a:fillRect/>
          </a:stretch>
        </p:blipFill>
        <p:spPr>
          <a:xfrm>
            <a:off x="8371332" y="4466844"/>
            <a:ext cx="100584" cy="100584"/>
          </a:xfrm>
          <a:prstGeom prst="rect">
            <a:avLst/>
          </a:prstGeom>
        </p:spPr>
      </p:pic>
      <p:sp>
        <p:nvSpPr>
          <p:cNvPr id="66" name="Text 50"/>
          <p:cNvSpPr txBox="1"/>
          <p:nvPr/>
        </p:nvSpPr>
        <p:spPr>
          <a:xfrm>
            <a:off x="8613648" y="4370832"/>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Newsletter and digest access</a:t>
            </a:r>
            <a:endParaRPr lang="en-US" sz="1120" dirty="0"/>
          </a:p>
        </p:txBody>
      </p:sp>
      <p:sp>
        <p:nvSpPr>
          <p:cNvPr id="67" name="Shape 51"/>
          <p:cNvSpPr/>
          <p:nvPr/>
        </p:nvSpPr>
        <p:spPr>
          <a:xfrm>
            <a:off x="8321040" y="4818888"/>
            <a:ext cx="201168" cy="201168"/>
          </a:xfrm>
          <a:prstGeom prst="ellipse">
            <a:avLst/>
          </a:prstGeom>
          <a:solidFill>
            <a:srgbClr val="0F1E3D"/>
          </a:solidFill>
          <a:ln/>
        </p:spPr>
        <p:txBody>
          <a:bodyPr/>
          <a:lstStyle/>
          <a:p>
            <a:endParaRPr lang="en-AE"/>
          </a:p>
        </p:txBody>
      </p:sp>
      <p:pic>
        <p:nvPicPr>
          <p:cNvPr id="68" name="Image 14" descr="preencoded.png"/>
          <p:cNvPicPr>
            <a:picLocks noChangeAspect="1"/>
          </p:cNvPicPr>
          <p:nvPr/>
        </p:nvPicPr>
        <p:blipFill>
          <a:blip r:embed="rId3"/>
          <a:stretch>
            <a:fillRect/>
          </a:stretch>
        </p:blipFill>
        <p:spPr>
          <a:xfrm>
            <a:off x="8371332" y="4869180"/>
            <a:ext cx="100584" cy="100584"/>
          </a:xfrm>
          <a:prstGeom prst="rect">
            <a:avLst/>
          </a:prstGeom>
        </p:spPr>
      </p:pic>
      <p:sp>
        <p:nvSpPr>
          <p:cNvPr id="69" name="Text 52"/>
          <p:cNvSpPr txBox="1"/>
          <p:nvPr/>
        </p:nvSpPr>
        <p:spPr>
          <a:xfrm>
            <a:off x="8613648" y="4773168"/>
            <a:ext cx="2724912" cy="292608"/>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Ad-free across app and web</a:t>
            </a:r>
            <a:endParaRPr lang="en-US" sz="1120" dirty="0"/>
          </a:p>
        </p:txBody>
      </p:sp>
      <p:sp>
        <p:nvSpPr>
          <p:cNvPr id="70" name="Text 53"/>
          <p:cNvSpPr txBox="1"/>
          <p:nvPr/>
        </p:nvSpPr>
        <p:spPr>
          <a:xfrm>
            <a:off x="8321040" y="5047488"/>
            <a:ext cx="2980944" cy="310896"/>
          </a:xfrm>
          <a:prstGeom prst="rect">
            <a:avLst/>
          </a:prstGeom>
          <a:noFill/>
          <a:ln/>
        </p:spPr>
        <p:txBody>
          <a:bodyPr wrap="square" lIns="0" tIns="0" rIns="0" bIns="0" rtlCol="0" anchor="ctr"/>
          <a:lstStyle/>
          <a:p>
            <a:pPr marL="0" indent="0">
              <a:buNone/>
            </a:pPr>
            <a:r>
              <a:rPr lang="en-US" sz="1050" b="1" dirty="0">
                <a:solidFill>
                  <a:srgbClr val="77839B"/>
                </a:solidFill>
                <a:latin typeface="Calibri" pitchFamily="34" charset="0"/>
                <a:ea typeface="Calibri" pitchFamily="34" charset="-122"/>
                <a:cs typeface="Calibri" pitchFamily="34" charset="-120"/>
              </a:rPr>
              <a:t>Power readers &amp; professionals</a:t>
            </a:r>
            <a:endParaRPr lang="en-US" sz="1050" dirty="0"/>
          </a:p>
        </p:txBody>
      </p:sp>
      <p:sp>
        <p:nvSpPr>
          <p:cNvPr id="71" name="Text 54"/>
          <p:cNvSpPr txBox="1"/>
          <p:nvPr/>
        </p:nvSpPr>
        <p:spPr>
          <a:xfrm>
            <a:off x="566928" y="5888736"/>
            <a:ext cx="11057839" cy="310896"/>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Annual plans at a two-month discount, student pricing and a 7-day Plus trial. One subscription valid on app and web.</a:t>
            </a:r>
            <a:endParaRPr lang="en-US" sz="11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04 · BUSINESS CASE</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Revenue ramp — first twelve months</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An illustrative model, not a forecast. Every input is a lever you control.</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26</a:t>
            </a:r>
            <a:endParaRPr lang="en-US" sz="1050" dirty="0"/>
          </a:p>
        </p:txBody>
      </p:sp>
      <p:graphicFrame>
        <p:nvGraphicFramePr>
          <p:cNvPr id="9" name="Chart 0"/>
          <p:cNvGraphicFramePr/>
          <p:nvPr/>
        </p:nvGraphicFramePr>
        <p:xfrm>
          <a:off x="566928" y="1627632"/>
          <a:ext cx="722376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65008" y="1627632"/>
            <a:ext cx="3538728" cy="3794760"/>
          </a:xfrm>
          <a:prstGeom prst="roundRect">
            <a:avLst>
              <a:gd name="adj" fmla="val 3101"/>
            </a:avLst>
          </a:prstGeom>
          <a:solidFill>
            <a:srgbClr val="F4F7FC"/>
          </a:solidFill>
          <a:ln/>
        </p:spPr>
        <p:txBody>
          <a:bodyPr/>
          <a:lstStyle/>
          <a:p>
            <a:endParaRPr lang="en-AE"/>
          </a:p>
        </p:txBody>
      </p:sp>
      <p:sp>
        <p:nvSpPr>
          <p:cNvPr id="11" name="Text 8"/>
          <p:cNvSpPr txBox="1"/>
          <p:nvPr/>
        </p:nvSpPr>
        <p:spPr>
          <a:xfrm>
            <a:off x="8321040" y="1810512"/>
            <a:ext cx="3017520" cy="457200"/>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The five inputs that move this chart</a:t>
            </a:r>
            <a:endParaRPr lang="en-US" sz="1450" dirty="0"/>
          </a:p>
        </p:txBody>
      </p:sp>
      <p:sp>
        <p:nvSpPr>
          <p:cNvPr id="12" name="Text 9"/>
          <p:cNvSpPr txBox="1"/>
          <p:nvPr/>
        </p:nvSpPr>
        <p:spPr>
          <a:xfrm>
            <a:off x="8321040" y="2395728"/>
            <a:ext cx="3017520" cy="219456"/>
          </a:xfrm>
          <a:prstGeom prst="rect">
            <a:avLst/>
          </a:prstGeom>
          <a:noFill/>
          <a:ln/>
        </p:spPr>
        <p:txBody>
          <a:bodyPr wrap="square" lIns="0" tIns="0" rIns="0" bIns="0" rtlCol="0" anchor="t"/>
          <a:lstStyle/>
          <a:p>
            <a:pPr marL="0" indent="0">
              <a:buNone/>
            </a:pPr>
            <a:r>
              <a:rPr lang="en-US" sz="1120" b="1" dirty="0">
                <a:solidFill>
                  <a:srgbClr val="C8102E"/>
                </a:solidFill>
                <a:latin typeface="Calibri" pitchFamily="34" charset="0"/>
                <a:ea typeface="Calibri" pitchFamily="34" charset="-122"/>
                <a:cs typeface="Calibri" pitchFamily="34" charset="-120"/>
              </a:rPr>
              <a:t>Downloads</a:t>
            </a:r>
            <a:endParaRPr lang="en-US" sz="1120" dirty="0"/>
          </a:p>
        </p:txBody>
      </p:sp>
      <p:sp>
        <p:nvSpPr>
          <p:cNvPr id="13" name="Text 10"/>
          <p:cNvSpPr txBox="1"/>
          <p:nvPr/>
        </p:nvSpPr>
        <p:spPr>
          <a:xfrm>
            <a:off x="8321040" y="2606040"/>
            <a:ext cx="3017520" cy="310896"/>
          </a:xfrm>
          <a:prstGeom prst="rect">
            <a:avLst/>
          </a:prstGeom>
          <a:noFill/>
          <a:ln/>
        </p:spPr>
        <p:txBody>
          <a:bodyPr wrap="square" lIns="0" tIns="0" rIns="0" bIns="0" rtlCol="0" anchor="t"/>
          <a:lstStyle/>
          <a:p>
            <a:pPr marL="0" indent="0">
              <a:buNone/>
            </a:pPr>
            <a:r>
              <a:rPr lang="en-US" sz="1080" dirty="0">
                <a:solidFill>
                  <a:srgbClr val="4A5568"/>
                </a:solidFill>
                <a:latin typeface="Calibri" pitchFamily="34" charset="0"/>
                <a:ea typeface="Calibri" pitchFamily="34" charset="-122"/>
                <a:cs typeface="Calibri" pitchFamily="34" charset="-120"/>
              </a:rPr>
              <a:t>50,000 in month 3, 150,000 by month 12</a:t>
            </a:r>
            <a:endParaRPr lang="en-US" sz="1080" dirty="0"/>
          </a:p>
        </p:txBody>
      </p:sp>
      <p:sp>
        <p:nvSpPr>
          <p:cNvPr id="14" name="Text 11"/>
          <p:cNvSpPr txBox="1"/>
          <p:nvPr/>
        </p:nvSpPr>
        <p:spPr>
          <a:xfrm>
            <a:off x="8321040" y="2962656"/>
            <a:ext cx="3017520" cy="219456"/>
          </a:xfrm>
          <a:prstGeom prst="rect">
            <a:avLst/>
          </a:prstGeom>
          <a:noFill/>
          <a:ln/>
        </p:spPr>
        <p:txBody>
          <a:bodyPr wrap="square" lIns="0" tIns="0" rIns="0" bIns="0" rtlCol="0" anchor="t"/>
          <a:lstStyle/>
          <a:p>
            <a:pPr marL="0" indent="0">
              <a:buNone/>
            </a:pPr>
            <a:r>
              <a:rPr lang="en-US" sz="1120" b="1" dirty="0">
                <a:solidFill>
                  <a:srgbClr val="C8102E"/>
                </a:solidFill>
                <a:latin typeface="Calibri" pitchFamily="34" charset="0"/>
                <a:ea typeface="Calibri" pitchFamily="34" charset="-122"/>
                <a:cs typeface="Calibri" pitchFamily="34" charset="-120"/>
              </a:rPr>
              <a:t>Daily active readers</a:t>
            </a:r>
            <a:endParaRPr lang="en-US" sz="1120" dirty="0"/>
          </a:p>
        </p:txBody>
      </p:sp>
      <p:sp>
        <p:nvSpPr>
          <p:cNvPr id="15" name="Text 12"/>
          <p:cNvSpPr txBox="1"/>
          <p:nvPr/>
        </p:nvSpPr>
        <p:spPr>
          <a:xfrm>
            <a:off x="8321040" y="3172968"/>
            <a:ext cx="3017520" cy="310896"/>
          </a:xfrm>
          <a:prstGeom prst="rect">
            <a:avLst/>
          </a:prstGeom>
          <a:noFill/>
          <a:ln/>
        </p:spPr>
        <p:txBody>
          <a:bodyPr wrap="square" lIns="0" tIns="0" rIns="0" bIns="0" rtlCol="0" anchor="t"/>
          <a:lstStyle/>
          <a:p>
            <a:pPr marL="0" indent="0">
              <a:buNone/>
            </a:pPr>
            <a:r>
              <a:rPr lang="en-US" sz="1080" dirty="0">
                <a:solidFill>
                  <a:srgbClr val="4A5568"/>
                </a:solidFill>
                <a:latin typeface="Calibri" pitchFamily="34" charset="0"/>
                <a:ea typeface="Calibri" pitchFamily="34" charset="-122"/>
                <a:cs typeface="Calibri" pitchFamily="34" charset="-120"/>
              </a:rPr>
              <a:t>20% of installs, rising with push</a:t>
            </a:r>
            <a:endParaRPr lang="en-US" sz="1080" dirty="0"/>
          </a:p>
        </p:txBody>
      </p:sp>
      <p:sp>
        <p:nvSpPr>
          <p:cNvPr id="16" name="Text 13"/>
          <p:cNvSpPr txBox="1"/>
          <p:nvPr/>
        </p:nvSpPr>
        <p:spPr>
          <a:xfrm>
            <a:off x="8321040" y="3529584"/>
            <a:ext cx="3017520" cy="219456"/>
          </a:xfrm>
          <a:prstGeom prst="rect">
            <a:avLst/>
          </a:prstGeom>
          <a:noFill/>
          <a:ln/>
        </p:spPr>
        <p:txBody>
          <a:bodyPr wrap="square" lIns="0" tIns="0" rIns="0" bIns="0" rtlCol="0" anchor="t"/>
          <a:lstStyle/>
          <a:p>
            <a:pPr marL="0" indent="0">
              <a:buNone/>
            </a:pPr>
            <a:r>
              <a:rPr lang="en-US" sz="1120" b="1" dirty="0">
                <a:solidFill>
                  <a:srgbClr val="C8102E"/>
                </a:solidFill>
                <a:latin typeface="Calibri" pitchFamily="34" charset="0"/>
                <a:ea typeface="Calibri" pitchFamily="34" charset="-122"/>
                <a:cs typeface="Calibri" pitchFamily="34" charset="-120"/>
              </a:rPr>
              <a:t>Ad fill rate</a:t>
            </a:r>
            <a:endParaRPr lang="en-US" sz="1120" dirty="0"/>
          </a:p>
        </p:txBody>
      </p:sp>
      <p:sp>
        <p:nvSpPr>
          <p:cNvPr id="17" name="Text 14"/>
          <p:cNvSpPr txBox="1"/>
          <p:nvPr/>
        </p:nvSpPr>
        <p:spPr>
          <a:xfrm>
            <a:off x="8321040" y="3739896"/>
            <a:ext cx="3017520" cy="310896"/>
          </a:xfrm>
          <a:prstGeom prst="rect">
            <a:avLst/>
          </a:prstGeom>
          <a:noFill/>
          <a:ln/>
        </p:spPr>
        <p:txBody>
          <a:bodyPr wrap="square" lIns="0" tIns="0" rIns="0" bIns="0" rtlCol="0" anchor="t"/>
          <a:lstStyle/>
          <a:p>
            <a:pPr marL="0" indent="0">
              <a:buNone/>
            </a:pPr>
            <a:r>
              <a:rPr lang="en-US" sz="1080" dirty="0">
                <a:solidFill>
                  <a:srgbClr val="4A5568"/>
                </a:solidFill>
                <a:latin typeface="Calibri" pitchFamily="34" charset="0"/>
                <a:ea typeface="Calibri" pitchFamily="34" charset="-122"/>
                <a:cs typeface="Calibri" pitchFamily="34" charset="-120"/>
              </a:rPr>
              <a:t>60% at launch, 85% by month 6</a:t>
            </a:r>
            <a:endParaRPr lang="en-US" sz="1080" dirty="0"/>
          </a:p>
        </p:txBody>
      </p:sp>
      <p:sp>
        <p:nvSpPr>
          <p:cNvPr id="18" name="Text 15"/>
          <p:cNvSpPr txBox="1"/>
          <p:nvPr/>
        </p:nvSpPr>
        <p:spPr>
          <a:xfrm>
            <a:off x="8321040" y="4096512"/>
            <a:ext cx="3017520" cy="219456"/>
          </a:xfrm>
          <a:prstGeom prst="rect">
            <a:avLst/>
          </a:prstGeom>
          <a:noFill/>
          <a:ln/>
        </p:spPr>
        <p:txBody>
          <a:bodyPr wrap="square" lIns="0" tIns="0" rIns="0" bIns="0" rtlCol="0" anchor="t"/>
          <a:lstStyle/>
          <a:p>
            <a:pPr marL="0" indent="0">
              <a:buNone/>
            </a:pPr>
            <a:r>
              <a:rPr lang="en-US" sz="1120" b="1" dirty="0">
                <a:solidFill>
                  <a:srgbClr val="C8102E"/>
                </a:solidFill>
                <a:latin typeface="Calibri" pitchFamily="34" charset="0"/>
                <a:ea typeface="Calibri" pitchFamily="34" charset="-122"/>
                <a:cs typeface="Calibri" pitchFamily="34" charset="-120"/>
              </a:rPr>
              <a:t>Paid conversion</a:t>
            </a:r>
            <a:endParaRPr lang="en-US" sz="1120" dirty="0"/>
          </a:p>
        </p:txBody>
      </p:sp>
      <p:sp>
        <p:nvSpPr>
          <p:cNvPr id="19" name="Text 16"/>
          <p:cNvSpPr txBox="1"/>
          <p:nvPr/>
        </p:nvSpPr>
        <p:spPr>
          <a:xfrm>
            <a:off x="8321040" y="4306824"/>
            <a:ext cx="3017520" cy="310896"/>
          </a:xfrm>
          <a:prstGeom prst="rect">
            <a:avLst/>
          </a:prstGeom>
          <a:noFill/>
          <a:ln/>
        </p:spPr>
        <p:txBody>
          <a:bodyPr wrap="square" lIns="0" tIns="0" rIns="0" bIns="0" rtlCol="0" anchor="t"/>
          <a:lstStyle/>
          <a:p>
            <a:pPr marL="0" indent="0">
              <a:buNone/>
            </a:pPr>
            <a:r>
              <a:rPr lang="en-US" sz="1080" dirty="0">
                <a:solidFill>
                  <a:srgbClr val="4A5568"/>
                </a:solidFill>
                <a:latin typeface="Calibri" pitchFamily="34" charset="0"/>
                <a:ea typeface="Calibri" pitchFamily="34" charset="-122"/>
                <a:cs typeface="Calibri" pitchFamily="34" charset="-120"/>
              </a:rPr>
              <a:t>1% of monthly actives on Plus or Pro</a:t>
            </a:r>
            <a:endParaRPr lang="en-US" sz="1080" dirty="0"/>
          </a:p>
        </p:txBody>
      </p:sp>
      <p:sp>
        <p:nvSpPr>
          <p:cNvPr id="20" name="Text 17"/>
          <p:cNvSpPr txBox="1"/>
          <p:nvPr/>
        </p:nvSpPr>
        <p:spPr>
          <a:xfrm>
            <a:off x="8321040" y="4663440"/>
            <a:ext cx="3017520" cy="219456"/>
          </a:xfrm>
          <a:prstGeom prst="rect">
            <a:avLst/>
          </a:prstGeom>
          <a:noFill/>
          <a:ln/>
        </p:spPr>
        <p:txBody>
          <a:bodyPr wrap="square" lIns="0" tIns="0" rIns="0" bIns="0" rtlCol="0" anchor="t"/>
          <a:lstStyle/>
          <a:p>
            <a:pPr marL="0" indent="0">
              <a:buNone/>
            </a:pPr>
            <a:r>
              <a:rPr lang="en-US" sz="1120" b="1" dirty="0">
                <a:solidFill>
                  <a:srgbClr val="C8102E"/>
                </a:solidFill>
                <a:latin typeface="Calibri" pitchFamily="34" charset="0"/>
                <a:ea typeface="Calibri" pitchFamily="34" charset="-122"/>
                <a:cs typeface="Calibri" pitchFamily="34" charset="-120"/>
              </a:rPr>
              <a:t>Classifieds partners</a:t>
            </a:r>
            <a:endParaRPr lang="en-US" sz="1120" dirty="0"/>
          </a:p>
        </p:txBody>
      </p:sp>
      <p:sp>
        <p:nvSpPr>
          <p:cNvPr id="21" name="Text 18"/>
          <p:cNvSpPr txBox="1"/>
          <p:nvPr/>
        </p:nvSpPr>
        <p:spPr>
          <a:xfrm>
            <a:off x="8321040" y="4873752"/>
            <a:ext cx="3017520" cy="310896"/>
          </a:xfrm>
          <a:prstGeom prst="rect">
            <a:avLst/>
          </a:prstGeom>
          <a:noFill/>
          <a:ln/>
        </p:spPr>
        <p:txBody>
          <a:bodyPr wrap="square" lIns="0" tIns="0" rIns="0" bIns="0" rtlCol="0" anchor="t"/>
          <a:lstStyle/>
          <a:p>
            <a:pPr marL="0" indent="0">
              <a:buNone/>
            </a:pPr>
            <a:r>
              <a:rPr lang="en-US" sz="1080" dirty="0">
                <a:solidFill>
                  <a:srgbClr val="4A5568"/>
                </a:solidFill>
                <a:latin typeface="Calibri" pitchFamily="34" charset="0"/>
                <a:ea typeface="Calibri" pitchFamily="34" charset="-122"/>
                <a:cs typeface="Calibri" pitchFamily="34" charset="-120"/>
              </a:rPr>
              <a:t>First 10 signed by month 3</a:t>
            </a:r>
            <a:endParaRPr lang="en-US" sz="1080" dirty="0"/>
          </a:p>
        </p:txBody>
      </p:sp>
      <p:sp>
        <p:nvSpPr>
          <p:cNvPr id="22" name="Shape 19"/>
          <p:cNvSpPr/>
          <p:nvPr/>
        </p:nvSpPr>
        <p:spPr>
          <a:xfrm>
            <a:off x="566928" y="5541264"/>
            <a:ext cx="11057839" cy="603504"/>
          </a:xfrm>
          <a:prstGeom prst="roundRect">
            <a:avLst>
              <a:gd name="adj" fmla="val 15152"/>
            </a:avLst>
          </a:prstGeom>
          <a:solidFill>
            <a:srgbClr val="F4F7FC"/>
          </a:solidFill>
          <a:ln/>
        </p:spPr>
        <p:txBody>
          <a:bodyPr/>
          <a:lstStyle/>
          <a:p>
            <a:endParaRPr lang="en-AE"/>
          </a:p>
        </p:txBody>
      </p:sp>
      <p:sp>
        <p:nvSpPr>
          <p:cNvPr id="23" name="Text 20"/>
          <p:cNvSpPr txBox="1"/>
          <p:nvPr/>
        </p:nvSpPr>
        <p:spPr>
          <a:xfrm>
            <a:off x="841248" y="5541264"/>
            <a:ext cx="10509199" cy="603504"/>
          </a:xfrm>
          <a:prstGeom prst="rect">
            <a:avLst/>
          </a:prstGeom>
          <a:noFill/>
          <a:ln/>
        </p:spPr>
        <p:txBody>
          <a:bodyPr wrap="square" lIns="0" tIns="0" rIns="0" bIns="0" rtlCol="0" anchor="ctr"/>
          <a:lstStyle/>
          <a:p>
            <a:pPr marL="0" indent="0">
              <a:lnSpc>
                <a:spcPct val="105000"/>
              </a:lnSpc>
              <a:buNone/>
            </a:pPr>
            <a:r>
              <a:rPr lang="en-US" sz="1100" b="1" dirty="0">
                <a:solidFill>
                  <a:srgbClr val="0F1E3D"/>
                </a:solidFill>
                <a:latin typeface="Calibri" pitchFamily="34" charset="0"/>
                <a:ea typeface="Calibri" pitchFamily="34" charset="-122"/>
                <a:cs typeface="Calibri" pitchFamily="34" charset="-120"/>
              </a:rPr>
              <a:t>Read this as a shape, not a promise.  </a:t>
            </a:r>
            <a:r>
              <a:rPr lang="en-US" sz="1100" dirty="0">
                <a:solidFill>
                  <a:srgbClr val="4A5568"/>
                </a:solidFill>
                <a:latin typeface="Calibri" pitchFamily="34" charset="0"/>
                <a:ea typeface="Calibri" pitchFamily="34" charset="-122"/>
                <a:cs typeface="Calibri" pitchFamily="34" charset="-120"/>
              </a:rPr>
              <a:t>The figures are placeholders illustrating how the three streams compound once the platform is live; they are not a revenue commitment. We will replace them with a model built from your own traffic and ad-rate data before this proposal is finalised.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04 · BUSINESS CASE</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Success metrics</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What we review together at 30, 90 and 180 days after launch.</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27</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3621024"/>
        </p:xfrm>
        <a:graphic>
          <a:graphicData uri="http://schemas.openxmlformats.org/drawingml/2006/table">
            <a:tbl>
              <a:tblPr/>
              <a:tblGrid>
                <a:gridCol w="2926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96719">
                  <a:extLst>
                    <a:ext uri="{9D8B030D-6E8A-4147-A177-3AD203B41FA5}">
                      <a16:colId xmlns:a16="http://schemas.microsoft.com/office/drawing/2014/main" val="20004"/>
                    </a:ext>
                  </a:extLst>
                </a:gridCol>
              </a:tblGrid>
              <a:tr h="402336">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Metric</a:t>
                      </a:r>
                      <a:endParaRPr lang="en-US" sz="103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Day 30</a:t>
                      </a:r>
                      <a:endParaRPr lang="en-US" sz="103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Day 90</a:t>
                      </a:r>
                      <a:endParaRPr lang="en-US" sz="103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Day 180</a:t>
                      </a:r>
                      <a:endParaRPr lang="en-US" sz="103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30" b="1" dirty="0">
                          <a:solidFill>
                            <a:srgbClr val="FFFFFF"/>
                          </a:solidFill>
                          <a:latin typeface="Calibri" pitchFamily="34" charset="0"/>
                          <a:ea typeface="Calibri" pitchFamily="34" charset="-122"/>
                          <a:cs typeface="Calibri" pitchFamily="34" charset="-120"/>
                        </a:rPr>
                        <a:t>Why it matters</a:t>
                      </a:r>
                      <a:endParaRPr lang="en-US" sz="103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extLst>
                  <a:ext uri="{0D108BD9-81ED-4DB2-BD59-A6C34878D82A}">
                    <a16:rowId xmlns:a16="http://schemas.microsoft.com/office/drawing/2014/main" val="10000"/>
                  </a:ext>
                </a:extLst>
              </a:tr>
              <a:tr h="402336">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App installs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15,000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50,000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100,000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Reach of the owned channel</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1"/>
                  </a:ext>
                </a:extLst>
              </a:tr>
              <a:tr h="402336">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Daily active readers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3,000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10,000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22,000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The number advertisers actually buy</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Sessions per reader per week</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3.0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4.5</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5.5</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Habit formation, the hardest thing to fake</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3"/>
                  </a:ext>
                </a:extLst>
              </a:tr>
              <a:tr h="402336">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Average session length</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3 min</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4 min</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5 min</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Depth of engagement, not just clicks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Day-30 retention</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22%</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30%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35%</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The single best predictor of long-term value</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5"/>
                  </a:ext>
                </a:extLst>
              </a:tr>
              <a:tr h="402336">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Comments per 100 readers</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2</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5</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8</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Community health</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Paid conversion</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0.3%</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1.0%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1.6%</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Subscription revenue trajectory</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7"/>
                  </a:ext>
                </a:extLst>
              </a:tr>
              <a:tr h="402336">
                <a:tc>
                  <a:txBody>
                    <a:bodyPr/>
                    <a:lstStyle/>
                    <a:p>
                      <a:pPr marL="0" indent="0" algn="l">
                        <a:buNone/>
                      </a:pPr>
                      <a:r>
                        <a:rPr lang="en-US" sz="1070" b="1" dirty="0">
                          <a:solidFill>
                            <a:srgbClr val="0F1E3D"/>
                          </a:solidFill>
                          <a:latin typeface="Calibri" pitchFamily="34" charset="0"/>
                          <a:ea typeface="Calibri" pitchFamily="34" charset="-122"/>
                          <a:cs typeface="Calibri" pitchFamily="34" charset="-120"/>
                        </a:rPr>
                        <a:t>Store rating</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4.0+</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4.2+</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4.3+</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70" dirty="0">
                          <a:solidFill>
                            <a:srgbClr val="4A5568"/>
                          </a:solidFill>
                          <a:latin typeface="Calibri" pitchFamily="34" charset="0"/>
                          <a:ea typeface="Calibri" pitchFamily="34" charset="-122"/>
                          <a:cs typeface="Calibri" pitchFamily="34" charset="-120"/>
                        </a:rPr>
                        <a:t>Organic install rate depends on it</a:t>
                      </a:r>
                      <a:endParaRPr lang="en-US" sz="107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0" name="Shape 7"/>
          <p:cNvSpPr/>
          <p:nvPr/>
        </p:nvSpPr>
        <p:spPr>
          <a:xfrm>
            <a:off x="566928" y="5431536"/>
            <a:ext cx="11057839" cy="566928"/>
          </a:xfrm>
          <a:prstGeom prst="roundRect">
            <a:avLst>
              <a:gd name="adj" fmla="val 16129"/>
            </a:avLst>
          </a:prstGeom>
          <a:solidFill>
            <a:srgbClr val="F4F7FC"/>
          </a:solidFill>
          <a:ln/>
        </p:spPr>
        <p:txBody>
          <a:bodyPr/>
          <a:lstStyle/>
          <a:p>
            <a:endParaRPr lang="en-AE"/>
          </a:p>
        </p:txBody>
      </p:sp>
      <p:sp>
        <p:nvSpPr>
          <p:cNvPr id="11" name="Text 8"/>
          <p:cNvSpPr txBox="1"/>
          <p:nvPr/>
        </p:nvSpPr>
        <p:spPr>
          <a:xfrm>
            <a:off x="841248" y="5431536"/>
            <a:ext cx="10509199" cy="566928"/>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Instrumented from day one.  </a:t>
            </a:r>
            <a:r>
              <a:rPr lang="en-US" sz="1100" dirty="0">
                <a:solidFill>
                  <a:srgbClr val="4A5568"/>
                </a:solidFill>
                <a:latin typeface="Calibri" pitchFamily="34" charset="0"/>
                <a:ea typeface="Calibri" pitchFamily="34" charset="-122"/>
                <a:cs typeface="Calibri" pitchFamily="34" charset="-120"/>
              </a:rPr>
              <a:t>Every metric above is wired into the analytics dashboard during the build, so the first review meeting reads real numbers rather than estimates. Targets are set jointly in week 2 and adjusted against actual launch traffic.</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E3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58368" y="2286000"/>
            <a:ext cx="4572000" cy="274320"/>
          </a:xfrm>
          <a:prstGeom prst="rect">
            <a:avLst/>
          </a:prstGeom>
          <a:noFill/>
          <a:ln/>
        </p:spPr>
        <p:txBody>
          <a:bodyPr wrap="square" lIns="0" tIns="0" rIns="0" bIns="0" rtlCol="0" anchor="ctr"/>
          <a:lstStyle/>
          <a:p>
            <a:pPr marL="0" indent="0">
              <a:buNone/>
            </a:pPr>
            <a:r>
              <a:rPr lang="en-US" sz="1200" b="1" kern="0" spc="300" dirty="0">
                <a:solidFill>
                  <a:srgbClr val="F0A81C"/>
                </a:solidFill>
                <a:latin typeface="Calibri" pitchFamily="34" charset="0"/>
                <a:ea typeface="Calibri" pitchFamily="34" charset="-122"/>
                <a:cs typeface="Calibri" pitchFamily="34" charset="-120"/>
              </a:rPr>
              <a:t>PART 05</a:t>
            </a:r>
            <a:endParaRPr lang="en-US" sz="1200" dirty="0"/>
          </a:p>
        </p:txBody>
      </p:sp>
      <p:sp>
        <p:nvSpPr>
          <p:cNvPr id="4" name="Text 1"/>
          <p:cNvSpPr txBox="1"/>
          <p:nvPr/>
        </p:nvSpPr>
        <p:spPr>
          <a:xfrm>
            <a:off x="658368" y="2651760"/>
            <a:ext cx="6309360" cy="10058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Delivery &amp; Commercials</a:t>
            </a:r>
            <a:endParaRPr lang="en-US" sz="4000" dirty="0"/>
          </a:p>
        </p:txBody>
      </p:sp>
      <p:sp>
        <p:nvSpPr>
          <p:cNvPr id="5" name="Text 2"/>
          <p:cNvSpPr txBox="1"/>
          <p:nvPr/>
        </p:nvSpPr>
        <p:spPr>
          <a:xfrm>
            <a:off x="658368" y="3703320"/>
            <a:ext cx="5669280" cy="731520"/>
          </a:xfrm>
          <a:prstGeom prst="rect">
            <a:avLst/>
          </a:prstGeom>
          <a:noFill/>
          <a:ln/>
        </p:spPr>
        <p:txBody>
          <a:bodyPr wrap="square" lIns="0" tIns="0" rIns="0" bIns="0" rtlCol="0" anchor="ctr"/>
          <a:lstStyle/>
          <a:p>
            <a:pPr marL="0" indent="0">
              <a:buNone/>
            </a:pPr>
            <a:r>
              <a:rPr lang="en-US" sz="1400" dirty="0">
                <a:solidFill>
                  <a:srgbClr val="C6D2E6"/>
                </a:solidFill>
                <a:latin typeface="Calibri" pitchFamily="34" charset="0"/>
                <a:ea typeface="Calibri" pitchFamily="34" charset="-122"/>
                <a:cs typeface="Calibri" pitchFamily="34" charset="-120"/>
              </a:rPr>
              <a:t>Eight weeks, four sprints, a working demo at every gate — and what it costs.</a:t>
            </a:r>
            <a:endParaRPr lang="en-US" sz="1400" dirty="0"/>
          </a:p>
        </p:txBody>
      </p:sp>
      <p:sp>
        <p:nvSpPr>
          <p:cNvPr id="6" name="Shape 3"/>
          <p:cNvSpPr/>
          <p:nvPr/>
        </p:nvSpPr>
        <p:spPr>
          <a:xfrm>
            <a:off x="7772400" y="1549908"/>
            <a:ext cx="274320" cy="274320"/>
          </a:xfrm>
          <a:prstGeom prst="ellipse">
            <a:avLst/>
          </a:prstGeom>
          <a:solidFill>
            <a:srgbClr val="C8102E"/>
          </a:solidFill>
          <a:ln/>
        </p:spPr>
        <p:txBody>
          <a:bodyPr/>
          <a:lstStyle/>
          <a:p>
            <a:endParaRPr lang="en-AE"/>
          </a:p>
        </p:txBody>
      </p:sp>
      <p:sp>
        <p:nvSpPr>
          <p:cNvPr id="7" name="Text 4"/>
          <p:cNvSpPr txBox="1"/>
          <p:nvPr/>
        </p:nvSpPr>
        <p:spPr>
          <a:xfrm>
            <a:off x="7772400" y="154990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5"/>
          <p:cNvSpPr txBox="1"/>
          <p:nvPr/>
        </p:nvSpPr>
        <p:spPr>
          <a:xfrm>
            <a:off x="8211312" y="1490472"/>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8-week plan</a:t>
            </a:r>
            <a:endParaRPr lang="en-US" sz="1250" dirty="0"/>
          </a:p>
        </p:txBody>
      </p:sp>
      <p:sp>
        <p:nvSpPr>
          <p:cNvPr id="9" name="Shape 6"/>
          <p:cNvSpPr/>
          <p:nvPr/>
        </p:nvSpPr>
        <p:spPr>
          <a:xfrm>
            <a:off x="7772400" y="1943100"/>
            <a:ext cx="274320" cy="274320"/>
          </a:xfrm>
          <a:prstGeom prst="ellipse">
            <a:avLst/>
          </a:prstGeom>
          <a:solidFill>
            <a:srgbClr val="C8102E"/>
          </a:solidFill>
          <a:ln/>
        </p:spPr>
        <p:txBody>
          <a:bodyPr/>
          <a:lstStyle/>
          <a:p>
            <a:endParaRPr lang="en-AE"/>
          </a:p>
        </p:txBody>
      </p:sp>
      <p:sp>
        <p:nvSpPr>
          <p:cNvPr id="10" name="Text 7"/>
          <p:cNvSpPr txBox="1"/>
          <p:nvPr/>
        </p:nvSpPr>
        <p:spPr>
          <a:xfrm>
            <a:off x="7772400" y="194310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8"/>
          <p:cNvSpPr txBox="1"/>
          <p:nvPr/>
        </p:nvSpPr>
        <p:spPr>
          <a:xfrm>
            <a:off x="8211312" y="1883664"/>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Weeks 1–4</a:t>
            </a:r>
            <a:endParaRPr lang="en-US" sz="1250" dirty="0"/>
          </a:p>
        </p:txBody>
      </p:sp>
      <p:sp>
        <p:nvSpPr>
          <p:cNvPr id="12" name="Shape 9"/>
          <p:cNvSpPr/>
          <p:nvPr/>
        </p:nvSpPr>
        <p:spPr>
          <a:xfrm>
            <a:off x="7772400" y="2336292"/>
            <a:ext cx="274320" cy="274320"/>
          </a:xfrm>
          <a:prstGeom prst="ellipse">
            <a:avLst/>
          </a:prstGeom>
          <a:solidFill>
            <a:srgbClr val="C8102E"/>
          </a:solidFill>
          <a:ln/>
        </p:spPr>
        <p:txBody>
          <a:bodyPr/>
          <a:lstStyle/>
          <a:p>
            <a:endParaRPr lang="en-AE"/>
          </a:p>
        </p:txBody>
      </p:sp>
      <p:sp>
        <p:nvSpPr>
          <p:cNvPr id="13" name="Text 10"/>
          <p:cNvSpPr txBox="1"/>
          <p:nvPr/>
        </p:nvSpPr>
        <p:spPr>
          <a:xfrm>
            <a:off x="7772400" y="23362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4" name="Text 11"/>
          <p:cNvSpPr txBox="1"/>
          <p:nvPr/>
        </p:nvSpPr>
        <p:spPr>
          <a:xfrm>
            <a:off x="8211312" y="2276856"/>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Weeks 5–8</a:t>
            </a:r>
            <a:endParaRPr lang="en-US" sz="1250" dirty="0"/>
          </a:p>
        </p:txBody>
      </p:sp>
      <p:sp>
        <p:nvSpPr>
          <p:cNvPr id="15" name="Shape 12"/>
          <p:cNvSpPr/>
          <p:nvPr/>
        </p:nvSpPr>
        <p:spPr>
          <a:xfrm>
            <a:off x="7772400" y="2729484"/>
            <a:ext cx="274320" cy="274320"/>
          </a:xfrm>
          <a:prstGeom prst="ellipse">
            <a:avLst/>
          </a:prstGeom>
          <a:solidFill>
            <a:srgbClr val="C8102E"/>
          </a:solidFill>
          <a:ln/>
        </p:spPr>
        <p:txBody>
          <a:bodyPr/>
          <a:lstStyle/>
          <a:p>
            <a:endParaRPr lang="en-AE"/>
          </a:p>
        </p:txBody>
      </p:sp>
      <p:sp>
        <p:nvSpPr>
          <p:cNvPr id="16" name="Text 13"/>
          <p:cNvSpPr txBox="1"/>
          <p:nvPr/>
        </p:nvSpPr>
        <p:spPr>
          <a:xfrm>
            <a:off x="7772400" y="272948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Text 14"/>
          <p:cNvSpPr txBox="1"/>
          <p:nvPr/>
        </p:nvSpPr>
        <p:spPr>
          <a:xfrm>
            <a:off x="8211312" y="2670048"/>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Team &amp; governance</a:t>
            </a:r>
            <a:endParaRPr lang="en-US" sz="1250" dirty="0"/>
          </a:p>
        </p:txBody>
      </p:sp>
      <p:sp>
        <p:nvSpPr>
          <p:cNvPr id="18" name="Shape 15"/>
          <p:cNvSpPr/>
          <p:nvPr/>
        </p:nvSpPr>
        <p:spPr>
          <a:xfrm>
            <a:off x="7772400" y="3122676"/>
            <a:ext cx="274320" cy="274320"/>
          </a:xfrm>
          <a:prstGeom prst="ellipse">
            <a:avLst/>
          </a:prstGeom>
          <a:solidFill>
            <a:srgbClr val="C8102E"/>
          </a:solidFill>
          <a:ln/>
        </p:spPr>
        <p:txBody>
          <a:bodyPr/>
          <a:lstStyle/>
          <a:p>
            <a:endParaRPr lang="en-AE"/>
          </a:p>
        </p:txBody>
      </p:sp>
      <p:sp>
        <p:nvSpPr>
          <p:cNvPr id="19" name="Text 16"/>
          <p:cNvSpPr txBox="1"/>
          <p:nvPr/>
        </p:nvSpPr>
        <p:spPr>
          <a:xfrm>
            <a:off x="7772400" y="312267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7"/>
          <p:cNvSpPr txBox="1"/>
          <p:nvPr/>
        </p:nvSpPr>
        <p:spPr>
          <a:xfrm>
            <a:off x="8211312" y="3063240"/>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Investment summary</a:t>
            </a:r>
            <a:endParaRPr lang="en-US" sz="1250" dirty="0"/>
          </a:p>
        </p:txBody>
      </p:sp>
      <p:sp>
        <p:nvSpPr>
          <p:cNvPr id="21" name="Shape 18"/>
          <p:cNvSpPr/>
          <p:nvPr/>
        </p:nvSpPr>
        <p:spPr>
          <a:xfrm>
            <a:off x="7772400" y="3515868"/>
            <a:ext cx="274320" cy="274320"/>
          </a:xfrm>
          <a:prstGeom prst="ellipse">
            <a:avLst/>
          </a:prstGeom>
          <a:solidFill>
            <a:srgbClr val="C8102E"/>
          </a:solidFill>
          <a:ln/>
        </p:spPr>
        <p:txBody>
          <a:bodyPr/>
          <a:lstStyle/>
          <a:p>
            <a:endParaRPr lang="en-AE"/>
          </a:p>
        </p:txBody>
      </p:sp>
      <p:sp>
        <p:nvSpPr>
          <p:cNvPr id="22" name="Text 19"/>
          <p:cNvSpPr txBox="1"/>
          <p:nvPr/>
        </p:nvSpPr>
        <p:spPr>
          <a:xfrm>
            <a:off x="7772400" y="351586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3" name="Text 20"/>
          <p:cNvSpPr txBox="1"/>
          <p:nvPr/>
        </p:nvSpPr>
        <p:spPr>
          <a:xfrm>
            <a:off x="8211312" y="3456432"/>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Payment milestones &amp; AMC</a:t>
            </a:r>
            <a:endParaRPr lang="en-US" sz="1250" dirty="0"/>
          </a:p>
        </p:txBody>
      </p:sp>
      <p:sp>
        <p:nvSpPr>
          <p:cNvPr id="24" name="Shape 21"/>
          <p:cNvSpPr/>
          <p:nvPr/>
        </p:nvSpPr>
        <p:spPr>
          <a:xfrm>
            <a:off x="7772400" y="3909060"/>
            <a:ext cx="274320" cy="274320"/>
          </a:xfrm>
          <a:prstGeom prst="ellipse">
            <a:avLst/>
          </a:prstGeom>
          <a:solidFill>
            <a:srgbClr val="C8102E"/>
          </a:solidFill>
          <a:ln/>
        </p:spPr>
        <p:txBody>
          <a:bodyPr/>
          <a:lstStyle/>
          <a:p>
            <a:endParaRPr lang="en-AE"/>
          </a:p>
        </p:txBody>
      </p:sp>
      <p:sp>
        <p:nvSpPr>
          <p:cNvPr id="25" name="Text 22"/>
          <p:cNvSpPr txBox="1"/>
          <p:nvPr/>
        </p:nvSpPr>
        <p:spPr>
          <a:xfrm>
            <a:off x="7772400" y="390906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6" name="Text 23"/>
          <p:cNvSpPr txBox="1"/>
          <p:nvPr/>
        </p:nvSpPr>
        <p:spPr>
          <a:xfrm>
            <a:off x="8211312" y="3849624"/>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Risks &amp; assumptions</a:t>
            </a:r>
            <a:endParaRPr lang="en-US" sz="1250" dirty="0"/>
          </a:p>
        </p:txBody>
      </p:sp>
      <p:sp>
        <p:nvSpPr>
          <p:cNvPr id="27" name="Shape 24"/>
          <p:cNvSpPr/>
          <p:nvPr/>
        </p:nvSpPr>
        <p:spPr>
          <a:xfrm>
            <a:off x="7772400" y="4302252"/>
            <a:ext cx="274320" cy="274320"/>
          </a:xfrm>
          <a:prstGeom prst="ellipse">
            <a:avLst/>
          </a:prstGeom>
          <a:solidFill>
            <a:srgbClr val="C8102E"/>
          </a:solidFill>
          <a:ln/>
        </p:spPr>
        <p:txBody>
          <a:bodyPr/>
          <a:lstStyle/>
          <a:p>
            <a:endParaRPr lang="en-AE"/>
          </a:p>
        </p:txBody>
      </p:sp>
      <p:sp>
        <p:nvSpPr>
          <p:cNvPr id="28" name="Text 25"/>
          <p:cNvSpPr txBox="1"/>
          <p:nvPr/>
        </p:nvSpPr>
        <p:spPr>
          <a:xfrm>
            <a:off x="7772400" y="430225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9" name="Text 26"/>
          <p:cNvSpPr txBox="1"/>
          <p:nvPr/>
        </p:nvSpPr>
        <p:spPr>
          <a:xfrm>
            <a:off x="8211312" y="4242816"/>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Deliverables &amp; acceptance</a:t>
            </a:r>
            <a:endParaRPr lang="en-US" sz="1250" dirty="0"/>
          </a:p>
        </p:txBody>
      </p:sp>
      <p:sp>
        <p:nvSpPr>
          <p:cNvPr id="30" name="Shape 27"/>
          <p:cNvSpPr/>
          <p:nvPr/>
        </p:nvSpPr>
        <p:spPr>
          <a:xfrm>
            <a:off x="7772400" y="4695444"/>
            <a:ext cx="274320" cy="274320"/>
          </a:xfrm>
          <a:prstGeom prst="ellipse">
            <a:avLst/>
          </a:prstGeom>
          <a:solidFill>
            <a:srgbClr val="C8102E"/>
          </a:solidFill>
          <a:ln/>
        </p:spPr>
        <p:txBody>
          <a:bodyPr/>
          <a:lstStyle/>
          <a:p>
            <a:endParaRPr lang="en-AE"/>
          </a:p>
        </p:txBody>
      </p:sp>
      <p:sp>
        <p:nvSpPr>
          <p:cNvPr id="31" name="Text 28"/>
          <p:cNvSpPr txBox="1"/>
          <p:nvPr/>
        </p:nvSpPr>
        <p:spPr>
          <a:xfrm>
            <a:off x="7772400" y="469544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32" name="Text 29"/>
          <p:cNvSpPr txBox="1"/>
          <p:nvPr/>
        </p:nvSpPr>
        <p:spPr>
          <a:xfrm>
            <a:off x="8211312" y="4636008"/>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Why Opus Infinite</a:t>
            </a:r>
            <a:endParaRPr lang="en-US" sz="1250" dirty="0"/>
          </a:p>
        </p:txBody>
      </p:sp>
      <p:sp>
        <p:nvSpPr>
          <p:cNvPr id="33" name="Shape 30"/>
          <p:cNvSpPr/>
          <p:nvPr/>
        </p:nvSpPr>
        <p:spPr>
          <a:xfrm>
            <a:off x="7772400" y="5088636"/>
            <a:ext cx="274320" cy="274320"/>
          </a:xfrm>
          <a:prstGeom prst="ellipse">
            <a:avLst/>
          </a:prstGeom>
          <a:solidFill>
            <a:srgbClr val="C8102E"/>
          </a:solidFill>
          <a:ln/>
        </p:spPr>
        <p:txBody>
          <a:bodyPr/>
          <a:lstStyle/>
          <a:p>
            <a:endParaRPr lang="en-AE"/>
          </a:p>
        </p:txBody>
      </p:sp>
      <p:sp>
        <p:nvSpPr>
          <p:cNvPr id="34" name="Text 31"/>
          <p:cNvSpPr txBox="1"/>
          <p:nvPr/>
        </p:nvSpPr>
        <p:spPr>
          <a:xfrm>
            <a:off x="7772400" y="508863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35" name="Text 32"/>
          <p:cNvSpPr txBox="1"/>
          <p:nvPr/>
        </p:nvSpPr>
        <p:spPr>
          <a:xfrm>
            <a:off x="8211312" y="5029200"/>
            <a:ext cx="3520440" cy="39319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Next steps</a:t>
            </a:r>
            <a:endParaRPr lang="en-US" sz="1250" dirty="0"/>
          </a:p>
        </p:txBody>
      </p:sp>
      <p:sp>
        <p:nvSpPr>
          <p:cNvPr id="36" name="Text 3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8FA0BF"/>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37" name="Text 3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8FA0BF"/>
                </a:solidFill>
                <a:latin typeface="Calibri" pitchFamily="34" charset="0"/>
                <a:ea typeface="Calibri" pitchFamily="34" charset="-122"/>
                <a:cs typeface="Calibri" pitchFamily="34" charset="-120"/>
              </a:rPr>
              <a:t>Opus Infinite</a:t>
            </a:r>
            <a:endParaRPr lang="en-US" sz="950" dirty="0"/>
          </a:p>
        </p:txBody>
      </p:sp>
      <p:sp>
        <p:nvSpPr>
          <p:cNvPr id="38" name="Shape 35"/>
          <p:cNvSpPr/>
          <p:nvPr/>
        </p:nvSpPr>
        <p:spPr>
          <a:xfrm>
            <a:off x="11240719" y="6300216"/>
            <a:ext cx="384048" cy="384048"/>
          </a:xfrm>
          <a:prstGeom prst="ellipse">
            <a:avLst/>
          </a:prstGeom>
          <a:solidFill>
            <a:srgbClr val="22375F"/>
          </a:solidFill>
          <a:ln/>
        </p:spPr>
        <p:txBody>
          <a:bodyPr/>
          <a:lstStyle/>
          <a:p>
            <a:endParaRPr lang="en-AE"/>
          </a:p>
        </p:txBody>
      </p:sp>
      <p:sp>
        <p:nvSpPr>
          <p:cNvPr id="39" name="Text 3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The eight-week plan</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Four two-week sprints. Each ends in a demo you can click, not a status report you have to read.</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29</a:t>
            </a:r>
            <a:endParaRPr lang="en-US" sz="1050" dirty="0"/>
          </a:p>
        </p:txBody>
      </p:sp>
      <p:sp>
        <p:nvSpPr>
          <p:cNvPr id="9" name="Text 7"/>
          <p:cNvSpPr txBox="1"/>
          <p:nvPr/>
        </p:nvSpPr>
        <p:spPr>
          <a:xfrm>
            <a:off x="3246120" y="1645920"/>
            <a:ext cx="1031329" cy="274320"/>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W1</a:t>
            </a:r>
            <a:endParaRPr lang="en-US" sz="1100" dirty="0"/>
          </a:p>
        </p:txBody>
      </p:sp>
      <p:sp>
        <p:nvSpPr>
          <p:cNvPr id="10" name="Text 8"/>
          <p:cNvSpPr txBox="1"/>
          <p:nvPr/>
        </p:nvSpPr>
        <p:spPr>
          <a:xfrm>
            <a:off x="4277449" y="1645920"/>
            <a:ext cx="1031329" cy="274320"/>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W2</a:t>
            </a:r>
            <a:endParaRPr lang="en-US" sz="1100" dirty="0"/>
          </a:p>
        </p:txBody>
      </p:sp>
      <p:sp>
        <p:nvSpPr>
          <p:cNvPr id="11" name="Text 9"/>
          <p:cNvSpPr txBox="1"/>
          <p:nvPr/>
        </p:nvSpPr>
        <p:spPr>
          <a:xfrm>
            <a:off x="5308778" y="1645920"/>
            <a:ext cx="1031329" cy="274320"/>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W3</a:t>
            </a:r>
            <a:endParaRPr lang="en-US" sz="1100" dirty="0"/>
          </a:p>
        </p:txBody>
      </p:sp>
      <p:sp>
        <p:nvSpPr>
          <p:cNvPr id="12" name="Text 10"/>
          <p:cNvSpPr txBox="1"/>
          <p:nvPr/>
        </p:nvSpPr>
        <p:spPr>
          <a:xfrm>
            <a:off x="6340107" y="1645920"/>
            <a:ext cx="1031329" cy="274320"/>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W4</a:t>
            </a:r>
            <a:endParaRPr lang="en-US" sz="1100" dirty="0"/>
          </a:p>
        </p:txBody>
      </p:sp>
      <p:sp>
        <p:nvSpPr>
          <p:cNvPr id="13" name="Text 11"/>
          <p:cNvSpPr txBox="1"/>
          <p:nvPr/>
        </p:nvSpPr>
        <p:spPr>
          <a:xfrm>
            <a:off x="7371436" y="1645920"/>
            <a:ext cx="1031329" cy="274320"/>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W5</a:t>
            </a:r>
            <a:endParaRPr lang="en-US" sz="1100" dirty="0"/>
          </a:p>
        </p:txBody>
      </p:sp>
      <p:sp>
        <p:nvSpPr>
          <p:cNvPr id="14" name="Text 12"/>
          <p:cNvSpPr txBox="1"/>
          <p:nvPr/>
        </p:nvSpPr>
        <p:spPr>
          <a:xfrm>
            <a:off x="8402764" y="1645920"/>
            <a:ext cx="1031329" cy="274320"/>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W6</a:t>
            </a:r>
            <a:endParaRPr lang="en-US" sz="1100" dirty="0"/>
          </a:p>
        </p:txBody>
      </p:sp>
      <p:sp>
        <p:nvSpPr>
          <p:cNvPr id="15" name="Text 13"/>
          <p:cNvSpPr txBox="1"/>
          <p:nvPr/>
        </p:nvSpPr>
        <p:spPr>
          <a:xfrm>
            <a:off x="9434093" y="1645920"/>
            <a:ext cx="1031329" cy="274320"/>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W7</a:t>
            </a:r>
            <a:endParaRPr lang="en-US" sz="1100" dirty="0"/>
          </a:p>
        </p:txBody>
      </p:sp>
      <p:sp>
        <p:nvSpPr>
          <p:cNvPr id="16" name="Text 14"/>
          <p:cNvSpPr txBox="1"/>
          <p:nvPr/>
        </p:nvSpPr>
        <p:spPr>
          <a:xfrm>
            <a:off x="10465422" y="1645920"/>
            <a:ext cx="1031329" cy="274320"/>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W8</a:t>
            </a:r>
            <a:endParaRPr lang="en-US" sz="1100" dirty="0"/>
          </a:p>
        </p:txBody>
      </p:sp>
      <p:sp>
        <p:nvSpPr>
          <p:cNvPr id="17" name="Shape 15"/>
          <p:cNvSpPr/>
          <p:nvPr/>
        </p:nvSpPr>
        <p:spPr>
          <a:xfrm>
            <a:off x="3264408" y="1920240"/>
            <a:ext cx="2026082" cy="256032"/>
          </a:xfrm>
          <a:prstGeom prst="roundRect">
            <a:avLst>
              <a:gd name="adj" fmla="val 17857"/>
            </a:avLst>
          </a:prstGeom>
          <a:solidFill>
            <a:srgbClr val="C8102E"/>
          </a:solidFill>
          <a:ln/>
        </p:spPr>
        <p:txBody>
          <a:bodyPr/>
          <a:lstStyle/>
          <a:p>
            <a:endParaRPr lang="en-AE"/>
          </a:p>
        </p:txBody>
      </p:sp>
      <p:sp>
        <p:nvSpPr>
          <p:cNvPr id="18" name="Text 16"/>
          <p:cNvSpPr txBox="1"/>
          <p:nvPr/>
        </p:nvSpPr>
        <p:spPr>
          <a:xfrm>
            <a:off x="3246120" y="1920240"/>
            <a:ext cx="2062658"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Sprint 1</a:t>
            </a:r>
            <a:endParaRPr lang="en-US" sz="950" dirty="0"/>
          </a:p>
        </p:txBody>
      </p:sp>
      <p:sp>
        <p:nvSpPr>
          <p:cNvPr id="19" name="Shape 17"/>
          <p:cNvSpPr/>
          <p:nvPr/>
        </p:nvSpPr>
        <p:spPr>
          <a:xfrm>
            <a:off x="5327066" y="1920240"/>
            <a:ext cx="2026082" cy="256032"/>
          </a:xfrm>
          <a:prstGeom prst="roundRect">
            <a:avLst>
              <a:gd name="adj" fmla="val 17857"/>
            </a:avLst>
          </a:prstGeom>
          <a:solidFill>
            <a:srgbClr val="0F1E3D"/>
          </a:solidFill>
          <a:ln/>
        </p:spPr>
        <p:txBody>
          <a:bodyPr/>
          <a:lstStyle/>
          <a:p>
            <a:endParaRPr lang="en-AE"/>
          </a:p>
        </p:txBody>
      </p:sp>
      <p:sp>
        <p:nvSpPr>
          <p:cNvPr id="20" name="Text 18"/>
          <p:cNvSpPr txBox="1"/>
          <p:nvPr/>
        </p:nvSpPr>
        <p:spPr>
          <a:xfrm>
            <a:off x="5308778" y="1920240"/>
            <a:ext cx="2062658"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Sprint 2</a:t>
            </a:r>
            <a:endParaRPr lang="en-US" sz="950" dirty="0"/>
          </a:p>
        </p:txBody>
      </p:sp>
      <p:sp>
        <p:nvSpPr>
          <p:cNvPr id="21" name="Shape 19"/>
          <p:cNvSpPr/>
          <p:nvPr/>
        </p:nvSpPr>
        <p:spPr>
          <a:xfrm>
            <a:off x="7389724" y="1920240"/>
            <a:ext cx="2026082" cy="256032"/>
          </a:xfrm>
          <a:prstGeom prst="roundRect">
            <a:avLst>
              <a:gd name="adj" fmla="val 17857"/>
            </a:avLst>
          </a:prstGeom>
          <a:solidFill>
            <a:srgbClr val="F0A81C"/>
          </a:solidFill>
          <a:ln/>
        </p:spPr>
        <p:txBody>
          <a:bodyPr/>
          <a:lstStyle/>
          <a:p>
            <a:endParaRPr lang="en-AE"/>
          </a:p>
        </p:txBody>
      </p:sp>
      <p:sp>
        <p:nvSpPr>
          <p:cNvPr id="22" name="Text 20"/>
          <p:cNvSpPr txBox="1"/>
          <p:nvPr/>
        </p:nvSpPr>
        <p:spPr>
          <a:xfrm>
            <a:off x="7371436" y="1920240"/>
            <a:ext cx="2062658" cy="256032"/>
          </a:xfrm>
          <a:prstGeom prst="rect">
            <a:avLst/>
          </a:prstGeom>
          <a:noFill/>
          <a:ln/>
        </p:spPr>
        <p:txBody>
          <a:bodyPr wrap="square" lIns="0" tIns="0" rIns="0" bIns="0" rtlCol="0" anchor="ctr"/>
          <a:lstStyle/>
          <a:p>
            <a:pPr marL="0" indent="0" algn="ctr">
              <a:buNone/>
            </a:pPr>
            <a:r>
              <a:rPr lang="en-US" sz="950" b="1" dirty="0">
                <a:solidFill>
                  <a:srgbClr val="0F1E3D"/>
                </a:solidFill>
                <a:latin typeface="Calibri" pitchFamily="34" charset="0"/>
                <a:ea typeface="Calibri" pitchFamily="34" charset="-122"/>
                <a:cs typeface="Calibri" pitchFamily="34" charset="-120"/>
              </a:rPr>
              <a:t>Sprint 3</a:t>
            </a:r>
            <a:endParaRPr lang="en-US" sz="950" dirty="0"/>
          </a:p>
        </p:txBody>
      </p:sp>
      <p:sp>
        <p:nvSpPr>
          <p:cNvPr id="23" name="Shape 21"/>
          <p:cNvSpPr/>
          <p:nvPr/>
        </p:nvSpPr>
        <p:spPr>
          <a:xfrm>
            <a:off x="9452381" y="1920240"/>
            <a:ext cx="2026082" cy="256032"/>
          </a:xfrm>
          <a:prstGeom prst="roundRect">
            <a:avLst>
              <a:gd name="adj" fmla="val 17857"/>
            </a:avLst>
          </a:prstGeom>
          <a:solidFill>
            <a:srgbClr val="1B3160"/>
          </a:solidFill>
          <a:ln/>
        </p:spPr>
        <p:txBody>
          <a:bodyPr/>
          <a:lstStyle/>
          <a:p>
            <a:endParaRPr lang="en-AE"/>
          </a:p>
        </p:txBody>
      </p:sp>
      <p:sp>
        <p:nvSpPr>
          <p:cNvPr id="24" name="Text 22"/>
          <p:cNvSpPr txBox="1"/>
          <p:nvPr/>
        </p:nvSpPr>
        <p:spPr>
          <a:xfrm>
            <a:off x="9434093" y="1920240"/>
            <a:ext cx="2062658"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Sprint 4</a:t>
            </a:r>
            <a:endParaRPr lang="en-US" sz="950" dirty="0"/>
          </a:p>
        </p:txBody>
      </p:sp>
      <p:sp>
        <p:nvSpPr>
          <p:cNvPr id="25" name="Text 23"/>
          <p:cNvSpPr txBox="1"/>
          <p:nvPr/>
        </p:nvSpPr>
        <p:spPr>
          <a:xfrm>
            <a:off x="566928" y="2395728"/>
            <a:ext cx="2560320" cy="310896"/>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Design &amp; UX</a:t>
            </a:r>
            <a:endParaRPr lang="en-US" sz="1100" dirty="0"/>
          </a:p>
        </p:txBody>
      </p:sp>
      <p:sp>
        <p:nvSpPr>
          <p:cNvPr id="26" name="Shape 24"/>
          <p:cNvSpPr/>
          <p:nvPr/>
        </p:nvSpPr>
        <p:spPr>
          <a:xfrm>
            <a:off x="3246120" y="2542032"/>
            <a:ext cx="8250631" cy="13716"/>
          </a:xfrm>
          <a:prstGeom prst="rect">
            <a:avLst/>
          </a:prstGeom>
          <a:solidFill>
            <a:srgbClr val="EDF1F7"/>
          </a:solidFill>
          <a:ln/>
        </p:spPr>
        <p:txBody>
          <a:bodyPr/>
          <a:lstStyle/>
          <a:p>
            <a:endParaRPr lang="en-AE"/>
          </a:p>
        </p:txBody>
      </p:sp>
      <p:sp>
        <p:nvSpPr>
          <p:cNvPr id="27" name="Shape 25"/>
          <p:cNvSpPr/>
          <p:nvPr/>
        </p:nvSpPr>
        <p:spPr>
          <a:xfrm>
            <a:off x="3273552" y="2436876"/>
            <a:ext cx="2007794" cy="237744"/>
          </a:xfrm>
          <a:prstGeom prst="roundRect">
            <a:avLst>
              <a:gd name="adj" fmla="val 19231"/>
            </a:avLst>
          </a:prstGeom>
          <a:solidFill>
            <a:srgbClr val="C8102E"/>
          </a:solidFill>
          <a:ln/>
        </p:spPr>
        <p:txBody>
          <a:bodyPr/>
          <a:lstStyle/>
          <a:p>
            <a:endParaRPr lang="en-AE"/>
          </a:p>
        </p:txBody>
      </p:sp>
      <p:sp>
        <p:nvSpPr>
          <p:cNvPr id="28" name="Shape 26"/>
          <p:cNvSpPr/>
          <p:nvPr/>
        </p:nvSpPr>
        <p:spPr>
          <a:xfrm>
            <a:off x="7398868" y="2436876"/>
            <a:ext cx="976465" cy="237744"/>
          </a:xfrm>
          <a:prstGeom prst="roundRect">
            <a:avLst>
              <a:gd name="adj" fmla="val 19231"/>
            </a:avLst>
          </a:prstGeom>
          <a:solidFill>
            <a:srgbClr val="E8A0AC"/>
          </a:solidFill>
          <a:ln/>
        </p:spPr>
        <p:txBody>
          <a:bodyPr/>
          <a:lstStyle/>
          <a:p>
            <a:endParaRPr lang="en-AE"/>
          </a:p>
        </p:txBody>
      </p:sp>
      <p:sp>
        <p:nvSpPr>
          <p:cNvPr id="29" name="Text 27"/>
          <p:cNvSpPr txBox="1"/>
          <p:nvPr/>
        </p:nvSpPr>
        <p:spPr>
          <a:xfrm>
            <a:off x="566928" y="2729484"/>
            <a:ext cx="2560320" cy="310896"/>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Mobile apps</a:t>
            </a:r>
            <a:endParaRPr lang="en-US" sz="1100" dirty="0"/>
          </a:p>
        </p:txBody>
      </p:sp>
      <p:sp>
        <p:nvSpPr>
          <p:cNvPr id="30" name="Shape 28"/>
          <p:cNvSpPr/>
          <p:nvPr/>
        </p:nvSpPr>
        <p:spPr>
          <a:xfrm>
            <a:off x="3246120" y="2875788"/>
            <a:ext cx="8250631" cy="13716"/>
          </a:xfrm>
          <a:prstGeom prst="rect">
            <a:avLst/>
          </a:prstGeom>
          <a:solidFill>
            <a:srgbClr val="EDF1F7"/>
          </a:solidFill>
          <a:ln/>
        </p:spPr>
        <p:txBody>
          <a:bodyPr/>
          <a:lstStyle/>
          <a:p>
            <a:endParaRPr lang="en-AE"/>
          </a:p>
        </p:txBody>
      </p:sp>
      <p:sp>
        <p:nvSpPr>
          <p:cNvPr id="31" name="Shape 29"/>
          <p:cNvSpPr/>
          <p:nvPr/>
        </p:nvSpPr>
        <p:spPr>
          <a:xfrm>
            <a:off x="4304881" y="2770632"/>
            <a:ext cx="5101781" cy="237744"/>
          </a:xfrm>
          <a:prstGeom prst="roundRect">
            <a:avLst>
              <a:gd name="adj" fmla="val 19231"/>
            </a:avLst>
          </a:prstGeom>
          <a:solidFill>
            <a:srgbClr val="0F1E3D"/>
          </a:solidFill>
          <a:ln/>
        </p:spPr>
        <p:txBody>
          <a:bodyPr/>
          <a:lstStyle/>
          <a:p>
            <a:endParaRPr lang="en-AE"/>
          </a:p>
        </p:txBody>
      </p:sp>
      <p:sp>
        <p:nvSpPr>
          <p:cNvPr id="32" name="Text 30"/>
          <p:cNvSpPr txBox="1"/>
          <p:nvPr/>
        </p:nvSpPr>
        <p:spPr>
          <a:xfrm>
            <a:off x="566928" y="3063240"/>
            <a:ext cx="2560320" cy="310896"/>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Web &amp; PWA</a:t>
            </a:r>
            <a:endParaRPr lang="en-US" sz="1100" dirty="0"/>
          </a:p>
        </p:txBody>
      </p:sp>
      <p:sp>
        <p:nvSpPr>
          <p:cNvPr id="33" name="Shape 31"/>
          <p:cNvSpPr/>
          <p:nvPr/>
        </p:nvSpPr>
        <p:spPr>
          <a:xfrm>
            <a:off x="3246120" y="3209544"/>
            <a:ext cx="8250631" cy="13716"/>
          </a:xfrm>
          <a:prstGeom prst="rect">
            <a:avLst/>
          </a:prstGeom>
          <a:solidFill>
            <a:srgbClr val="EDF1F7"/>
          </a:solidFill>
          <a:ln/>
        </p:spPr>
        <p:txBody>
          <a:bodyPr/>
          <a:lstStyle/>
          <a:p>
            <a:endParaRPr lang="en-AE"/>
          </a:p>
        </p:txBody>
      </p:sp>
      <p:sp>
        <p:nvSpPr>
          <p:cNvPr id="34" name="Shape 32"/>
          <p:cNvSpPr/>
          <p:nvPr/>
        </p:nvSpPr>
        <p:spPr>
          <a:xfrm>
            <a:off x="4304881" y="3104388"/>
            <a:ext cx="5101781" cy="237744"/>
          </a:xfrm>
          <a:prstGeom prst="roundRect">
            <a:avLst>
              <a:gd name="adj" fmla="val 19231"/>
            </a:avLst>
          </a:prstGeom>
          <a:solidFill>
            <a:srgbClr val="1B3160"/>
          </a:solidFill>
          <a:ln/>
        </p:spPr>
        <p:txBody>
          <a:bodyPr/>
          <a:lstStyle/>
          <a:p>
            <a:endParaRPr lang="en-AE"/>
          </a:p>
        </p:txBody>
      </p:sp>
      <p:sp>
        <p:nvSpPr>
          <p:cNvPr id="35" name="Text 33"/>
          <p:cNvSpPr txBox="1"/>
          <p:nvPr/>
        </p:nvSpPr>
        <p:spPr>
          <a:xfrm>
            <a:off x="566928" y="3396996"/>
            <a:ext cx="2560320" cy="310896"/>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Backend &amp; APIs</a:t>
            </a:r>
            <a:endParaRPr lang="en-US" sz="1100" dirty="0"/>
          </a:p>
        </p:txBody>
      </p:sp>
      <p:sp>
        <p:nvSpPr>
          <p:cNvPr id="36" name="Shape 34"/>
          <p:cNvSpPr/>
          <p:nvPr/>
        </p:nvSpPr>
        <p:spPr>
          <a:xfrm>
            <a:off x="3246120" y="3543300"/>
            <a:ext cx="8250631" cy="13716"/>
          </a:xfrm>
          <a:prstGeom prst="rect">
            <a:avLst/>
          </a:prstGeom>
          <a:solidFill>
            <a:srgbClr val="EDF1F7"/>
          </a:solidFill>
          <a:ln/>
        </p:spPr>
        <p:txBody>
          <a:bodyPr/>
          <a:lstStyle/>
          <a:p>
            <a:endParaRPr lang="en-AE"/>
          </a:p>
        </p:txBody>
      </p:sp>
      <p:sp>
        <p:nvSpPr>
          <p:cNvPr id="37" name="Shape 35"/>
          <p:cNvSpPr/>
          <p:nvPr/>
        </p:nvSpPr>
        <p:spPr>
          <a:xfrm>
            <a:off x="4304881" y="3438144"/>
            <a:ext cx="5101781" cy="237744"/>
          </a:xfrm>
          <a:prstGeom prst="roundRect">
            <a:avLst>
              <a:gd name="adj" fmla="val 19231"/>
            </a:avLst>
          </a:prstGeom>
          <a:solidFill>
            <a:srgbClr val="3E5B8C"/>
          </a:solidFill>
          <a:ln/>
        </p:spPr>
        <p:txBody>
          <a:bodyPr/>
          <a:lstStyle/>
          <a:p>
            <a:endParaRPr lang="en-AE"/>
          </a:p>
        </p:txBody>
      </p:sp>
      <p:sp>
        <p:nvSpPr>
          <p:cNvPr id="38" name="Text 36"/>
          <p:cNvSpPr txBox="1"/>
          <p:nvPr/>
        </p:nvSpPr>
        <p:spPr>
          <a:xfrm>
            <a:off x="566928" y="3730752"/>
            <a:ext cx="2560320" cy="310896"/>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AI &amp; ranking</a:t>
            </a:r>
            <a:endParaRPr lang="en-US" sz="1100" dirty="0"/>
          </a:p>
        </p:txBody>
      </p:sp>
      <p:sp>
        <p:nvSpPr>
          <p:cNvPr id="39" name="Shape 37"/>
          <p:cNvSpPr/>
          <p:nvPr/>
        </p:nvSpPr>
        <p:spPr>
          <a:xfrm>
            <a:off x="3246120" y="3877056"/>
            <a:ext cx="8250631" cy="13716"/>
          </a:xfrm>
          <a:prstGeom prst="rect">
            <a:avLst/>
          </a:prstGeom>
          <a:solidFill>
            <a:srgbClr val="EDF1F7"/>
          </a:solidFill>
          <a:ln/>
        </p:spPr>
        <p:txBody>
          <a:bodyPr/>
          <a:lstStyle/>
          <a:p>
            <a:endParaRPr lang="en-AE"/>
          </a:p>
        </p:txBody>
      </p:sp>
      <p:sp>
        <p:nvSpPr>
          <p:cNvPr id="40" name="Shape 38"/>
          <p:cNvSpPr/>
          <p:nvPr/>
        </p:nvSpPr>
        <p:spPr>
          <a:xfrm>
            <a:off x="6367539" y="3771900"/>
            <a:ext cx="3039123" cy="237744"/>
          </a:xfrm>
          <a:prstGeom prst="roundRect">
            <a:avLst>
              <a:gd name="adj" fmla="val 19231"/>
            </a:avLst>
          </a:prstGeom>
          <a:solidFill>
            <a:srgbClr val="F0A81C"/>
          </a:solidFill>
          <a:ln/>
        </p:spPr>
        <p:txBody>
          <a:bodyPr/>
          <a:lstStyle/>
          <a:p>
            <a:endParaRPr lang="en-AE"/>
          </a:p>
        </p:txBody>
      </p:sp>
      <p:sp>
        <p:nvSpPr>
          <p:cNvPr id="41" name="Text 39"/>
          <p:cNvSpPr txBox="1"/>
          <p:nvPr/>
        </p:nvSpPr>
        <p:spPr>
          <a:xfrm>
            <a:off x="566928" y="4064508"/>
            <a:ext cx="2560320" cy="310896"/>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Newsroom console</a:t>
            </a:r>
            <a:endParaRPr lang="en-US" sz="1100" dirty="0"/>
          </a:p>
        </p:txBody>
      </p:sp>
      <p:sp>
        <p:nvSpPr>
          <p:cNvPr id="42" name="Shape 40"/>
          <p:cNvSpPr/>
          <p:nvPr/>
        </p:nvSpPr>
        <p:spPr>
          <a:xfrm>
            <a:off x="3246120" y="4210812"/>
            <a:ext cx="8250631" cy="13716"/>
          </a:xfrm>
          <a:prstGeom prst="rect">
            <a:avLst/>
          </a:prstGeom>
          <a:solidFill>
            <a:srgbClr val="EDF1F7"/>
          </a:solidFill>
          <a:ln/>
        </p:spPr>
        <p:txBody>
          <a:bodyPr/>
          <a:lstStyle/>
          <a:p>
            <a:endParaRPr lang="en-AE"/>
          </a:p>
        </p:txBody>
      </p:sp>
      <p:sp>
        <p:nvSpPr>
          <p:cNvPr id="43" name="Shape 41"/>
          <p:cNvSpPr/>
          <p:nvPr/>
        </p:nvSpPr>
        <p:spPr>
          <a:xfrm>
            <a:off x="6367539" y="4105656"/>
            <a:ext cx="3039123" cy="237744"/>
          </a:xfrm>
          <a:prstGeom prst="roundRect">
            <a:avLst>
              <a:gd name="adj" fmla="val 19231"/>
            </a:avLst>
          </a:prstGeom>
          <a:solidFill>
            <a:srgbClr val="C08A18"/>
          </a:solidFill>
          <a:ln/>
        </p:spPr>
        <p:txBody>
          <a:bodyPr/>
          <a:lstStyle/>
          <a:p>
            <a:endParaRPr lang="en-AE"/>
          </a:p>
        </p:txBody>
      </p:sp>
      <p:sp>
        <p:nvSpPr>
          <p:cNvPr id="44" name="Text 42"/>
          <p:cNvSpPr txBox="1"/>
          <p:nvPr/>
        </p:nvSpPr>
        <p:spPr>
          <a:xfrm>
            <a:off x="566928" y="4398264"/>
            <a:ext cx="2560320" cy="310896"/>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Monetisation</a:t>
            </a:r>
            <a:endParaRPr lang="en-US" sz="1100" dirty="0"/>
          </a:p>
        </p:txBody>
      </p:sp>
      <p:sp>
        <p:nvSpPr>
          <p:cNvPr id="45" name="Shape 43"/>
          <p:cNvSpPr/>
          <p:nvPr/>
        </p:nvSpPr>
        <p:spPr>
          <a:xfrm>
            <a:off x="3246120" y="4544568"/>
            <a:ext cx="8250631" cy="13716"/>
          </a:xfrm>
          <a:prstGeom prst="rect">
            <a:avLst/>
          </a:prstGeom>
          <a:solidFill>
            <a:srgbClr val="EDF1F7"/>
          </a:solidFill>
          <a:ln/>
        </p:spPr>
        <p:txBody>
          <a:bodyPr/>
          <a:lstStyle/>
          <a:p>
            <a:endParaRPr lang="en-AE"/>
          </a:p>
        </p:txBody>
      </p:sp>
      <p:sp>
        <p:nvSpPr>
          <p:cNvPr id="46" name="Shape 44"/>
          <p:cNvSpPr/>
          <p:nvPr/>
        </p:nvSpPr>
        <p:spPr>
          <a:xfrm>
            <a:off x="7398868" y="4439412"/>
            <a:ext cx="3039123" cy="237744"/>
          </a:xfrm>
          <a:prstGeom prst="roundRect">
            <a:avLst>
              <a:gd name="adj" fmla="val 19231"/>
            </a:avLst>
          </a:prstGeom>
          <a:solidFill>
            <a:srgbClr val="8C9AB4"/>
          </a:solidFill>
          <a:ln/>
        </p:spPr>
        <p:txBody>
          <a:bodyPr/>
          <a:lstStyle/>
          <a:p>
            <a:endParaRPr lang="en-AE"/>
          </a:p>
        </p:txBody>
      </p:sp>
      <p:sp>
        <p:nvSpPr>
          <p:cNvPr id="47" name="Text 45"/>
          <p:cNvSpPr txBox="1"/>
          <p:nvPr/>
        </p:nvSpPr>
        <p:spPr>
          <a:xfrm>
            <a:off x="566928" y="4732020"/>
            <a:ext cx="2560320" cy="310896"/>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QA &amp; security</a:t>
            </a:r>
            <a:endParaRPr lang="en-US" sz="1100" dirty="0"/>
          </a:p>
        </p:txBody>
      </p:sp>
      <p:sp>
        <p:nvSpPr>
          <p:cNvPr id="48" name="Shape 46"/>
          <p:cNvSpPr/>
          <p:nvPr/>
        </p:nvSpPr>
        <p:spPr>
          <a:xfrm>
            <a:off x="3246120" y="4878324"/>
            <a:ext cx="8250631" cy="13716"/>
          </a:xfrm>
          <a:prstGeom prst="rect">
            <a:avLst/>
          </a:prstGeom>
          <a:solidFill>
            <a:srgbClr val="EDF1F7"/>
          </a:solidFill>
          <a:ln/>
        </p:spPr>
        <p:txBody>
          <a:bodyPr/>
          <a:lstStyle/>
          <a:p>
            <a:endParaRPr lang="en-AE"/>
          </a:p>
        </p:txBody>
      </p:sp>
      <p:sp>
        <p:nvSpPr>
          <p:cNvPr id="49" name="Shape 47"/>
          <p:cNvSpPr/>
          <p:nvPr/>
        </p:nvSpPr>
        <p:spPr>
          <a:xfrm>
            <a:off x="8430196" y="4773168"/>
            <a:ext cx="3039123" cy="237744"/>
          </a:xfrm>
          <a:prstGeom prst="roundRect">
            <a:avLst>
              <a:gd name="adj" fmla="val 19231"/>
            </a:avLst>
          </a:prstGeom>
          <a:solidFill>
            <a:srgbClr val="5A6B87"/>
          </a:solidFill>
          <a:ln/>
        </p:spPr>
        <p:txBody>
          <a:bodyPr/>
          <a:lstStyle/>
          <a:p>
            <a:endParaRPr lang="en-AE"/>
          </a:p>
        </p:txBody>
      </p:sp>
      <p:sp>
        <p:nvSpPr>
          <p:cNvPr id="50" name="Text 48"/>
          <p:cNvSpPr txBox="1"/>
          <p:nvPr/>
        </p:nvSpPr>
        <p:spPr>
          <a:xfrm>
            <a:off x="566928" y="5065776"/>
            <a:ext cx="2560320" cy="310896"/>
          </a:xfrm>
          <a:prstGeom prst="rect">
            <a:avLst/>
          </a:prstGeom>
          <a:noFill/>
          <a:ln/>
        </p:spPr>
        <p:txBody>
          <a:bodyPr wrap="square" lIns="0" tIns="0" rIns="0" bIns="0" rtlCol="0" anchor="ctr"/>
          <a:lstStyle/>
          <a:p>
            <a:pPr marL="0" indent="0">
              <a:buNone/>
            </a:pPr>
            <a:r>
              <a:rPr lang="en-US" sz="1100" b="1" dirty="0">
                <a:solidFill>
                  <a:srgbClr val="0F1E3D"/>
                </a:solidFill>
                <a:latin typeface="Calibri" pitchFamily="34" charset="0"/>
                <a:ea typeface="Calibri" pitchFamily="34" charset="-122"/>
                <a:cs typeface="Calibri" pitchFamily="34" charset="-120"/>
              </a:rPr>
              <a:t>Launch &amp; hypercare</a:t>
            </a:r>
            <a:endParaRPr lang="en-US" sz="1100" dirty="0"/>
          </a:p>
        </p:txBody>
      </p:sp>
      <p:sp>
        <p:nvSpPr>
          <p:cNvPr id="51" name="Shape 49"/>
          <p:cNvSpPr/>
          <p:nvPr/>
        </p:nvSpPr>
        <p:spPr>
          <a:xfrm>
            <a:off x="3246120" y="5212080"/>
            <a:ext cx="8250631" cy="13716"/>
          </a:xfrm>
          <a:prstGeom prst="rect">
            <a:avLst/>
          </a:prstGeom>
          <a:solidFill>
            <a:srgbClr val="EDF1F7"/>
          </a:solidFill>
          <a:ln/>
        </p:spPr>
        <p:txBody>
          <a:bodyPr/>
          <a:lstStyle/>
          <a:p>
            <a:endParaRPr lang="en-AE"/>
          </a:p>
        </p:txBody>
      </p:sp>
      <p:sp>
        <p:nvSpPr>
          <p:cNvPr id="52" name="Shape 50"/>
          <p:cNvSpPr/>
          <p:nvPr/>
        </p:nvSpPr>
        <p:spPr>
          <a:xfrm>
            <a:off x="10492854" y="5106924"/>
            <a:ext cx="976465" cy="237744"/>
          </a:xfrm>
          <a:prstGeom prst="roundRect">
            <a:avLst>
              <a:gd name="adj" fmla="val 19231"/>
            </a:avLst>
          </a:prstGeom>
          <a:solidFill>
            <a:srgbClr val="C8102E"/>
          </a:solidFill>
          <a:ln/>
        </p:spPr>
        <p:txBody>
          <a:bodyPr/>
          <a:lstStyle/>
          <a:p>
            <a:endParaRPr lang="en-AE"/>
          </a:p>
        </p:txBody>
      </p:sp>
      <p:sp>
        <p:nvSpPr>
          <p:cNvPr id="53" name="Shape 51"/>
          <p:cNvSpPr/>
          <p:nvPr/>
        </p:nvSpPr>
        <p:spPr>
          <a:xfrm>
            <a:off x="5208194" y="5468112"/>
            <a:ext cx="201168" cy="201168"/>
          </a:xfrm>
          <a:prstGeom prst="diamond">
            <a:avLst/>
          </a:prstGeom>
          <a:solidFill>
            <a:srgbClr val="C8102E"/>
          </a:solidFill>
          <a:ln/>
        </p:spPr>
        <p:txBody>
          <a:bodyPr/>
          <a:lstStyle/>
          <a:p>
            <a:endParaRPr lang="en-AE"/>
          </a:p>
        </p:txBody>
      </p:sp>
      <p:sp>
        <p:nvSpPr>
          <p:cNvPr id="54" name="Text 52"/>
          <p:cNvSpPr txBox="1"/>
          <p:nvPr/>
        </p:nvSpPr>
        <p:spPr>
          <a:xfrm>
            <a:off x="4257218" y="5724144"/>
            <a:ext cx="2103120" cy="402336"/>
          </a:xfrm>
          <a:prstGeom prst="rect">
            <a:avLst/>
          </a:prstGeom>
          <a:noFill/>
          <a:ln/>
        </p:spPr>
        <p:txBody>
          <a:bodyPr wrap="square" lIns="0" tIns="0" rIns="0" bIns="0" rtlCol="0" anchor="t"/>
          <a:lstStyle/>
          <a:p>
            <a:pPr marL="0" indent="0" algn="ctr">
              <a:buNone/>
            </a:pPr>
            <a:r>
              <a:rPr lang="en-US" sz="950" b="1" dirty="0">
                <a:solidFill>
                  <a:srgbClr val="0F1E3D"/>
                </a:solidFill>
                <a:latin typeface="Calibri" pitchFamily="34" charset="0"/>
                <a:ea typeface="Calibri" pitchFamily="34" charset="-122"/>
                <a:cs typeface="Calibri" pitchFamily="34" charset="-120"/>
              </a:rPr>
              <a:t>Design signed off</a:t>
            </a:r>
            <a:endParaRPr lang="en-US" sz="950" dirty="0"/>
          </a:p>
        </p:txBody>
      </p:sp>
      <p:sp>
        <p:nvSpPr>
          <p:cNvPr id="55" name="Shape 53"/>
          <p:cNvSpPr/>
          <p:nvPr/>
        </p:nvSpPr>
        <p:spPr>
          <a:xfrm>
            <a:off x="7270852" y="5468112"/>
            <a:ext cx="201168" cy="201168"/>
          </a:xfrm>
          <a:prstGeom prst="diamond">
            <a:avLst/>
          </a:prstGeom>
          <a:solidFill>
            <a:srgbClr val="C8102E"/>
          </a:solidFill>
          <a:ln/>
        </p:spPr>
        <p:txBody>
          <a:bodyPr/>
          <a:lstStyle/>
          <a:p>
            <a:endParaRPr lang="en-AE"/>
          </a:p>
        </p:txBody>
      </p:sp>
      <p:sp>
        <p:nvSpPr>
          <p:cNvPr id="56" name="Text 54"/>
          <p:cNvSpPr txBox="1"/>
          <p:nvPr/>
        </p:nvSpPr>
        <p:spPr>
          <a:xfrm>
            <a:off x="6319876" y="5724144"/>
            <a:ext cx="2103120" cy="402336"/>
          </a:xfrm>
          <a:prstGeom prst="rect">
            <a:avLst/>
          </a:prstGeom>
          <a:noFill/>
          <a:ln/>
        </p:spPr>
        <p:txBody>
          <a:bodyPr wrap="square" lIns="0" tIns="0" rIns="0" bIns="0" rtlCol="0" anchor="t"/>
          <a:lstStyle/>
          <a:p>
            <a:pPr marL="0" indent="0" algn="ctr">
              <a:buNone/>
            </a:pPr>
            <a:r>
              <a:rPr lang="en-US" sz="950" b="1" dirty="0">
                <a:solidFill>
                  <a:srgbClr val="0F1E3D"/>
                </a:solidFill>
                <a:latin typeface="Calibri" pitchFamily="34" charset="0"/>
                <a:ea typeface="Calibri" pitchFamily="34" charset="-122"/>
                <a:cs typeface="Calibri" pitchFamily="34" charset="-120"/>
              </a:rPr>
              <a:t>Core app demo</a:t>
            </a:r>
            <a:endParaRPr lang="en-US" sz="950" dirty="0"/>
          </a:p>
        </p:txBody>
      </p:sp>
      <p:sp>
        <p:nvSpPr>
          <p:cNvPr id="57" name="Shape 55"/>
          <p:cNvSpPr/>
          <p:nvPr/>
        </p:nvSpPr>
        <p:spPr>
          <a:xfrm>
            <a:off x="9333509" y="5468112"/>
            <a:ext cx="201168" cy="201168"/>
          </a:xfrm>
          <a:prstGeom prst="diamond">
            <a:avLst/>
          </a:prstGeom>
          <a:solidFill>
            <a:srgbClr val="C8102E"/>
          </a:solidFill>
          <a:ln/>
        </p:spPr>
        <p:txBody>
          <a:bodyPr/>
          <a:lstStyle/>
          <a:p>
            <a:endParaRPr lang="en-AE"/>
          </a:p>
        </p:txBody>
      </p:sp>
      <p:sp>
        <p:nvSpPr>
          <p:cNvPr id="58" name="Text 56"/>
          <p:cNvSpPr txBox="1"/>
          <p:nvPr/>
        </p:nvSpPr>
        <p:spPr>
          <a:xfrm>
            <a:off x="8382533" y="5724144"/>
            <a:ext cx="2103120" cy="402336"/>
          </a:xfrm>
          <a:prstGeom prst="rect">
            <a:avLst/>
          </a:prstGeom>
          <a:noFill/>
          <a:ln/>
        </p:spPr>
        <p:txBody>
          <a:bodyPr wrap="square" lIns="0" tIns="0" rIns="0" bIns="0" rtlCol="0" anchor="t"/>
          <a:lstStyle/>
          <a:p>
            <a:pPr marL="0" indent="0" algn="ctr">
              <a:buNone/>
            </a:pPr>
            <a:r>
              <a:rPr lang="en-US" sz="950" b="1" dirty="0">
                <a:solidFill>
                  <a:srgbClr val="0F1E3D"/>
                </a:solidFill>
                <a:latin typeface="Calibri" pitchFamily="34" charset="0"/>
                <a:ea typeface="Calibri" pitchFamily="34" charset="-122"/>
                <a:cs typeface="Calibri" pitchFamily="34" charset="-120"/>
              </a:rPr>
              <a:t>AI + engagement demo</a:t>
            </a:r>
            <a:endParaRPr lang="en-US" sz="950" dirty="0"/>
          </a:p>
        </p:txBody>
      </p:sp>
      <p:sp>
        <p:nvSpPr>
          <p:cNvPr id="59" name="Shape 57"/>
          <p:cNvSpPr/>
          <p:nvPr/>
        </p:nvSpPr>
        <p:spPr>
          <a:xfrm>
            <a:off x="11396167" y="5468112"/>
            <a:ext cx="201168" cy="201168"/>
          </a:xfrm>
          <a:prstGeom prst="diamond">
            <a:avLst/>
          </a:prstGeom>
          <a:solidFill>
            <a:srgbClr val="C8102E"/>
          </a:solidFill>
          <a:ln/>
        </p:spPr>
        <p:txBody>
          <a:bodyPr/>
          <a:lstStyle/>
          <a:p>
            <a:endParaRPr lang="en-AE"/>
          </a:p>
        </p:txBody>
      </p:sp>
      <p:sp>
        <p:nvSpPr>
          <p:cNvPr id="60" name="Text 58"/>
          <p:cNvSpPr txBox="1"/>
          <p:nvPr/>
        </p:nvSpPr>
        <p:spPr>
          <a:xfrm>
            <a:off x="9521647" y="5724144"/>
            <a:ext cx="2103120" cy="402336"/>
          </a:xfrm>
          <a:prstGeom prst="rect">
            <a:avLst/>
          </a:prstGeom>
          <a:noFill/>
          <a:ln/>
        </p:spPr>
        <p:txBody>
          <a:bodyPr wrap="square" lIns="0" tIns="0" rIns="0" bIns="0" rtlCol="0" anchor="t"/>
          <a:lstStyle/>
          <a:p>
            <a:pPr marL="0" indent="0" algn="r">
              <a:buNone/>
            </a:pPr>
            <a:r>
              <a:rPr lang="en-US" sz="950" b="1" dirty="0">
                <a:solidFill>
                  <a:srgbClr val="0F1E3D"/>
                </a:solidFill>
                <a:latin typeface="Calibri" pitchFamily="34" charset="0"/>
                <a:ea typeface="Calibri" pitchFamily="34" charset="-122"/>
                <a:cs typeface="Calibri" pitchFamily="34" charset="-120"/>
              </a:rPr>
              <a:t>Store launch</a:t>
            </a:r>
            <a:endParaRPr lang="en-US" sz="950" dirty="0"/>
          </a:p>
        </p:txBody>
      </p:sp>
      <p:sp>
        <p:nvSpPr>
          <p:cNvPr id="61" name="Text 59"/>
          <p:cNvSpPr txBox="1"/>
          <p:nvPr/>
        </p:nvSpPr>
        <p:spPr>
          <a:xfrm>
            <a:off x="566928" y="5431536"/>
            <a:ext cx="2560320" cy="274320"/>
          </a:xfrm>
          <a:prstGeom prst="rect">
            <a:avLst/>
          </a:prstGeom>
          <a:noFill/>
          <a:ln/>
        </p:spPr>
        <p:txBody>
          <a:bodyPr wrap="square" lIns="0" tIns="0" rIns="0" bIns="0" rtlCol="0" anchor="ctr"/>
          <a:lstStyle/>
          <a:p>
            <a:pPr marL="0" indent="0">
              <a:buNone/>
            </a:pPr>
            <a:r>
              <a:rPr lang="en-US" sz="1100" b="1" dirty="0">
                <a:solidFill>
                  <a:srgbClr val="C8102E"/>
                </a:solidFill>
                <a:latin typeface="Calibri" pitchFamily="34" charset="0"/>
                <a:ea typeface="Calibri" pitchFamily="34" charset="-122"/>
                <a:cs typeface="Calibri" pitchFamily="34" charset="-120"/>
              </a:rPr>
              <a:t>Gates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Weeks 1–4 · Foundations and core product</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By the end of week 4 you can read real stories on a real device.</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30</a:t>
            </a:r>
            <a:endParaRPr lang="en-US" sz="1050" dirty="0"/>
          </a:p>
        </p:txBody>
      </p:sp>
      <p:sp>
        <p:nvSpPr>
          <p:cNvPr id="9" name="Shape 7"/>
          <p:cNvSpPr/>
          <p:nvPr/>
        </p:nvSpPr>
        <p:spPr>
          <a:xfrm>
            <a:off x="566928" y="1645920"/>
            <a:ext cx="2615184" cy="398678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786384" y="1847088"/>
            <a:ext cx="914400" cy="274320"/>
          </a:xfrm>
          <a:prstGeom prst="roundRect">
            <a:avLst>
              <a:gd name="adj" fmla="val 16667"/>
            </a:avLst>
          </a:prstGeom>
          <a:solidFill>
            <a:srgbClr val="C8102E"/>
          </a:solidFill>
          <a:ln/>
        </p:spPr>
        <p:txBody>
          <a:bodyPr/>
          <a:lstStyle/>
          <a:p>
            <a:endParaRPr lang="en-AE"/>
          </a:p>
        </p:txBody>
      </p:sp>
      <p:sp>
        <p:nvSpPr>
          <p:cNvPr id="11" name="Text 9"/>
          <p:cNvSpPr txBox="1"/>
          <p:nvPr/>
        </p:nvSpPr>
        <p:spPr>
          <a:xfrm>
            <a:off x="786384" y="1847088"/>
            <a:ext cx="91440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Week 1</a:t>
            </a:r>
            <a:endParaRPr lang="en-US" sz="950" dirty="0"/>
          </a:p>
        </p:txBody>
      </p:sp>
      <p:sp>
        <p:nvSpPr>
          <p:cNvPr id="12" name="Text 10"/>
          <p:cNvSpPr txBox="1"/>
          <p:nvPr/>
        </p:nvSpPr>
        <p:spPr>
          <a:xfrm>
            <a:off x="786384" y="2212848"/>
            <a:ext cx="2176272" cy="548640"/>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Discovery &amp; design</a:t>
            </a:r>
            <a:endParaRPr lang="en-US" sz="1450" dirty="0"/>
          </a:p>
        </p:txBody>
      </p:sp>
      <p:sp>
        <p:nvSpPr>
          <p:cNvPr id="13" name="Text 11"/>
          <p:cNvSpPr txBox="1"/>
          <p:nvPr/>
        </p:nvSpPr>
        <p:spPr>
          <a:xfrm>
            <a:off x="786384" y="2779776"/>
            <a:ext cx="2176272" cy="2286000"/>
          </a:xfrm>
          <a:prstGeom prst="rect">
            <a:avLst/>
          </a:prstGeom>
          <a:noFill/>
          <a:ln/>
        </p:spPr>
        <p:txBody>
          <a:bodyPr wrap="square" lIns="0" tIns="0" rIns="0" bIns="0" rtlCol="0" anchor="t"/>
          <a:lstStyle/>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Systems review: current CMS, content model, analytics and ad setup</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Brand and design system in Figma, in both scripts</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High-fidelity mockups of feed, story, search, profile and console</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Database schema and API contract agreed</a:t>
            </a:r>
            <a:endParaRPr lang="en-US" sz="1080" dirty="0"/>
          </a:p>
        </p:txBody>
      </p:sp>
      <p:sp>
        <p:nvSpPr>
          <p:cNvPr id="14" name="Shape 12"/>
          <p:cNvSpPr/>
          <p:nvPr/>
        </p:nvSpPr>
        <p:spPr>
          <a:xfrm>
            <a:off x="786384" y="5138928"/>
            <a:ext cx="2176272" cy="347472"/>
          </a:xfrm>
          <a:prstGeom prst="roundRect">
            <a:avLst>
              <a:gd name="adj" fmla="val 15789"/>
            </a:avLst>
          </a:prstGeom>
          <a:solidFill>
            <a:srgbClr val="0F1E3D"/>
          </a:solidFill>
          <a:ln/>
        </p:spPr>
        <p:txBody>
          <a:bodyPr/>
          <a:lstStyle/>
          <a:p>
            <a:endParaRPr lang="en-AE"/>
          </a:p>
        </p:txBody>
      </p:sp>
      <p:sp>
        <p:nvSpPr>
          <p:cNvPr id="15" name="Text 13"/>
          <p:cNvSpPr txBox="1"/>
          <p:nvPr/>
        </p:nvSpPr>
        <p:spPr>
          <a:xfrm>
            <a:off x="786384" y="5138928"/>
            <a:ext cx="2176272" cy="347472"/>
          </a:xfrm>
          <a:prstGeom prst="rect">
            <a:avLst/>
          </a:prstGeom>
          <a:noFill/>
          <a:ln/>
        </p:spPr>
        <p:txBody>
          <a:bodyPr wrap="square" lIns="0" tIns="0" rIns="0" bIns="0" rtlCol="0" anchor="ctr"/>
          <a:lstStyle/>
          <a:p>
            <a:pPr marL="0" indent="0" algn="ctr">
              <a:buNone/>
            </a:pPr>
            <a:r>
              <a:rPr lang="en-US" sz="920" b="1" dirty="0">
                <a:solidFill>
                  <a:srgbClr val="F0A81C"/>
                </a:solidFill>
                <a:latin typeface="Calibri" pitchFamily="34" charset="0"/>
                <a:ea typeface="Calibri" pitchFamily="34" charset="-122"/>
                <a:cs typeface="Calibri" pitchFamily="34" charset="-120"/>
              </a:rPr>
              <a:t>Gate 1 — design sign-off</a:t>
            </a:r>
            <a:endParaRPr lang="en-US" sz="920" dirty="0"/>
          </a:p>
        </p:txBody>
      </p:sp>
      <p:sp>
        <p:nvSpPr>
          <p:cNvPr id="16" name="Shape 14"/>
          <p:cNvSpPr/>
          <p:nvPr/>
        </p:nvSpPr>
        <p:spPr>
          <a:xfrm>
            <a:off x="3392424" y="1645920"/>
            <a:ext cx="2615184" cy="398678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7" name="Shape 15"/>
          <p:cNvSpPr/>
          <p:nvPr/>
        </p:nvSpPr>
        <p:spPr>
          <a:xfrm>
            <a:off x="3611880" y="1847088"/>
            <a:ext cx="914400" cy="274320"/>
          </a:xfrm>
          <a:prstGeom prst="roundRect">
            <a:avLst>
              <a:gd name="adj" fmla="val 16667"/>
            </a:avLst>
          </a:prstGeom>
          <a:solidFill>
            <a:srgbClr val="0F1E3D"/>
          </a:solidFill>
          <a:ln/>
        </p:spPr>
        <p:txBody>
          <a:bodyPr/>
          <a:lstStyle/>
          <a:p>
            <a:endParaRPr lang="en-AE"/>
          </a:p>
        </p:txBody>
      </p:sp>
      <p:sp>
        <p:nvSpPr>
          <p:cNvPr id="18" name="Text 16"/>
          <p:cNvSpPr txBox="1"/>
          <p:nvPr/>
        </p:nvSpPr>
        <p:spPr>
          <a:xfrm>
            <a:off x="3611880" y="1847088"/>
            <a:ext cx="91440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Week 2</a:t>
            </a:r>
            <a:endParaRPr lang="en-US" sz="950" dirty="0"/>
          </a:p>
        </p:txBody>
      </p:sp>
      <p:sp>
        <p:nvSpPr>
          <p:cNvPr id="19" name="Text 17"/>
          <p:cNvSpPr txBox="1"/>
          <p:nvPr/>
        </p:nvSpPr>
        <p:spPr>
          <a:xfrm>
            <a:off x="3611880" y="2212848"/>
            <a:ext cx="2176272" cy="548640"/>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Foundations</a:t>
            </a:r>
            <a:endParaRPr lang="en-US" sz="1450" dirty="0"/>
          </a:p>
        </p:txBody>
      </p:sp>
      <p:sp>
        <p:nvSpPr>
          <p:cNvPr id="20" name="Text 18"/>
          <p:cNvSpPr txBox="1"/>
          <p:nvPr/>
        </p:nvSpPr>
        <p:spPr>
          <a:xfrm>
            <a:off x="3611880" y="2779776"/>
            <a:ext cx="2176272" cy="2286000"/>
          </a:xfrm>
          <a:prstGeom prst="rect">
            <a:avLst/>
          </a:prstGeom>
          <a:noFill/>
          <a:ln/>
        </p:spPr>
        <p:txBody>
          <a:bodyPr wrap="square" lIns="0" tIns="0" rIns="0" bIns="0" rtlCol="0" anchor="t"/>
          <a:lstStyle/>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Repositories, CI/CD pipelines and three environments provisioned</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PostgreSQL, Redis and OpenSearch stood up; content model migrated</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Authentication service with phone-OTP and social login</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Cloud cost forecast and backup/recovery targets confirmed with you</a:t>
            </a:r>
            <a:endParaRPr lang="en-US" sz="1080" dirty="0"/>
          </a:p>
        </p:txBody>
      </p:sp>
      <p:sp>
        <p:nvSpPr>
          <p:cNvPr id="21" name="Shape 19"/>
          <p:cNvSpPr/>
          <p:nvPr/>
        </p:nvSpPr>
        <p:spPr>
          <a:xfrm>
            <a:off x="6217920" y="1645920"/>
            <a:ext cx="2615184" cy="398678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2" name="Shape 20"/>
          <p:cNvSpPr/>
          <p:nvPr/>
        </p:nvSpPr>
        <p:spPr>
          <a:xfrm>
            <a:off x="6437376" y="1847088"/>
            <a:ext cx="914400" cy="274320"/>
          </a:xfrm>
          <a:prstGeom prst="roundRect">
            <a:avLst>
              <a:gd name="adj" fmla="val 16667"/>
            </a:avLst>
          </a:prstGeom>
          <a:solidFill>
            <a:srgbClr val="1B3160"/>
          </a:solidFill>
          <a:ln/>
        </p:spPr>
        <p:txBody>
          <a:bodyPr/>
          <a:lstStyle/>
          <a:p>
            <a:endParaRPr lang="en-AE"/>
          </a:p>
        </p:txBody>
      </p:sp>
      <p:sp>
        <p:nvSpPr>
          <p:cNvPr id="23" name="Text 21"/>
          <p:cNvSpPr txBox="1"/>
          <p:nvPr/>
        </p:nvSpPr>
        <p:spPr>
          <a:xfrm>
            <a:off x="6437376" y="1847088"/>
            <a:ext cx="91440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Week 3</a:t>
            </a:r>
            <a:endParaRPr lang="en-US" sz="950" dirty="0"/>
          </a:p>
        </p:txBody>
      </p:sp>
      <p:sp>
        <p:nvSpPr>
          <p:cNvPr id="24" name="Text 22"/>
          <p:cNvSpPr txBox="1"/>
          <p:nvPr/>
        </p:nvSpPr>
        <p:spPr>
          <a:xfrm>
            <a:off x="6437376" y="2212848"/>
            <a:ext cx="2176272" cy="548640"/>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Reading experience</a:t>
            </a:r>
            <a:endParaRPr lang="en-US" sz="1450" dirty="0"/>
          </a:p>
        </p:txBody>
      </p:sp>
      <p:sp>
        <p:nvSpPr>
          <p:cNvPr id="25" name="Text 23"/>
          <p:cNvSpPr txBox="1"/>
          <p:nvPr/>
        </p:nvSpPr>
        <p:spPr>
          <a:xfrm>
            <a:off x="6437376" y="2779776"/>
            <a:ext cx="2176272" cy="2286000"/>
          </a:xfrm>
          <a:prstGeom prst="rect">
            <a:avLst/>
          </a:prstGeom>
          <a:noFill/>
          <a:ln/>
        </p:spPr>
        <p:txBody>
          <a:bodyPr wrap="square" lIns="0" tIns="0" rIns="0" bIns="0" rtlCol="0" anchor="t"/>
          <a:lstStyle/>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Flutter feed, story page, search and navigation built against live APIs</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Next.js web app with server rendering and SEO metadata</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Bilingual UI layer wired throughout, both scripts rendering correctly</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Media pipeline: upload, resize, CDN delivery</a:t>
            </a:r>
            <a:endParaRPr lang="en-US" sz="1080" dirty="0"/>
          </a:p>
        </p:txBody>
      </p:sp>
      <p:sp>
        <p:nvSpPr>
          <p:cNvPr id="26" name="Shape 24"/>
          <p:cNvSpPr/>
          <p:nvPr/>
        </p:nvSpPr>
        <p:spPr>
          <a:xfrm>
            <a:off x="9043416" y="1645920"/>
            <a:ext cx="2615184" cy="398678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7" name="Shape 25"/>
          <p:cNvSpPr/>
          <p:nvPr/>
        </p:nvSpPr>
        <p:spPr>
          <a:xfrm>
            <a:off x="9262872" y="1847088"/>
            <a:ext cx="914400" cy="274320"/>
          </a:xfrm>
          <a:prstGeom prst="roundRect">
            <a:avLst>
              <a:gd name="adj" fmla="val 16667"/>
            </a:avLst>
          </a:prstGeom>
          <a:solidFill>
            <a:srgbClr val="3E5B8C"/>
          </a:solidFill>
          <a:ln/>
        </p:spPr>
        <p:txBody>
          <a:bodyPr/>
          <a:lstStyle/>
          <a:p>
            <a:endParaRPr lang="en-AE"/>
          </a:p>
        </p:txBody>
      </p:sp>
      <p:sp>
        <p:nvSpPr>
          <p:cNvPr id="28" name="Text 26"/>
          <p:cNvSpPr txBox="1"/>
          <p:nvPr/>
        </p:nvSpPr>
        <p:spPr>
          <a:xfrm>
            <a:off x="9262872" y="1847088"/>
            <a:ext cx="91440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Week 4</a:t>
            </a:r>
            <a:endParaRPr lang="en-US" sz="950" dirty="0"/>
          </a:p>
        </p:txBody>
      </p:sp>
      <p:sp>
        <p:nvSpPr>
          <p:cNvPr id="29" name="Text 27"/>
          <p:cNvSpPr txBox="1"/>
          <p:nvPr/>
        </p:nvSpPr>
        <p:spPr>
          <a:xfrm>
            <a:off x="9262872" y="2212848"/>
            <a:ext cx="2176272" cy="548640"/>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Core services</a:t>
            </a:r>
            <a:endParaRPr lang="en-US" sz="1450" dirty="0"/>
          </a:p>
        </p:txBody>
      </p:sp>
      <p:sp>
        <p:nvSpPr>
          <p:cNvPr id="30" name="Text 28"/>
          <p:cNvSpPr txBox="1"/>
          <p:nvPr/>
        </p:nvSpPr>
        <p:spPr>
          <a:xfrm>
            <a:off x="9262872" y="2779776"/>
            <a:ext cx="2176272" cy="2286000"/>
          </a:xfrm>
          <a:prstGeom prst="rect">
            <a:avLst/>
          </a:prstGeom>
          <a:noFill/>
          <a:ln/>
        </p:spPr>
        <p:txBody>
          <a:bodyPr wrap="square" lIns="0" tIns="0" rIns="0" bIns="0" rtlCol="0" anchor="t"/>
          <a:lstStyle/>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Feed, story, category and search APIs with Redis caching</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Newsroom console v1: publish, schedule, tag, upload</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Push notification infrastructure with segment targeting</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First internal build distributed to your team on TestFlight and Play Internal</a:t>
            </a:r>
            <a:endParaRPr lang="en-US" sz="1080" dirty="0"/>
          </a:p>
        </p:txBody>
      </p:sp>
      <p:sp>
        <p:nvSpPr>
          <p:cNvPr id="31" name="Shape 29"/>
          <p:cNvSpPr/>
          <p:nvPr/>
        </p:nvSpPr>
        <p:spPr>
          <a:xfrm>
            <a:off x="9262872" y="5138928"/>
            <a:ext cx="2176272" cy="347472"/>
          </a:xfrm>
          <a:prstGeom prst="roundRect">
            <a:avLst>
              <a:gd name="adj" fmla="val 15789"/>
            </a:avLst>
          </a:prstGeom>
          <a:solidFill>
            <a:srgbClr val="0F1E3D"/>
          </a:solidFill>
          <a:ln/>
        </p:spPr>
        <p:txBody>
          <a:bodyPr/>
          <a:lstStyle/>
          <a:p>
            <a:endParaRPr lang="en-AE"/>
          </a:p>
        </p:txBody>
      </p:sp>
      <p:sp>
        <p:nvSpPr>
          <p:cNvPr id="32" name="Text 30"/>
          <p:cNvSpPr txBox="1"/>
          <p:nvPr/>
        </p:nvSpPr>
        <p:spPr>
          <a:xfrm>
            <a:off x="9262872" y="5138928"/>
            <a:ext cx="2176272" cy="347472"/>
          </a:xfrm>
          <a:prstGeom prst="rect">
            <a:avLst/>
          </a:prstGeom>
          <a:noFill/>
          <a:ln/>
        </p:spPr>
        <p:txBody>
          <a:bodyPr wrap="square" lIns="0" tIns="0" rIns="0" bIns="0" rtlCol="0" anchor="ctr"/>
          <a:lstStyle/>
          <a:p>
            <a:pPr marL="0" indent="0" algn="ctr">
              <a:buNone/>
            </a:pPr>
            <a:r>
              <a:rPr lang="en-US" sz="920" b="1" dirty="0">
                <a:solidFill>
                  <a:srgbClr val="F0A81C"/>
                </a:solidFill>
                <a:latin typeface="Calibri" pitchFamily="34" charset="0"/>
                <a:ea typeface="Calibri" pitchFamily="34" charset="-122"/>
                <a:cs typeface="Calibri" pitchFamily="34" charset="-120"/>
              </a:rPr>
              <a:t>Gate 2 — core app demo</a:t>
            </a:r>
            <a:endParaRPr lang="en-US" sz="920" dirty="0"/>
          </a:p>
        </p:txBody>
      </p:sp>
      <p:sp>
        <p:nvSpPr>
          <p:cNvPr id="33" name="Text 31"/>
          <p:cNvSpPr txBox="1"/>
          <p:nvPr/>
        </p:nvSpPr>
        <p:spPr>
          <a:xfrm>
            <a:off x="566928" y="5760720"/>
            <a:ext cx="11057839" cy="274320"/>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Weekly written status every Friday, a 30-minute review call every Monday, and standing access to the project board throughout.</a:t>
            </a:r>
            <a:endParaRPr lang="en-US" sz="11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Weeks 5–8 · Intelligence, hardening and launch</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By the end of week 8 the apps are public and earning.</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31</a:t>
            </a:r>
            <a:endParaRPr lang="en-US" sz="1050" dirty="0"/>
          </a:p>
        </p:txBody>
      </p:sp>
      <p:sp>
        <p:nvSpPr>
          <p:cNvPr id="9" name="Shape 7"/>
          <p:cNvSpPr/>
          <p:nvPr/>
        </p:nvSpPr>
        <p:spPr>
          <a:xfrm>
            <a:off x="566928" y="1645920"/>
            <a:ext cx="2615184" cy="398678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786384" y="1847088"/>
            <a:ext cx="914400" cy="274320"/>
          </a:xfrm>
          <a:prstGeom prst="roundRect">
            <a:avLst>
              <a:gd name="adj" fmla="val 16667"/>
            </a:avLst>
          </a:prstGeom>
          <a:solidFill>
            <a:srgbClr val="F0A81C"/>
          </a:solidFill>
          <a:ln/>
        </p:spPr>
        <p:txBody>
          <a:bodyPr/>
          <a:lstStyle/>
          <a:p>
            <a:endParaRPr lang="en-AE"/>
          </a:p>
        </p:txBody>
      </p:sp>
      <p:sp>
        <p:nvSpPr>
          <p:cNvPr id="11" name="Text 9"/>
          <p:cNvSpPr txBox="1"/>
          <p:nvPr/>
        </p:nvSpPr>
        <p:spPr>
          <a:xfrm>
            <a:off x="786384" y="1847088"/>
            <a:ext cx="914400" cy="274320"/>
          </a:xfrm>
          <a:prstGeom prst="rect">
            <a:avLst/>
          </a:prstGeom>
          <a:noFill/>
          <a:ln/>
        </p:spPr>
        <p:txBody>
          <a:bodyPr wrap="square" lIns="0" tIns="0" rIns="0" bIns="0" rtlCol="0" anchor="ctr"/>
          <a:lstStyle/>
          <a:p>
            <a:pPr marL="0" indent="0" algn="ctr">
              <a:buNone/>
            </a:pPr>
            <a:r>
              <a:rPr lang="en-US" sz="950" b="1" dirty="0">
                <a:solidFill>
                  <a:srgbClr val="0F1E3D"/>
                </a:solidFill>
                <a:latin typeface="Calibri" pitchFamily="34" charset="0"/>
                <a:ea typeface="Calibri" pitchFamily="34" charset="-122"/>
                <a:cs typeface="Calibri" pitchFamily="34" charset="-120"/>
              </a:rPr>
              <a:t>Week 5</a:t>
            </a:r>
            <a:endParaRPr lang="en-US" sz="950" dirty="0"/>
          </a:p>
        </p:txBody>
      </p:sp>
      <p:sp>
        <p:nvSpPr>
          <p:cNvPr id="12" name="Text 10"/>
          <p:cNvSpPr txBox="1"/>
          <p:nvPr/>
        </p:nvSpPr>
        <p:spPr>
          <a:xfrm>
            <a:off x="786384" y="2212848"/>
            <a:ext cx="2176272" cy="548640"/>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AI &amp; ranking</a:t>
            </a:r>
            <a:endParaRPr lang="en-US" sz="1450" dirty="0"/>
          </a:p>
        </p:txBody>
      </p:sp>
      <p:sp>
        <p:nvSpPr>
          <p:cNvPr id="13" name="Text 11"/>
          <p:cNvSpPr txBox="1"/>
          <p:nvPr/>
        </p:nvSpPr>
        <p:spPr>
          <a:xfrm>
            <a:off x="786384" y="2779776"/>
            <a:ext cx="2176272" cy="2286000"/>
          </a:xfrm>
          <a:prstGeom prst="rect">
            <a:avLst/>
          </a:prstGeom>
          <a:noFill/>
          <a:ln/>
        </p:spPr>
        <p:txBody>
          <a:bodyPr wrap="square" lIns="0" tIns="0" rIns="0" bIns="0" rtlCol="0" anchor="t"/>
          <a:lstStyle/>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Groq classification service live: topic, entity and urgency tagging</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Geo-tagging with a Karnataka gazetteer, down to district level</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Location-weighted ranking with the 50/25/15/10 default mix</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Trending detection per city, with editor override in the console</a:t>
            </a:r>
            <a:endParaRPr lang="en-US" sz="1080" dirty="0"/>
          </a:p>
        </p:txBody>
      </p:sp>
      <p:sp>
        <p:nvSpPr>
          <p:cNvPr id="14" name="Shape 12"/>
          <p:cNvSpPr/>
          <p:nvPr/>
        </p:nvSpPr>
        <p:spPr>
          <a:xfrm>
            <a:off x="3392424" y="1645920"/>
            <a:ext cx="2615184" cy="398678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5" name="Shape 13"/>
          <p:cNvSpPr/>
          <p:nvPr/>
        </p:nvSpPr>
        <p:spPr>
          <a:xfrm>
            <a:off x="3611880" y="1847088"/>
            <a:ext cx="914400" cy="274320"/>
          </a:xfrm>
          <a:prstGeom prst="roundRect">
            <a:avLst>
              <a:gd name="adj" fmla="val 16667"/>
            </a:avLst>
          </a:prstGeom>
          <a:solidFill>
            <a:srgbClr val="1B3160"/>
          </a:solidFill>
          <a:ln/>
        </p:spPr>
        <p:txBody>
          <a:bodyPr/>
          <a:lstStyle/>
          <a:p>
            <a:endParaRPr lang="en-AE"/>
          </a:p>
        </p:txBody>
      </p:sp>
      <p:sp>
        <p:nvSpPr>
          <p:cNvPr id="16" name="Text 14"/>
          <p:cNvSpPr txBox="1"/>
          <p:nvPr/>
        </p:nvSpPr>
        <p:spPr>
          <a:xfrm>
            <a:off x="3611880" y="1847088"/>
            <a:ext cx="91440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Week 6</a:t>
            </a:r>
            <a:endParaRPr lang="en-US" sz="950" dirty="0"/>
          </a:p>
        </p:txBody>
      </p:sp>
      <p:sp>
        <p:nvSpPr>
          <p:cNvPr id="17" name="Text 15"/>
          <p:cNvSpPr txBox="1"/>
          <p:nvPr/>
        </p:nvSpPr>
        <p:spPr>
          <a:xfrm>
            <a:off x="3611880" y="2212848"/>
            <a:ext cx="2176272" cy="548640"/>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Engagement &amp; money</a:t>
            </a:r>
            <a:endParaRPr lang="en-US" sz="1450" dirty="0"/>
          </a:p>
        </p:txBody>
      </p:sp>
      <p:sp>
        <p:nvSpPr>
          <p:cNvPr id="18" name="Text 16"/>
          <p:cNvSpPr txBox="1"/>
          <p:nvPr/>
        </p:nvSpPr>
        <p:spPr>
          <a:xfrm>
            <a:off x="3611880" y="2779776"/>
            <a:ext cx="2176272" cy="2286000"/>
          </a:xfrm>
          <a:prstGeom prst="rect">
            <a:avLst/>
          </a:prstGeom>
          <a:noFill/>
          <a:ln/>
        </p:spPr>
        <p:txBody>
          <a:bodyPr wrap="square" lIns="0" tIns="0" rIns="0" bIns="0" rtlCol="0" anchor="t"/>
          <a:lstStyle/>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Threaded comments, reactions and bookmarks across app and web</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Automated plus human moderation queue, bilingual</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Ad slots, house ads and sponsored-content labelling</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Subscription billing on all three platforms, tested end to end</a:t>
            </a:r>
            <a:endParaRPr lang="en-US" sz="1080" dirty="0"/>
          </a:p>
        </p:txBody>
      </p:sp>
      <p:sp>
        <p:nvSpPr>
          <p:cNvPr id="19" name="Shape 17"/>
          <p:cNvSpPr/>
          <p:nvPr/>
        </p:nvSpPr>
        <p:spPr>
          <a:xfrm>
            <a:off x="3611880" y="5138928"/>
            <a:ext cx="2176272" cy="347472"/>
          </a:xfrm>
          <a:prstGeom prst="roundRect">
            <a:avLst>
              <a:gd name="adj" fmla="val 15789"/>
            </a:avLst>
          </a:prstGeom>
          <a:solidFill>
            <a:srgbClr val="0F1E3D"/>
          </a:solidFill>
          <a:ln/>
        </p:spPr>
        <p:txBody>
          <a:bodyPr/>
          <a:lstStyle/>
          <a:p>
            <a:endParaRPr lang="en-AE"/>
          </a:p>
        </p:txBody>
      </p:sp>
      <p:sp>
        <p:nvSpPr>
          <p:cNvPr id="20" name="Text 18"/>
          <p:cNvSpPr txBox="1"/>
          <p:nvPr/>
        </p:nvSpPr>
        <p:spPr>
          <a:xfrm>
            <a:off x="3611880" y="5138928"/>
            <a:ext cx="2176272" cy="347472"/>
          </a:xfrm>
          <a:prstGeom prst="rect">
            <a:avLst/>
          </a:prstGeom>
          <a:noFill/>
          <a:ln/>
        </p:spPr>
        <p:txBody>
          <a:bodyPr wrap="square" lIns="0" tIns="0" rIns="0" bIns="0" rtlCol="0" anchor="ctr"/>
          <a:lstStyle/>
          <a:p>
            <a:pPr marL="0" indent="0" algn="ctr">
              <a:buNone/>
            </a:pPr>
            <a:r>
              <a:rPr lang="en-US" sz="920" b="1" dirty="0">
                <a:solidFill>
                  <a:srgbClr val="F0A81C"/>
                </a:solidFill>
                <a:latin typeface="Calibri" pitchFamily="34" charset="0"/>
                <a:ea typeface="Calibri" pitchFamily="34" charset="-122"/>
                <a:cs typeface="Calibri" pitchFamily="34" charset="-120"/>
              </a:rPr>
              <a:t>Gate 3 — AI + engagement demo</a:t>
            </a:r>
            <a:endParaRPr lang="en-US" sz="920" dirty="0"/>
          </a:p>
        </p:txBody>
      </p:sp>
      <p:sp>
        <p:nvSpPr>
          <p:cNvPr id="21" name="Shape 19"/>
          <p:cNvSpPr/>
          <p:nvPr/>
        </p:nvSpPr>
        <p:spPr>
          <a:xfrm>
            <a:off x="6217920" y="1645920"/>
            <a:ext cx="2615184" cy="398678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2" name="Shape 20"/>
          <p:cNvSpPr/>
          <p:nvPr/>
        </p:nvSpPr>
        <p:spPr>
          <a:xfrm>
            <a:off x="6437376" y="1847088"/>
            <a:ext cx="914400" cy="274320"/>
          </a:xfrm>
          <a:prstGeom prst="roundRect">
            <a:avLst>
              <a:gd name="adj" fmla="val 16667"/>
            </a:avLst>
          </a:prstGeom>
          <a:solidFill>
            <a:srgbClr val="0F1E3D"/>
          </a:solidFill>
          <a:ln/>
        </p:spPr>
        <p:txBody>
          <a:bodyPr/>
          <a:lstStyle/>
          <a:p>
            <a:endParaRPr lang="en-AE"/>
          </a:p>
        </p:txBody>
      </p:sp>
      <p:sp>
        <p:nvSpPr>
          <p:cNvPr id="23" name="Text 21"/>
          <p:cNvSpPr txBox="1"/>
          <p:nvPr/>
        </p:nvSpPr>
        <p:spPr>
          <a:xfrm>
            <a:off x="6437376" y="1847088"/>
            <a:ext cx="91440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Week 7</a:t>
            </a:r>
            <a:endParaRPr lang="en-US" sz="950" dirty="0"/>
          </a:p>
        </p:txBody>
      </p:sp>
      <p:sp>
        <p:nvSpPr>
          <p:cNvPr id="24" name="Text 22"/>
          <p:cNvSpPr txBox="1"/>
          <p:nvPr/>
        </p:nvSpPr>
        <p:spPr>
          <a:xfrm>
            <a:off x="6437376" y="2212848"/>
            <a:ext cx="2176272" cy="548640"/>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Hardening</a:t>
            </a:r>
            <a:endParaRPr lang="en-US" sz="1450" dirty="0"/>
          </a:p>
        </p:txBody>
      </p:sp>
      <p:sp>
        <p:nvSpPr>
          <p:cNvPr id="25" name="Text 23"/>
          <p:cNvSpPr txBox="1"/>
          <p:nvPr/>
        </p:nvSpPr>
        <p:spPr>
          <a:xfrm>
            <a:off x="6437376" y="2779776"/>
            <a:ext cx="2176272" cy="2286000"/>
          </a:xfrm>
          <a:prstGeom prst="rect">
            <a:avLst/>
          </a:prstGeom>
          <a:noFill/>
          <a:ln/>
        </p:spPr>
        <p:txBody>
          <a:bodyPr wrap="square" lIns="0" tIns="0" rIns="0" bIns="0" rtlCol="0" anchor="t"/>
          <a:lstStyle/>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Automated test suite at 80%+ coverage on business logic</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Load, spike and chaos tests to the targets on page 21</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Security review, dependency audit and penetration test; findings fixed</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Accessibility pass and performance budgets enforced in CI</a:t>
            </a:r>
            <a:endParaRPr lang="en-US" sz="1080" dirty="0"/>
          </a:p>
        </p:txBody>
      </p:sp>
      <p:sp>
        <p:nvSpPr>
          <p:cNvPr id="26" name="Shape 24"/>
          <p:cNvSpPr/>
          <p:nvPr/>
        </p:nvSpPr>
        <p:spPr>
          <a:xfrm>
            <a:off x="9043416" y="1645920"/>
            <a:ext cx="2615184" cy="3986784"/>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7" name="Shape 25"/>
          <p:cNvSpPr/>
          <p:nvPr/>
        </p:nvSpPr>
        <p:spPr>
          <a:xfrm>
            <a:off x="9262872" y="1847088"/>
            <a:ext cx="914400" cy="274320"/>
          </a:xfrm>
          <a:prstGeom prst="roundRect">
            <a:avLst>
              <a:gd name="adj" fmla="val 16667"/>
            </a:avLst>
          </a:prstGeom>
          <a:solidFill>
            <a:srgbClr val="C8102E"/>
          </a:solidFill>
          <a:ln/>
        </p:spPr>
        <p:txBody>
          <a:bodyPr/>
          <a:lstStyle/>
          <a:p>
            <a:endParaRPr lang="en-AE"/>
          </a:p>
        </p:txBody>
      </p:sp>
      <p:sp>
        <p:nvSpPr>
          <p:cNvPr id="28" name="Text 26"/>
          <p:cNvSpPr txBox="1"/>
          <p:nvPr/>
        </p:nvSpPr>
        <p:spPr>
          <a:xfrm>
            <a:off x="9262872" y="1847088"/>
            <a:ext cx="91440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Week 8</a:t>
            </a:r>
            <a:endParaRPr lang="en-US" sz="950" dirty="0"/>
          </a:p>
        </p:txBody>
      </p:sp>
      <p:sp>
        <p:nvSpPr>
          <p:cNvPr id="29" name="Text 27"/>
          <p:cNvSpPr txBox="1"/>
          <p:nvPr/>
        </p:nvSpPr>
        <p:spPr>
          <a:xfrm>
            <a:off x="9262872" y="2212848"/>
            <a:ext cx="2176272" cy="548640"/>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Launch</a:t>
            </a:r>
            <a:endParaRPr lang="en-US" sz="1450" dirty="0"/>
          </a:p>
        </p:txBody>
      </p:sp>
      <p:sp>
        <p:nvSpPr>
          <p:cNvPr id="30" name="Text 28"/>
          <p:cNvSpPr txBox="1"/>
          <p:nvPr/>
        </p:nvSpPr>
        <p:spPr>
          <a:xfrm>
            <a:off x="9262872" y="2779776"/>
            <a:ext cx="2176272" cy="2286000"/>
          </a:xfrm>
          <a:prstGeom prst="rect">
            <a:avLst/>
          </a:prstGeom>
          <a:noFill/>
          <a:ln/>
        </p:spPr>
        <p:txBody>
          <a:bodyPr wrap="square" lIns="0" tIns="0" rIns="0" bIns="0" rtlCol="0" anchor="t"/>
          <a:lstStyle/>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Closed beta with 50 readers and your newsroom; feedback triaged</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App Store and Play Store submission, listings in both languages</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Production launch, web and PWA live, monitoring and on-call active</a:t>
            </a:r>
            <a:endParaRPr lang="en-US" sz="1080" dirty="0"/>
          </a:p>
          <a:p>
            <a:pPr marL="165100" indent="-165100">
              <a:lnSpc>
                <a:spcPct val="106000"/>
              </a:lnSpc>
              <a:spcAft>
                <a:spcPts val="700"/>
              </a:spcAft>
              <a:buSzPct val="100000"/>
              <a:buChar char="•"/>
            </a:pPr>
            <a:r>
              <a:rPr lang="en-US" sz="1080" dirty="0">
                <a:solidFill>
                  <a:srgbClr val="4A5568"/>
                </a:solidFill>
                <a:latin typeface="Calibri" pitchFamily="34" charset="0"/>
                <a:ea typeface="Calibri" pitchFamily="34" charset="-122"/>
                <a:cs typeface="Calibri" pitchFamily="34" charset="-120"/>
              </a:rPr>
              <a:t>Hypercare begins: two weeks of priority response included</a:t>
            </a:r>
            <a:endParaRPr lang="en-US" sz="1080" dirty="0"/>
          </a:p>
        </p:txBody>
      </p:sp>
      <p:sp>
        <p:nvSpPr>
          <p:cNvPr id="31" name="Shape 29"/>
          <p:cNvSpPr/>
          <p:nvPr/>
        </p:nvSpPr>
        <p:spPr>
          <a:xfrm>
            <a:off x="9262872" y="5138928"/>
            <a:ext cx="2176272" cy="347472"/>
          </a:xfrm>
          <a:prstGeom prst="roundRect">
            <a:avLst>
              <a:gd name="adj" fmla="val 15789"/>
            </a:avLst>
          </a:prstGeom>
          <a:solidFill>
            <a:srgbClr val="0F1E3D"/>
          </a:solidFill>
          <a:ln/>
        </p:spPr>
        <p:txBody>
          <a:bodyPr/>
          <a:lstStyle/>
          <a:p>
            <a:endParaRPr lang="en-AE"/>
          </a:p>
        </p:txBody>
      </p:sp>
      <p:sp>
        <p:nvSpPr>
          <p:cNvPr id="32" name="Text 30"/>
          <p:cNvSpPr txBox="1"/>
          <p:nvPr/>
        </p:nvSpPr>
        <p:spPr>
          <a:xfrm>
            <a:off x="9262872" y="5138928"/>
            <a:ext cx="2176272" cy="347472"/>
          </a:xfrm>
          <a:prstGeom prst="rect">
            <a:avLst/>
          </a:prstGeom>
          <a:noFill/>
          <a:ln/>
        </p:spPr>
        <p:txBody>
          <a:bodyPr wrap="square" lIns="0" tIns="0" rIns="0" bIns="0" rtlCol="0" anchor="ctr"/>
          <a:lstStyle/>
          <a:p>
            <a:pPr marL="0" indent="0" algn="ctr">
              <a:buNone/>
            </a:pPr>
            <a:r>
              <a:rPr lang="en-US" sz="920" b="1" dirty="0">
                <a:solidFill>
                  <a:srgbClr val="F0A81C"/>
                </a:solidFill>
                <a:latin typeface="Calibri" pitchFamily="34" charset="0"/>
                <a:ea typeface="Calibri" pitchFamily="34" charset="-122"/>
                <a:cs typeface="Calibri" pitchFamily="34" charset="-120"/>
              </a:rPr>
              <a:t>Gate 4 — store launch</a:t>
            </a:r>
            <a:endParaRPr lang="en-US" sz="920" dirty="0"/>
          </a:p>
        </p:txBody>
      </p:sp>
      <p:sp>
        <p:nvSpPr>
          <p:cNvPr id="33" name="Text 31"/>
          <p:cNvSpPr txBox="1"/>
          <p:nvPr/>
        </p:nvSpPr>
        <p:spPr>
          <a:xfrm>
            <a:off x="566928" y="5760720"/>
            <a:ext cx="11057839" cy="274320"/>
          </a:xfrm>
          <a:prstGeom prst="rect">
            <a:avLst/>
          </a:prstGeom>
          <a:noFill/>
          <a:ln/>
        </p:spPr>
        <p:txBody>
          <a:bodyPr wrap="square" lIns="0" tIns="0" rIns="0" bIns="0" rtlCol="0" anchor="ctr"/>
          <a:lstStyle/>
          <a:p>
            <a:pPr marL="0" indent="0">
              <a:buNone/>
            </a:pPr>
            <a:r>
              <a:rPr lang="en-US" sz="1120" b="1" dirty="0">
                <a:solidFill>
                  <a:srgbClr val="0F1E3D"/>
                </a:solidFill>
                <a:latin typeface="Calibri" pitchFamily="34" charset="0"/>
                <a:ea typeface="Calibri" pitchFamily="34" charset="-122"/>
                <a:cs typeface="Calibri" pitchFamily="34" charset="-120"/>
              </a:rPr>
              <a:t>Store review is the one date we do not control.  </a:t>
            </a:r>
            <a:r>
              <a:rPr lang="en-US" sz="1120" dirty="0">
                <a:solidFill>
                  <a:srgbClr val="4A5568"/>
                </a:solidFill>
                <a:latin typeface="Calibri" pitchFamily="34" charset="0"/>
                <a:ea typeface="Calibri" pitchFamily="34" charset="-122"/>
                <a:cs typeface="Calibri" pitchFamily="34" charset="-120"/>
              </a:rPr>
              <a:t>We submit at the start of week 8 with all listing assets and policy declarations prepared, and the web app launches on schedule regardless.</a:t>
            </a:r>
            <a:endParaRPr lang="en-US" sz="112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Team &amp; governance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Eleven people, one point of contact, and a decision path that does not stall.</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32</a:t>
            </a:r>
            <a:endParaRPr lang="en-US" sz="1050" dirty="0"/>
          </a:p>
        </p:txBody>
      </p:sp>
      <p:sp>
        <p:nvSpPr>
          <p:cNvPr id="9" name="Shape 7"/>
          <p:cNvSpPr/>
          <p:nvPr/>
        </p:nvSpPr>
        <p:spPr>
          <a:xfrm>
            <a:off x="566928" y="1627632"/>
            <a:ext cx="2615184" cy="1170432"/>
          </a:xfrm>
          <a:prstGeom prst="roundRect">
            <a:avLst>
              <a:gd name="adj" fmla="val 7813"/>
            </a:avLst>
          </a:prstGeom>
          <a:solidFill>
            <a:srgbClr val="F4F7FC"/>
          </a:solidFill>
          <a:ln/>
        </p:spPr>
        <p:txBody>
          <a:bodyPr/>
          <a:lstStyle/>
          <a:p>
            <a:endParaRPr lang="en-AE"/>
          </a:p>
        </p:txBody>
      </p:sp>
      <p:sp>
        <p:nvSpPr>
          <p:cNvPr id="10" name="Shape 8"/>
          <p:cNvSpPr/>
          <p:nvPr/>
        </p:nvSpPr>
        <p:spPr>
          <a:xfrm>
            <a:off x="768096" y="1810512"/>
            <a:ext cx="384048" cy="384048"/>
          </a:xfrm>
          <a:prstGeom prst="ellipse">
            <a:avLst/>
          </a:prstGeom>
          <a:solidFill>
            <a:srgbClr val="C8102E"/>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864108" y="1906524"/>
            <a:ext cx="192024" cy="192024"/>
          </a:xfrm>
          <a:prstGeom prst="rect">
            <a:avLst/>
          </a:prstGeom>
        </p:spPr>
      </p:pic>
      <p:sp>
        <p:nvSpPr>
          <p:cNvPr id="12" name="Text 9"/>
          <p:cNvSpPr txBox="1"/>
          <p:nvPr/>
        </p:nvSpPr>
        <p:spPr>
          <a:xfrm>
            <a:off x="1243584" y="1792224"/>
            <a:ext cx="1463040" cy="2560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Project lead</a:t>
            </a:r>
            <a:endParaRPr lang="en-US" sz="1200" dirty="0"/>
          </a:p>
        </p:txBody>
      </p:sp>
      <p:sp>
        <p:nvSpPr>
          <p:cNvPr id="13" name="Text 10"/>
          <p:cNvSpPr txBox="1"/>
          <p:nvPr/>
        </p:nvSpPr>
        <p:spPr>
          <a:xfrm>
            <a:off x="2670048" y="1792224"/>
            <a:ext cx="365760" cy="256032"/>
          </a:xfrm>
          <a:prstGeom prst="rect">
            <a:avLst/>
          </a:prstGeom>
          <a:noFill/>
          <a:ln/>
        </p:spPr>
        <p:txBody>
          <a:bodyPr wrap="square" lIns="0" tIns="0" rIns="0" bIns="0" rtlCol="0" anchor="ctr"/>
          <a:lstStyle/>
          <a:p>
            <a:pPr marL="0" indent="0" algn="r">
              <a:buNone/>
            </a:pPr>
            <a:r>
              <a:rPr lang="en-US" sz="1400" b="1" dirty="0">
                <a:solidFill>
                  <a:srgbClr val="C8102E"/>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768096" y="2267712"/>
            <a:ext cx="2231136" cy="420624"/>
          </a:xfrm>
          <a:prstGeom prst="rect">
            <a:avLst/>
          </a:prstGeom>
          <a:noFill/>
          <a:ln/>
        </p:spPr>
        <p:txBody>
          <a:bodyPr wrap="square" lIns="0" tIns="0" rIns="0" bIns="0" rtlCol="0" anchor="t"/>
          <a:lstStyle/>
          <a:p>
            <a:pPr marL="0" indent="0">
              <a:lnSpc>
                <a:spcPct val="104000"/>
              </a:lnSpc>
              <a:buNone/>
            </a:pPr>
            <a:r>
              <a:rPr lang="en-US" sz="1030" dirty="0">
                <a:solidFill>
                  <a:srgbClr val="4A5568"/>
                </a:solidFill>
                <a:latin typeface="Calibri" pitchFamily="34" charset="0"/>
                <a:ea typeface="Calibri" pitchFamily="34" charset="-122"/>
                <a:cs typeface="Calibri" pitchFamily="34" charset="-120"/>
              </a:rPr>
              <a:t>Single point of contact, sprint planning, risk log, weekly reporting</a:t>
            </a:r>
            <a:endParaRPr lang="en-US" sz="1030" dirty="0"/>
          </a:p>
        </p:txBody>
      </p:sp>
      <p:sp>
        <p:nvSpPr>
          <p:cNvPr id="15" name="Shape 12"/>
          <p:cNvSpPr/>
          <p:nvPr/>
        </p:nvSpPr>
        <p:spPr>
          <a:xfrm>
            <a:off x="3392424" y="1627632"/>
            <a:ext cx="2615184" cy="1170432"/>
          </a:xfrm>
          <a:prstGeom prst="roundRect">
            <a:avLst>
              <a:gd name="adj" fmla="val 7813"/>
            </a:avLst>
          </a:prstGeom>
          <a:solidFill>
            <a:srgbClr val="F4F7FC"/>
          </a:solidFill>
          <a:ln/>
        </p:spPr>
        <p:txBody>
          <a:bodyPr/>
          <a:lstStyle/>
          <a:p>
            <a:endParaRPr lang="en-AE"/>
          </a:p>
        </p:txBody>
      </p:sp>
      <p:sp>
        <p:nvSpPr>
          <p:cNvPr id="16" name="Shape 13"/>
          <p:cNvSpPr/>
          <p:nvPr/>
        </p:nvSpPr>
        <p:spPr>
          <a:xfrm>
            <a:off x="3593592" y="1810512"/>
            <a:ext cx="384048" cy="384048"/>
          </a:xfrm>
          <a:prstGeom prst="ellipse">
            <a:avLst/>
          </a:prstGeom>
          <a:solidFill>
            <a:srgbClr val="C8102E"/>
          </a:solidFill>
          <a:ln/>
        </p:spPr>
        <p:txBody>
          <a:bodyPr/>
          <a:lstStyle/>
          <a:p>
            <a:endParaRPr lang="en-AE"/>
          </a:p>
        </p:txBody>
      </p:sp>
      <p:pic>
        <p:nvPicPr>
          <p:cNvPr id="17" name="Image 1" descr="preencoded.png"/>
          <p:cNvPicPr>
            <a:picLocks noChangeAspect="1"/>
          </p:cNvPicPr>
          <p:nvPr/>
        </p:nvPicPr>
        <p:blipFill>
          <a:blip r:embed="rId4"/>
          <a:stretch>
            <a:fillRect/>
          </a:stretch>
        </p:blipFill>
        <p:spPr>
          <a:xfrm>
            <a:off x="3689604" y="1906524"/>
            <a:ext cx="192024" cy="192024"/>
          </a:xfrm>
          <a:prstGeom prst="rect">
            <a:avLst/>
          </a:prstGeom>
        </p:spPr>
      </p:pic>
      <p:sp>
        <p:nvSpPr>
          <p:cNvPr id="18" name="Text 14"/>
          <p:cNvSpPr txBox="1"/>
          <p:nvPr/>
        </p:nvSpPr>
        <p:spPr>
          <a:xfrm>
            <a:off x="4069080" y="1792224"/>
            <a:ext cx="1463040" cy="2560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Flutter engineers</a:t>
            </a:r>
            <a:endParaRPr lang="en-US" sz="1200" dirty="0"/>
          </a:p>
        </p:txBody>
      </p:sp>
      <p:sp>
        <p:nvSpPr>
          <p:cNvPr id="19" name="Text 15"/>
          <p:cNvSpPr txBox="1"/>
          <p:nvPr/>
        </p:nvSpPr>
        <p:spPr>
          <a:xfrm>
            <a:off x="5495544" y="1792224"/>
            <a:ext cx="365760" cy="256032"/>
          </a:xfrm>
          <a:prstGeom prst="rect">
            <a:avLst/>
          </a:prstGeom>
          <a:noFill/>
          <a:ln/>
        </p:spPr>
        <p:txBody>
          <a:bodyPr wrap="square" lIns="0" tIns="0" rIns="0" bIns="0" rtlCol="0" anchor="ctr"/>
          <a:lstStyle/>
          <a:p>
            <a:pPr marL="0" indent="0" algn="r">
              <a:buNone/>
            </a:pPr>
            <a:r>
              <a:rPr lang="en-US" sz="1400" b="1" dirty="0">
                <a:solidFill>
                  <a:srgbClr val="C8102E"/>
                </a:solidFill>
                <a:latin typeface="Cambria" pitchFamily="34" charset="0"/>
                <a:ea typeface="Cambria" pitchFamily="34" charset="-122"/>
                <a:cs typeface="Cambria" pitchFamily="34" charset="-120"/>
              </a:rPr>
              <a:t>×2</a:t>
            </a:r>
            <a:endParaRPr lang="en-US" sz="1400" dirty="0"/>
          </a:p>
        </p:txBody>
      </p:sp>
      <p:sp>
        <p:nvSpPr>
          <p:cNvPr id="20" name="Text 16"/>
          <p:cNvSpPr txBox="1"/>
          <p:nvPr/>
        </p:nvSpPr>
        <p:spPr>
          <a:xfrm>
            <a:off x="3593592" y="2267712"/>
            <a:ext cx="2231136" cy="420624"/>
          </a:xfrm>
          <a:prstGeom prst="rect">
            <a:avLst/>
          </a:prstGeom>
          <a:noFill/>
          <a:ln/>
        </p:spPr>
        <p:txBody>
          <a:bodyPr wrap="square" lIns="0" tIns="0" rIns="0" bIns="0" rtlCol="0" anchor="t"/>
          <a:lstStyle/>
          <a:p>
            <a:pPr marL="0" indent="0">
              <a:lnSpc>
                <a:spcPct val="104000"/>
              </a:lnSpc>
              <a:buNone/>
            </a:pPr>
            <a:r>
              <a:rPr lang="en-US" sz="1030" dirty="0">
                <a:solidFill>
                  <a:srgbClr val="4A5568"/>
                </a:solidFill>
                <a:latin typeface="Calibri" pitchFamily="34" charset="0"/>
                <a:ea typeface="Calibri" pitchFamily="34" charset="-122"/>
                <a:cs typeface="Calibri" pitchFamily="34" charset="-120"/>
              </a:rPr>
              <a:t>iOS and Android apps, offline layer, push integration</a:t>
            </a:r>
            <a:endParaRPr lang="en-US" sz="1030" dirty="0"/>
          </a:p>
        </p:txBody>
      </p:sp>
      <p:sp>
        <p:nvSpPr>
          <p:cNvPr id="21" name="Shape 17"/>
          <p:cNvSpPr/>
          <p:nvPr/>
        </p:nvSpPr>
        <p:spPr>
          <a:xfrm>
            <a:off x="6217920" y="1627632"/>
            <a:ext cx="2615184" cy="1170432"/>
          </a:xfrm>
          <a:prstGeom prst="roundRect">
            <a:avLst>
              <a:gd name="adj" fmla="val 7813"/>
            </a:avLst>
          </a:prstGeom>
          <a:solidFill>
            <a:srgbClr val="F4F7FC"/>
          </a:solidFill>
          <a:ln/>
        </p:spPr>
        <p:txBody>
          <a:bodyPr/>
          <a:lstStyle/>
          <a:p>
            <a:endParaRPr lang="en-AE"/>
          </a:p>
        </p:txBody>
      </p:sp>
      <p:sp>
        <p:nvSpPr>
          <p:cNvPr id="22" name="Shape 18"/>
          <p:cNvSpPr/>
          <p:nvPr/>
        </p:nvSpPr>
        <p:spPr>
          <a:xfrm>
            <a:off x="6419088" y="1810512"/>
            <a:ext cx="384048" cy="384048"/>
          </a:xfrm>
          <a:prstGeom prst="ellipse">
            <a:avLst/>
          </a:prstGeom>
          <a:solidFill>
            <a:srgbClr val="C8102E"/>
          </a:solidFill>
          <a:ln/>
        </p:spPr>
        <p:txBody>
          <a:bodyPr/>
          <a:lstStyle/>
          <a:p>
            <a:endParaRPr lang="en-AE"/>
          </a:p>
        </p:txBody>
      </p:sp>
      <p:pic>
        <p:nvPicPr>
          <p:cNvPr id="23" name="Image 2" descr="preencoded.png"/>
          <p:cNvPicPr>
            <a:picLocks noChangeAspect="1"/>
          </p:cNvPicPr>
          <p:nvPr/>
        </p:nvPicPr>
        <p:blipFill>
          <a:blip r:embed="rId5"/>
          <a:stretch>
            <a:fillRect/>
          </a:stretch>
        </p:blipFill>
        <p:spPr>
          <a:xfrm>
            <a:off x="6515100" y="1906524"/>
            <a:ext cx="192024" cy="192024"/>
          </a:xfrm>
          <a:prstGeom prst="rect">
            <a:avLst/>
          </a:prstGeom>
        </p:spPr>
      </p:pic>
      <p:sp>
        <p:nvSpPr>
          <p:cNvPr id="24" name="Text 19"/>
          <p:cNvSpPr txBox="1"/>
          <p:nvPr/>
        </p:nvSpPr>
        <p:spPr>
          <a:xfrm>
            <a:off x="6894576" y="1792224"/>
            <a:ext cx="1463040" cy="2560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Web engineers</a:t>
            </a:r>
            <a:endParaRPr lang="en-US" sz="1200" dirty="0"/>
          </a:p>
        </p:txBody>
      </p:sp>
      <p:sp>
        <p:nvSpPr>
          <p:cNvPr id="25" name="Text 20"/>
          <p:cNvSpPr txBox="1"/>
          <p:nvPr/>
        </p:nvSpPr>
        <p:spPr>
          <a:xfrm>
            <a:off x="8321040" y="1792224"/>
            <a:ext cx="365760" cy="256032"/>
          </a:xfrm>
          <a:prstGeom prst="rect">
            <a:avLst/>
          </a:prstGeom>
          <a:noFill/>
          <a:ln/>
        </p:spPr>
        <p:txBody>
          <a:bodyPr wrap="square" lIns="0" tIns="0" rIns="0" bIns="0" rtlCol="0" anchor="ctr"/>
          <a:lstStyle/>
          <a:p>
            <a:pPr marL="0" indent="0" algn="r">
              <a:buNone/>
            </a:pPr>
            <a:r>
              <a:rPr lang="en-US" sz="1400" b="1" dirty="0">
                <a:solidFill>
                  <a:srgbClr val="C8102E"/>
                </a:solidFill>
                <a:latin typeface="Cambria" pitchFamily="34" charset="0"/>
                <a:ea typeface="Cambria" pitchFamily="34" charset="-122"/>
                <a:cs typeface="Cambria" pitchFamily="34" charset="-120"/>
              </a:rPr>
              <a:t>×2</a:t>
            </a:r>
            <a:endParaRPr lang="en-US" sz="1400" dirty="0"/>
          </a:p>
        </p:txBody>
      </p:sp>
      <p:sp>
        <p:nvSpPr>
          <p:cNvPr id="26" name="Text 21"/>
          <p:cNvSpPr txBox="1"/>
          <p:nvPr/>
        </p:nvSpPr>
        <p:spPr>
          <a:xfrm>
            <a:off x="6419088" y="2267712"/>
            <a:ext cx="2231136" cy="420624"/>
          </a:xfrm>
          <a:prstGeom prst="rect">
            <a:avLst/>
          </a:prstGeom>
          <a:noFill/>
          <a:ln/>
        </p:spPr>
        <p:txBody>
          <a:bodyPr wrap="square" lIns="0" tIns="0" rIns="0" bIns="0" rtlCol="0" anchor="t"/>
          <a:lstStyle/>
          <a:p>
            <a:pPr marL="0" indent="0">
              <a:lnSpc>
                <a:spcPct val="104000"/>
              </a:lnSpc>
              <a:buNone/>
            </a:pPr>
            <a:r>
              <a:rPr lang="en-US" sz="1030" dirty="0">
                <a:solidFill>
                  <a:srgbClr val="4A5568"/>
                </a:solidFill>
                <a:latin typeface="Calibri" pitchFamily="34" charset="0"/>
                <a:ea typeface="Calibri" pitchFamily="34" charset="-122"/>
                <a:cs typeface="Calibri" pitchFamily="34" charset="-120"/>
              </a:rPr>
              <a:t>Next.js web app, PWA, newsroom console</a:t>
            </a:r>
            <a:endParaRPr lang="en-US" sz="1030" dirty="0"/>
          </a:p>
        </p:txBody>
      </p:sp>
      <p:sp>
        <p:nvSpPr>
          <p:cNvPr id="27" name="Shape 22"/>
          <p:cNvSpPr/>
          <p:nvPr/>
        </p:nvSpPr>
        <p:spPr>
          <a:xfrm>
            <a:off x="9043416" y="1627632"/>
            <a:ext cx="2615184" cy="1170432"/>
          </a:xfrm>
          <a:prstGeom prst="roundRect">
            <a:avLst>
              <a:gd name="adj" fmla="val 7813"/>
            </a:avLst>
          </a:prstGeom>
          <a:solidFill>
            <a:srgbClr val="F4F7FC"/>
          </a:solidFill>
          <a:ln/>
        </p:spPr>
        <p:txBody>
          <a:bodyPr/>
          <a:lstStyle/>
          <a:p>
            <a:endParaRPr lang="en-AE"/>
          </a:p>
        </p:txBody>
      </p:sp>
      <p:sp>
        <p:nvSpPr>
          <p:cNvPr id="28" name="Shape 23"/>
          <p:cNvSpPr/>
          <p:nvPr/>
        </p:nvSpPr>
        <p:spPr>
          <a:xfrm>
            <a:off x="9244584" y="1810512"/>
            <a:ext cx="384048" cy="384048"/>
          </a:xfrm>
          <a:prstGeom prst="ellipse">
            <a:avLst/>
          </a:prstGeom>
          <a:solidFill>
            <a:srgbClr val="C8102E"/>
          </a:solidFill>
          <a:ln/>
        </p:spPr>
        <p:txBody>
          <a:bodyPr/>
          <a:lstStyle/>
          <a:p>
            <a:endParaRPr lang="en-AE"/>
          </a:p>
        </p:txBody>
      </p:sp>
      <p:pic>
        <p:nvPicPr>
          <p:cNvPr id="29" name="Image 3" descr="preencoded.png"/>
          <p:cNvPicPr>
            <a:picLocks noChangeAspect="1"/>
          </p:cNvPicPr>
          <p:nvPr/>
        </p:nvPicPr>
        <p:blipFill>
          <a:blip r:embed="rId6"/>
          <a:stretch>
            <a:fillRect/>
          </a:stretch>
        </p:blipFill>
        <p:spPr>
          <a:xfrm>
            <a:off x="9340596" y="1906524"/>
            <a:ext cx="192024" cy="192024"/>
          </a:xfrm>
          <a:prstGeom prst="rect">
            <a:avLst/>
          </a:prstGeom>
        </p:spPr>
      </p:pic>
      <p:sp>
        <p:nvSpPr>
          <p:cNvPr id="30" name="Text 24"/>
          <p:cNvSpPr txBox="1"/>
          <p:nvPr/>
        </p:nvSpPr>
        <p:spPr>
          <a:xfrm>
            <a:off x="9720072" y="1792224"/>
            <a:ext cx="1463040" cy="2560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Backend engineers</a:t>
            </a:r>
            <a:endParaRPr lang="en-US" sz="1200" dirty="0"/>
          </a:p>
        </p:txBody>
      </p:sp>
      <p:sp>
        <p:nvSpPr>
          <p:cNvPr id="31" name="Text 25"/>
          <p:cNvSpPr txBox="1"/>
          <p:nvPr/>
        </p:nvSpPr>
        <p:spPr>
          <a:xfrm>
            <a:off x="11146536" y="1792224"/>
            <a:ext cx="365760" cy="256032"/>
          </a:xfrm>
          <a:prstGeom prst="rect">
            <a:avLst/>
          </a:prstGeom>
          <a:noFill/>
          <a:ln/>
        </p:spPr>
        <p:txBody>
          <a:bodyPr wrap="square" lIns="0" tIns="0" rIns="0" bIns="0" rtlCol="0" anchor="ctr"/>
          <a:lstStyle/>
          <a:p>
            <a:pPr marL="0" indent="0" algn="r">
              <a:buNone/>
            </a:pPr>
            <a:r>
              <a:rPr lang="en-US" sz="1400" b="1" dirty="0">
                <a:solidFill>
                  <a:srgbClr val="C8102E"/>
                </a:solidFill>
                <a:latin typeface="Cambria" pitchFamily="34" charset="0"/>
                <a:ea typeface="Cambria" pitchFamily="34" charset="-122"/>
                <a:cs typeface="Cambria" pitchFamily="34" charset="-120"/>
              </a:rPr>
              <a:t>×2</a:t>
            </a:r>
            <a:endParaRPr lang="en-US" sz="1400" dirty="0"/>
          </a:p>
        </p:txBody>
      </p:sp>
      <p:sp>
        <p:nvSpPr>
          <p:cNvPr id="32" name="Text 26"/>
          <p:cNvSpPr txBox="1"/>
          <p:nvPr/>
        </p:nvSpPr>
        <p:spPr>
          <a:xfrm>
            <a:off x="9244584" y="2267712"/>
            <a:ext cx="2231136" cy="420624"/>
          </a:xfrm>
          <a:prstGeom prst="rect">
            <a:avLst/>
          </a:prstGeom>
          <a:noFill/>
          <a:ln/>
        </p:spPr>
        <p:txBody>
          <a:bodyPr wrap="square" lIns="0" tIns="0" rIns="0" bIns="0" rtlCol="0" anchor="t"/>
          <a:lstStyle/>
          <a:p>
            <a:pPr marL="0" indent="0">
              <a:lnSpc>
                <a:spcPct val="104000"/>
              </a:lnSpc>
              <a:buNone/>
            </a:pPr>
            <a:r>
              <a:rPr lang="en-US" sz="1030" dirty="0">
                <a:solidFill>
                  <a:srgbClr val="4A5568"/>
                </a:solidFill>
                <a:latin typeface="Calibri" pitchFamily="34" charset="0"/>
                <a:ea typeface="Calibri" pitchFamily="34" charset="-122"/>
                <a:cs typeface="Calibri" pitchFamily="34" charset="-120"/>
              </a:rPr>
              <a:t>APIs, services, caching, integrations, billing</a:t>
            </a:r>
            <a:endParaRPr lang="en-US" sz="1030" dirty="0"/>
          </a:p>
        </p:txBody>
      </p:sp>
      <p:sp>
        <p:nvSpPr>
          <p:cNvPr id="33" name="Shape 27"/>
          <p:cNvSpPr/>
          <p:nvPr/>
        </p:nvSpPr>
        <p:spPr>
          <a:xfrm>
            <a:off x="566928" y="2999232"/>
            <a:ext cx="2615184" cy="1170432"/>
          </a:xfrm>
          <a:prstGeom prst="roundRect">
            <a:avLst>
              <a:gd name="adj" fmla="val 7813"/>
            </a:avLst>
          </a:prstGeom>
          <a:solidFill>
            <a:srgbClr val="F4F7FC"/>
          </a:solidFill>
          <a:ln/>
        </p:spPr>
        <p:txBody>
          <a:bodyPr/>
          <a:lstStyle/>
          <a:p>
            <a:endParaRPr lang="en-AE"/>
          </a:p>
        </p:txBody>
      </p:sp>
      <p:sp>
        <p:nvSpPr>
          <p:cNvPr id="34" name="Shape 28"/>
          <p:cNvSpPr/>
          <p:nvPr/>
        </p:nvSpPr>
        <p:spPr>
          <a:xfrm>
            <a:off x="768096" y="3182112"/>
            <a:ext cx="384048" cy="384048"/>
          </a:xfrm>
          <a:prstGeom prst="ellipse">
            <a:avLst/>
          </a:prstGeom>
          <a:solidFill>
            <a:srgbClr val="0F1E3D"/>
          </a:solidFill>
          <a:ln/>
        </p:spPr>
        <p:txBody>
          <a:bodyPr/>
          <a:lstStyle/>
          <a:p>
            <a:endParaRPr lang="en-AE"/>
          </a:p>
        </p:txBody>
      </p:sp>
      <p:pic>
        <p:nvPicPr>
          <p:cNvPr id="35" name="Image 4" descr="preencoded.png"/>
          <p:cNvPicPr>
            <a:picLocks noChangeAspect="1"/>
          </p:cNvPicPr>
          <p:nvPr/>
        </p:nvPicPr>
        <p:blipFill>
          <a:blip r:embed="rId7"/>
          <a:stretch>
            <a:fillRect/>
          </a:stretch>
        </p:blipFill>
        <p:spPr>
          <a:xfrm>
            <a:off x="864108" y="3278124"/>
            <a:ext cx="192024" cy="192024"/>
          </a:xfrm>
          <a:prstGeom prst="rect">
            <a:avLst/>
          </a:prstGeom>
        </p:spPr>
      </p:pic>
      <p:sp>
        <p:nvSpPr>
          <p:cNvPr id="36" name="Text 29"/>
          <p:cNvSpPr txBox="1"/>
          <p:nvPr/>
        </p:nvSpPr>
        <p:spPr>
          <a:xfrm>
            <a:off x="1243584" y="3163824"/>
            <a:ext cx="1463040" cy="2560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AI engineer</a:t>
            </a:r>
            <a:endParaRPr lang="en-US" sz="1200" dirty="0"/>
          </a:p>
        </p:txBody>
      </p:sp>
      <p:sp>
        <p:nvSpPr>
          <p:cNvPr id="37" name="Text 30"/>
          <p:cNvSpPr txBox="1"/>
          <p:nvPr/>
        </p:nvSpPr>
        <p:spPr>
          <a:xfrm>
            <a:off x="2670048" y="3163824"/>
            <a:ext cx="365760" cy="256032"/>
          </a:xfrm>
          <a:prstGeom prst="rect">
            <a:avLst/>
          </a:prstGeom>
          <a:noFill/>
          <a:ln/>
        </p:spPr>
        <p:txBody>
          <a:bodyPr wrap="square" lIns="0" tIns="0" rIns="0" bIns="0" rtlCol="0" anchor="ctr"/>
          <a:lstStyle/>
          <a:p>
            <a:pPr marL="0" indent="0" algn="r">
              <a:buNone/>
            </a:pPr>
            <a:r>
              <a:rPr lang="en-US" sz="1400" b="1" dirty="0">
                <a:solidFill>
                  <a:srgbClr val="C8102E"/>
                </a:solidFill>
                <a:latin typeface="Cambria" pitchFamily="34" charset="0"/>
                <a:ea typeface="Cambria" pitchFamily="34" charset="-122"/>
                <a:cs typeface="Cambria" pitchFamily="34" charset="-120"/>
              </a:rPr>
              <a:t>×1</a:t>
            </a:r>
            <a:endParaRPr lang="en-US" sz="1400" dirty="0"/>
          </a:p>
        </p:txBody>
      </p:sp>
      <p:sp>
        <p:nvSpPr>
          <p:cNvPr id="38" name="Text 31"/>
          <p:cNvSpPr txBox="1"/>
          <p:nvPr/>
        </p:nvSpPr>
        <p:spPr>
          <a:xfrm>
            <a:off x="768096" y="3639312"/>
            <a:ext cx="2231136" cy="420624"/>
          </a:xfrm>
          <a:prstGeom prst="rect">
            <a:avLst/>
          </a:prstGeom>
          <a:noFill/>
          <a:ln/>
        </p:spPr>
        <p:txBody>
          <a:bodyPr wrap="square" lIns="0" tIns="0" rIns="0" bIns="0" rtlCol="0" anchor="t"/>
          <a:lstStyle/>
          <a:p>
            <a:pPr marL="0" indent="0">
              <a:lnSpc>
                <a:spcPct val="104000"/>
              </a:lnSpc>
              <a:buNone/>
            </a:pPr>
            <a:r>
              <a:rPr lang="en-US" sz="1030" dirty="0">
                <a:solidFill>
                  <a:srgbClr val="4A5568"/>
                </a:solidFill>
                <a:latin typeface="Calibri" pitchFamily="34" charset="0"/>
                <a:ea typeface="Calibri" pitchFamily="34" charset="-122"/>
                <a:cs typeface="Calibri" pitchFamily="34" charset="-120"/>
              </a:rPr>
              <a:t>Classification, geo-tagging, ranking and trending</a:t>
            </a:r>
            <a:endParaRPr lang="en-US" sz="1030" dirty="0"/>
          </a:p>
        </p:txBody>
      </p:sp>
      <p:sp>
        <p:nvSpPr>
          <p:cNvPr id="39" name="Shape 32"/>
          <p:cNvSpPr/>
          <p:nvPr/>
        </p:nvSpPr>
        <p:spPr>
          <a:xfrm>
            <a:off x="3392424" y="2999232"/>
            <a:ext cx="2615184" cy="1170432"/>
          </a:xfrm>
          <a:prstGeom prst="roundRect">
            <a:avLst>
              <a:gd name="adj" fmla="val 7813"/>
            </a:avLst>
          </a:prstGeom>
          <a:solidFill>
            <a:srgbClr val="F4F7FC"/>
          </a:solidFill>
          <a:ln/>
        </p:spPr>
        <p:txBody>
          <a:bodyPr/>
          <a:lstStyle/>
          <a:p>
            <a:endParaRPr lang="en-AE"/>
          </a:p>
        </p:txBody>
      </p:sp>
      <p:sp>
        <p:nvSpPr>
          <p:cNvPr id="40" name="Shape 33"/>
          <p:cNvSpPr/>
          <p:nvPr/>
        </p:nvSpPr>
        <p:spPr>
          <a:xfrm>
            <a:off x="3593592" y="3182112"/>
            <a:ext cx="384048" cy="384048"/>
          </a:xfrm>
          <a:prstGeom prst="ellipse">
            <a:avLst/>
          </a:prstGeom>
          <a:solidFill>
            <a:srgbClr val="0F1E3D"/>
          </a:solidFill>
          <a:ln/>
        </p:spPr>
        <p:txBody>
          <a:bodyPr/>
          <a:lstStyle/>
          <a:p>
            <a:endParaRPr lang="en-AE"/>
          </a:p>
        </p:txBody>
      </p:sp>
      <p:pic>
        <p:nvPicPr>
          <p:cNvPr id="41" name="Image 5" descr="preencoded.png"/>
          <p:cNvPicPr>
            <a:picLocks noChangeAspect="1"/>
          </p:cNvPicPr>
          <p:nvPr/>
        </p:nvPicPr>
        <p:blipFill>
          <a:blip r:embed="rId8"/>
          <a:stretch>
            <a:fillRect/>
          </a:stretch>
        </p:blipFill>
        <p:spPr>
          <a:xfrm>
            <a:off x="3689604" y="3278124"/>
            <a:ext cx="192024" cy="192024"/>
          </a:xfrm>
          <a:prstGeom prst="rect">
            <a:avLst/>
          </a:prstGeom>
        </p:spPr>
      </p:pic>
      <p:sp>
        <p:nvSpPr>
          <p:cNvPr id="42" name="Text 34"/>
          <p:cNvSpPr txBox="1"/>
          <p:nvPr/>
        </p:nvSpPr>
        <p:spPr>
          <a:xfrm>
            <a:off x="4069080" y="3163824"/>
            <a:ext cx="1463040" cy="2560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DevOps engineer</a:t>
            </a:r>
            <a:endParaRPr lang="en-US" sz="1200" dirty="0"/>
          </a:p>
        </p:txBody>
      </p:sp>
      <p:sp>
        <p:nvSpPr>
          <p:cNvPr id="43" name="Text 35"/>
          <p:cNvSpPr txBox="1"/>
          <p:nvPr/>
        </p:nvSpPr>
        <p:spPr>
          <a:xfrm>
            <a:off x="5495544" y="3163824"/>
            <a:ext cx="365760" cy="256032"/>
          </a:xfrm>
          <a:prstGeom prst="rect">
            <a:avLst/>
          </a:prstGeom>
          <a:noFill/>
          <a:ln/>
        </p:spPr>
        <p:txBody>
          <a:bodyPr wrap="square" lIns="0" tIns="0" rIns="0" bIns="0" rtlCol="0" anchor="ctr"/>
          <a:lstStyle/>
          <a:p>
            <a:pPr marL="0" indent="0" algn="r">
              <a:buNone/>
            </a:pPr>
            <a:r>
              <a:rPr lang="en-US" sz="1400" b="1" dirty="0">
                <a:solidFill>
                  <a:srgbClr val="C8102E"/>
                </a:solidFill>
                <a:latin typeface="Cambria" pitchFamily="34" charset="0"/>
                <a:ea typeface="Cambria" pitchFamily="34" charset="-122"/>
                <a:cs typeface="Cambria" pitchFamily="34" charset="-120"/>
              </a:rPr>
              <a:t>×1</a:t>
            </a:r>
            <a:endParaRPr lang="en-US" sz="1400" dirty="0"/>
          </a:p>
        </p:txBody>
      </p:sp>
      <p:sp>
        <p:nvSpPr>
          <p:cNvPr id="44" name="Text 36"/>
          <p:cNvSpPr txBox="1"/>
          <p:nvPr/>
        </p:nvSpPr>
        <p:spPr>
          <a:xfrm>
            <a:off x="3593592" y="3639312"/>
            <a:ext cx="2231136" cy="420624"/>
          </a:xfrm>
          <a:prstGeom prst="rect">
            <a:avLst/>
          </a:prstGeom>
          <a:noFill/>
          <a:ln/>
        </p:spPr>
        <p:txBody>
          <a:bodyPr wrap="square" lIns="0" tIns="0" rIns="0" bIns="0" rtlCol="0" anchor="t"/>
          <a:lstStyle/>
          <a:p>
            <a:pPr marL="0" indent="0">
              <a:lnSpc>
                <a:spcPct val="104000"/>
              </a:lnSpc>
              <a:buNone/>
            </a:pPr>
            <a:r>
              <a:rPr lang="en-US" sz="1030" dirty="0">
                <a:solidFill>
                  <a:srgbClr val="4A5568"/>
                </a:solidFill>
                <a:latin typeface="Calibri" pitchFamily="34" charset="0"/>
                <a:ea typeface="Calibri" pitchFamily="34" charset="-122"/>
                <a:cs typeface="Calibri" pitchFamily="34" charset="-120"/>
              </a:rPr>
              <a:t>Infrastructure, pipelines, monitoring, security hardening</a:t>
            </a:r>
            <a:endParaRPr lang="en-US" sz="1030" dirty="0"/>
          </a:p>
        </p:txBody>
      </p:sp>
      <p:sp>
        <p:nvSpPr>
          <p:cNvPr id="45" name="Shape 37"/>
          <p:cNvSpPr/>
          <p:nvPr/>
        </p:nvSpPr>
        <p:spPr>
          <a:xfrm>
            <a:off x="6217920" y="2999232"/>
            <a:ext cx="2615184" cy="1170432"/>
          </a:xfrm>
          <a:prstGeom prst="roundRect">
            <a:avLst>
              <a:gd name="adj" fmla="val 7813"/>
            </a:avLst>
          </a:prstGeom>
          <a:solidFill>
            <a:srgbClr val="F4F7FC"/>
          </a:solidFill>
          <a:ln/>
        </p:spPr>
        <p:txBody>
          <a:bodyPr/>
          <a:lstStyle/>
          <a:p>
            <a:endParaRPr lang="en-AE"/>
          </a:p>
        </p:txBody>
      </p:sp>
      <p:sp>
        <p:nvSpPr>
          <p:cNvPr id="46" name="Shape 38"/>
          <p:cNvSpPr/>
          <p:nvPr/>
        </p:nvSpPr>
        <p:spPr>
          <a:xfrm>
            <a:off x="6419088" y="3182112"/>
            <a:ext cx="384048" cy="384048"/>
          </a:xfrm>
          <a:prstGeom prst="ellipse">
            <a:avLst/>
          </a:prstGeom>
          <a:solidFill>
            <a:srgbClr val="0F1E3D"/>
          </a:solidFill>
          <a:ln/>
        </p:spPr>
        <p:txBody>
          <a:bodyPr/>
          <a:lstStyle/>
          <a:p>
            <a:endParaRPr lang="en-AE"/>
          </a:p>
        </p:txBody>
      </p:sp>
      <p:pic>
        <p:nvPicPr>
          <p:cNvPr id="47" name="Image 6" descr="preencoded.png"/>
          <p:cNvPicPr>
            <a:picLocks noChangeAspect="1"/>
          </p:cNvPicPr>
          <p:nvPr/>
        </p:nvPicPr>
        <p:blipFill>
          <a:blip r:embed="rId9"/>
          <a:stretch>
            <a:fillRect/>
          </a:stretch>
        </p:blipFill>
        <p:spPr>
          <a:xfrm>
            <a:off x="6515100" y="3278124"/>
            <a:ext cx="192024" cy="192024"/>
          </a:xfrm>
          <a:prstGeom prst="rect">
            <a:avLst/>
          </a:prstGeom>
        </p:spPr>
      </p:pic>
      <p:sp>
        <p:nvSpPr>
          <p:cNvPr id="48" name="Text 39"/>
          <p:cNvSpPr txBox="1"/>
          <p:nvPr/>
        </p:nvSpPr>
        <p:spPr>
          <a:xfrm>
            <a:off x="6894576" y="3163824"/>
            <a:ext cx="1463040" cy="2560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Product designer</a:t>
            </a:r>
            <a:endParaRPr lang="en-US" sz="1200" dirty="0"/>
          </a:p>
        </p:txBody>
      </p:sp>
      <p:sp>
        <p:nvSpPr>
          <p:cNvPr id="49" name="Text 40"/>
          <p:cNvSpPr txBox="1"/>
          <p:nvPr/>
        </p:nvSpPr>
        <p:spPr>
          <a:xfrm>
            <a:off x="8321040" y="3163824"/>
            <a:ext cx="365760" cy="256032"/>
          </a:xfrm>
          <a:prstGeom prst="rect">
            <a:avLst/>
          </a:prstGeom>
          <a:noFill/>
          <a:ln/>
        </p:spPr>
        <p:txBody>
          <a:bodyPr wrap="square" lIns="0" tIns="0" rIns="0" bIns="0" rtlCol="0" anchor="ctr"/>
          <a:lstStyle/>
          <a:p>
            <a:pPr marL="0" indent="0" algn="r">
              <a:buNone/>
            </a:pPr>
            <a:r>
              <a:rPr lang="en-US" sz="1400" b="1" dirty="0">
                <a:solidFill>
                  <a:srgbClr val="C8102E"/>
                </a:solidFill>
                <a:latin typeface="Cambria" pitchFamily="34" charset="0"/>
                <a:ea typeface="Cambria" pitchFamily="34" charset="-122"/>
                <a:cs typeface="Cambria" pitchFamily="34" charset="-120"/>
              </a:rPr>
              <a:t>×1</a:t>
            </a:r>
            <a:endParaRPr lang="en-US" sz="1400" dirty="0"/>
          </a:p>
        </p:txBody>
      </p:sp>
      <p:sp>
        <p:nvSpPr>
          <p:cNvPr id="50" name="Text 41"/>
          <p:cNvSpPr txBox="1"/>
          <p:nvPr/>
        </p:nvSpPr>
        <p:spPr>
          <a:xfrm>
            <a:off x="6419088" y="3639312"/>
            <a:ext cx="2231136" cy="420624"/>
          </a:xfrm>
          <a:prstGeom prst="rect">
            <a:avLst/>
          </a:prstGeom>
          <a:noFill/>
          <a:ln/>
        </p:spPr>
        <p:txBody>
          <a:bodyPr wrap="square" lIns="0" tIns="0" rIns="0" bIns="0" rtlCol="0" anchor="t"/>
          <a:lstStyle/>
          <a:p>
            <a:pPr marL="0" indent="0">
              <a:lnSpc>
                <a:spcPct val="104000"/>
              </a:lnSpc>
              <a:buNone/>
            </a:pPr>
            <a:r>
              <a:rPr lang="en-US" sz="1030" dirty="0">
                <a:solidFill>
                  <a:srgbClr val="4A5568"/>
                </a:solidFill>
                <a:latin typeface="Calibri" pitchFamily="34" charset="0"/>
                <a:ea typeface="Calibri" pitchFamily="34" charset="-122"/>
                <a:cs typeface="Calibri" pitchFamily="34" charset="-120"/>
              </a:rPr>
              <a:t>Design system, screens, bilingual typography, accessibility</a:t>
            </a:r>
            <a:endParaRPr lang="en-US" sz="1030" dirty="0"/>
          </a:p>
        </p:txBody>
      </p:sp>
      <p:sp>
        <p:nvSpPr>
          <p:cNvPr id="51" name="Shape 42"/>
          <p:cNvSpPr/>
          <p:nvPr/>
        </p:nvSpPr>
        <p:spPr>
          <a:xfrm>
            <a:off x="9043416" y="2999232"/>
            <a:ext cx="2615184" cy="1170432"/>
          </a:xfrm>
          <a:prstGeom prst="roundRect">
            <a:avLst>
              <a:gd name="adj" fmla="val 7813"/>
            </a:avLst>
          </a:prstGeom>
          <a:solidFill>
            <a:srgbClr val="F4F7FC"/>
          </a:solidFill>
          <a:ln/>
        </p:spPr>
        <p:txBody>
          <a:bodyPr/>
          <a:lstStyle/>
          <a:p>
            <a:endParaRPr lang="en-AE"/>
          </a:p>
        </p:txBody>
      </p:sp>
      <p:sp>
        <p:nvSpPr>
          <p:cNvPr id="52" name="Shape 43"/>
          <p:cNvSpPr/>
          <p:nvPr/>
        </p:nvSpPr>
        <p:spPr>
          <a:xfrm>
            <a:off x="9244584" y="3182112"/>
            <a:ext cx="384048" cy="384048"/>
          </a:xfrm>
          <a:prstGeom prst="ellipse">
            <a:avLst/>
          </a:prstGeom>
          <a:solidFill>
            <a:srgbClr val="0F1E3D"/>
          </a:solidFill>
          <a:ln/>
        </p:spPr>
        <p:txBody>
          <a:bodyPr/>
          <a:lstStyle/>
          <a:p>
            <a:endParaRPr lang="en-AE"/>
          </a:p>
        </p:txBody>
      </p:sp>
      <p:pic>
        <p:nvPicPr>
          <p:cNvPr id="53" name="Image 7" descr="preencoded.png"/>
          <p:cNvPicPr>
            <a:picLocks noChangeAspect="1"/>
          </p:cNvPicPr>
          <p:nvPr/>
        </p:nvPicPr>
        <p:blipFill>
          <a:blip r:embed="rId10"/>
          <a:stretch>
            <a:fillRect/>
          </a:stretch>
        </p:blipFill>
        <p:spPr>
          <a:xfrm>
            <a:off x="9340596" y="3278124"/>
            <a:ext cx="192024" cy="192024"/>
          </a:xfrm>
          <a:prstGeom prst="rect">
            <a:avLst/>
          </a:prstGeom>
        </p:spPr>
      </p:pic>
      <p:sp>
        <p:nvSpPr>
          <p:cNvPr id="54" name="Text 44"/>
          <p:cNvSpPr txBox="1"/>
          <p:nvPr/>
        </p:nvSpPr>
        <p:spPr>
          <a:xfrm>
            <a:off x="9720072" y="3163824"/>
            <a:ext cx="1463040" cy="256032"/>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QA engineer</a:t>
            </a:r>
            <a:endParaRPr lang="en-US" sz="1200" dirty="0"/>
          </a:p>
        </p:txBody>
      </p:sp>
      <p:sp>
        <p:nvSpPr>
          <p:cNvPr id="55" name="Text 45"/>
          <p:cNvSpPr txBox="1"/>
          <p:nvPr/>
        </p:nvSpPr>
        <p:spPr>
          <a:xfrm>
            <a:off x="11146536" y="3163824"/>
            <a:ext cx="365760" cy="256032"/>
          </a:xfrm>
          <a:prstGeom prst="rect">
            <a:avLst/>
          </a:prstGeom>
          <a:noFill/>
          <a:ln/>
        </p:spPr>
        <p:txBody>
          <a:bodyPr wrap="square" lIns="0" tIns="0" rIns="0" bIns="0" rtlCol="0" anchor="ctr"/>
          <a:lstStyle/>
          <a:p>
            <a:pPr marL="0" indent="0" algn="r">
              <a:buNone/>
            </a:pPr>
            <a:r>
              <a:rPr lang="en-US" sz="1400" b="1" dirty="0">
                <a:solidFill>
                  <a:srgbClr val="C8102E"/>
                </a:solidFill>
                <a:latin typeface="Cambria" pitchFamily="34" charset="0"/>
                <a:ea typeface="Cambria" pitchFamily="34" charset="-122"/>
                <a:cs typeface="Cambria" pitchFamily="34" charset="-120"/>
              </a:rPr>
              <a:t>×1</a:t>
            </a:r>
            <a:endParaRPr lang="en-US" sz="1400" dirty="0"/>
          </a:p>
        </p:txBody>
      </p:sp>
      <p:sp>
        <p:nvSpPr>
          <p:cNvPr id="56" name="Text 46"/>
          <p:cNvSpPr txBox="1"/>
          <p:nvPr/>
        </p:nvSpPr>
        <p:spPr>
          <a:xfrm>
            <a:off x="9244584" y="3639312"/>
            <a:ext cx="2231136" cy="420624"/>
          </a:xfrm>
          <a:prstGeom prst="rect">
            <a:avLst/>
          </a:prstGeom>
          <a:noFill/>
          <a:ln/>
        </p:spPr>
        <p:txBody>
          <a:bodyPr wrap="square" lIns="0" tIns="0" rIns="0" bIns="0" rtlCol="0" anchor="t"/>
          <a:lstStyle/>
          <a:p>
            <a:pPr marL="0" indent="0">
              <a:lnSpc>
                <a:spcPct val="104000"/>
              </a:lnSpc>
              <a:buNone/>
            </a:pPr>
            <a:r>
              <a:rPr lang="en-US" sz="1030" dirty="0">
                <a:solidFill>
                  <a:srgbClr val="4A5568"/>
                </a:solidFill>
                <a:latin typeface="Calibri" pitchFamily="34" charset="0"/>
                <a:ea typeface="Calibri" pitchFamily="34" charset="-122"/>
                <a:cs typeface="Calibri" pitchFamily="34" charset="-120"/>
              </a:rPr>
              <a:t>Test automation, device matrix, load and regression testing</a:t>
            </a:r>
            <a:endParaRPr lang="en-US" sz="1030" dirty="0"/>
          </a:p>
        </p:txBody>
      </p:sp>
      <p:sp>
        <p:nvSpPr>
          <p:cNvPr id="57" name="Shape 47"/>
          <p:cNvSpPr/>
          <p:nvPr/>
        </p:nvSpPr>
        <p:spPr>
          <a:xfrm>
            <a:off x="566928" y="4736592"/>
            <a:ext cx="420624" cy="420624"/>
          </a:xfrm>
          <a:prstGeom prst="ellipse">
            <a:avLst/>
          </a:prstGeom>
          <a:solidFill>
            <a:srgbClr val="C8102E"/>
          </a:solidFill>
          <a:ln/>
        </p:spPr>
        <p:txBody>
          <a:bodyPr/>
          <a:lstStyle/>
          <a:p>
            <a:endParaRPr lang="en-AE"/>
          </a:p>
        </p:txBody>
      </p:sp>
      <p:pic>
        <p:nvPicPr>
          <p:cNvPr id="58" name="Image 8" descr="preencoded.png"/>
          <p:cNvPicPr>
            <a:picLocks noChangeAspect="1"/>
          </p:cNvPicPr>
          <p:nvPr/>
        </p:nvPicPr>
        <p:blipFill>
          <a:blip r:embed="rId11"/>
          <a:stretch>
            <a:fillRect/>
          </a:stretch>
        </p:blipFill>
        <p:spPr>
          <a:xfrm>
            <a:off x="672084" y="4841748"/>
            <a:ext cx="210312" cy="210312"/>
          </a:xfrm>
          <a:prstGeom prst="rect">
            <a:avLst/>
          </a:prstGeom>
        </p:spPr>
      </p:pic>
      <p:sp>
        <p:nvSpPr>
          <p:cNvPr id="59" name="Text 48"/>
          <p:cNvSpPr txBox="1"/>
          <p:nvPr/>
        </p:nvSpPr>
        <p:spPr>
          <a:xfrm>
            <a:off x="1133856" y="4718304"/>
            <a:ext cx="2048256"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Rhythm</a:t>
            </a:r>
            <a:endParaRPr lang="en-US" sz="1300" dirty="0"/>
          </a:p>
        </p:txBody>
      </p:sp>
      <p:sp>
        <p:nvSpPr>
          <p:cNvPr id="60" name="Text 49"/>
          <p:cNvSpPr txBox="1"/>
          <p:nvPr/>
        </p:nvSpPr>
        <p:spPr>
          <a:xfrm>
            <a:off x="1133856" y="4983480"/>
            <a:ext cx="2048256" cy="118872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Monday review call, Friday written status, sprint demo every second Friday.</a:t>
            </a:r>
            <a:endParaRPr lang="en-US" sz="1140" dirty="0"/>
          </a:p>
        </p:txBody>
      </p:sp>
      <p:sp>
        <p:nvSpPr>
          <p:cNvPr id="61" name="Shape 50"/>
          <p:cNvSpPr/>
          <p:nvPr/>
        </p:nvSpPr>
        <p:spPr>
          <a:xfrm>
            <a:off x="3392424" y="4736592"/>
            <a:ext cx="420624" cy="420624"/>
          </a:xfrm>
          <a:prstGeom prst="ellipse">
            <a:avLst/>
          </a:prstGeom>
          <a:solidFill>
            <a:srgbClr val="0F1E3D"/>
          </a:solidFill>
          <a:ln/>
        </p:spPr>
        <p:txBody>
          <a:bodyPr/>
          <a:lstStyle/>
          <a:p>
            <a:endParaRPr lang="en-AE"/>
          </a:p>
        </p:txBody>
      </p:sp>
      <p:pic>
        <p:nvPicPr>
          <p:cNvPr id="62" name="Image 9" descr="preencoded.png"/>
          <p:cNvPicPr>
            <a:picLocks noChangeAspect="1"/>
          </p:cNvPicPr>
          <p:nvPr/>
        </p:nvPicPr>
        <p:blipFill>
          <a:blip r:embed="rId12"/>
          <a:stretch>
            <a:fillRect/>
          </a:stretch>
        </p:blipFill>
        <p:spPr>
          <a:xfrm>
            <a:off x="3497580" y="4841748"/>
            <a:ext cx="210312" cy="210312"/>
          </a:xfrm>
          <a:prstGeom prst="rect">
            <a:avLst/>
          </a:prstGeom>
        </p:spPr>
      </p:pic>
      <p:sp>
        <p:nvSpPr>
          <p:cNvPr id="63" name="Text 51"/>
          <p:cNvSpPr txBox="1"/>
          <p:nvPr/>
        </p:nvSpPr>
        <p:spPr>
          <a:xfrm>
            <a:off x="3959352" y="4718304"/>
            <a:ext cx="2048256"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Your side</a:t>
            </a:r>
            <a:endParaRPr lang="en-US" sz="1300" dirty="0"/>
          </a:p>
        </p:txBody>
      </p:sp>
      <p:sp>
        <p:nvSpPr>
          <p:cNvPr id="64" name="Text 52"/>
          <p:cNvSpPr txBox="1"/>
          <p:nvPr/>
        </p:nvSpPr>
        <p:spPr>
          <a:xfrm>
            <a:off x="3959352" y="4983480"/>
            <a:ext cx="2048256" cy="118872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One product owner empowered to decide, plus an editorial and a commercial reviewer.</a:t>
            </a:r>
            <a:endParaRPr lang="en-US" sz="1140" dirty="0"/>
          </a:p>
        </p:txBody>
      </p:sp>
      <p:sp>
        <p:nvSpPr>
          <p:cNvPr id="65" name="Shape 53"/>
          <p:cNvSpPr/>
          <p:nvPr/>
        </p:nvSpPr>
        <p:spPr>
          <a:xfrm>
            <a:off x="6217920" y="4736592"/>
            <a:ext cx="420624" cy="420624"/>
          </a:xfrm>
          <a:prstGeom prst="ellipse">
            <a:avLst/>
          </a:prstGeom>
          <a:solidFill>
            <a:srgbClr val="C8102E"/>
          </a:solidFill>
          <a:ln/>
        </p:spPr>
        <p:txBody>
          <a:bodyPr/>
          <a:lstStyle/>
          <a:p>
            <a:endParaRPr lang="en-AE"/>
          </a:p>
        </p:txBody>
      </p:sp>
      <p:pic>
        <p:nvPicPr>
          <p:cNvPr id="66" name="Image 10" descr="preencoded.png"/>
          <p:cNvPicPr>
            <a:picLocks noChangeAspect="1"/>
          </p:cNvPicPr>
          <p:nvPr/>
        </p:nvPicPr>
        <p:blipFill>
          <a:blip r:embed="rId13"/>
          <a:stretch>
            <a:fillRect/>
          </a:stretch>
        </p:blipFill>
        <p:spPr>
          <a:xfrm>
            <a:off x="6323076" y="4841748"/>
            <a:ext cx="210312" cy="210312"/>
          </a:xfrm>
          <a:prstGeom prst="rect">
            <a:avLst/>
          </a:prstGeom>
        </p:spPr>
      </p:pic>
      <p:sp>
        <p:nvSpPr>
          <p:cNvPr id="67" name="Text 54"/>
          <p:cNvSpPr txBox="1"/>
          <p:nvPr/>
        </p:nvSpPr>
        <p:spPr>
          <a:xfrm>
            <a:off x="6784848" y="4718304"/>
            <a:ext cx="2048256"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Decision SLA</a:t>
            </a:r>
            <a:endParaRPr lang="en-US" sz="1300" dirty="0"/>
          </a:p>
        </p:txBody>
      </p:sp>
      <p:sp>
        <p:nvSpPr>
          <p:cNvPr id="68" name="Text 55"/>
          <p:cNvSpPr txBox="1"/>
          <p:nvPr/>
        </p:nvSpPr>
        <p:spPr>
          <a:xfrm>
            <a:off x="6784848" y="4983480"/>
            <a:ext cx="2048256" cy="118872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Feedback within 3 business days at each gate; delays past that shift the timeline transparently.</a:t>
            </a:r>
            <a:endParaRPr lang="en-US" sz="1140" dirty="0"/>
          </a:p>
        </p:txBody>
      </p:sp>
      <p:sp>
        <p:nvSpPr>
          <p:cNvPr id="69" name="Shape 56"/>
          <p:cNvSpPr/>
          <p:nvPr/>
        </p:nvSpPr>
        <p:spPr>
          <a:xfrm>
            <a:off x="9043416" y="4736592"/>
            <a:ext cx="420624" cy="420624"/>
          </a:xfrm>
          <a:prstGeom prst="ellipse">
            <a:avLst/>
          </a:prstGeom>
          <a:solidFill>
            <a:srgbClr val="0F1E3D"/>
          </a:solidFill>
          <a:ln/>
        </p:spPr>
        <p:txBody>
          <a:bodyPr/>
          <a:lstStyle/>
          <a:p>
            <a:endParaRPr lang="en-AE"/>
          </a:p>
        </p:txBody>
      </p:sp>
      <p:pic>
        <p:nvPicPr>
          <p:cNvPr id="70" name="Image 11" descr="preencoded.png"/>
          <p:cNvPicPr>
            <a:picLocks noChangeAspect="1"/>
          </p:cNvPicPr>
          <p:nvPr/>
        </p:nvPicPr>
        <p:blipFill>
          <a:blip r:embed="rId14"/>
          <a:stretch>
            <a:fillRect/>
          </a:stretch>
        </p:blipFill>
        <p:spPr>
          <a:xfrm>
            <a:off x="9148572" y="4841748"/>
            <a:ext cx="210312" cy="210312"/>
          </a:xfrm>
          <a:prstGeom prst="rect">
            <a:avLst/>
          </a:prstGeom>
        </p:spPr>
      </p:pic>
      <p:sp>
        <p:nvSpPr>
          <p:cNvPr id="71" name="Text 57"/>
          <p:cNvSpPr txBox="1"/>
          <p:nvPr/>
        </p:nvSpPr>
        <p:spPr>
          <a:xfrm>
            <a:off x="9610344" y="4718304"/>
            <a:ext cx="2048256" cy="256032"/>
          </a:xfrm>
          <a:prstGeom prst="rect">
            <a:avLst/>
          </a:prstGeom>
          <a:noFill/>
          <a:ln/>
        </p:spPr>
        <p:txBody>
          <a:bodyPr wrap="square" lIns="0" tIns="0" rIns="0" bIns="0" rtlCol="0" anchor="t"/>
          <a:lstStyle/>
          <a:p>
            <a:pPr marL="0" indent="0">
              <a:buNone/>
            </a:pPr>
            <a:r>
              <a:rPr lang="en-US" sz="1300" b="1" dirty="0">
                <a:solidFill>
                  <a:srgbClr val="0F1E3D"/>
                </a:solidFill>
                <a:latin typeface="Calibri" pitchFamily="34" charset="0"/>
                <a:ea typeface="Calibri" pitchFamily="34" charset="-122"/>
                <a:cs typeface="Calibri" pitchFamily="34" charset="-120"/>
              </a:rPr>
              <a:t>Escalation</a:t>
            </a:r>
            <a:endParaRPr lang="en-US" sz="1300" dirty="0"/>
          </a:p>
        </p:txBody>
      </p:sp>
      <p:sp>
        <p:nvSpPr>
          <p:cNvPr id="72" name="Text 58"/>
          <p:cNvSpPr txBox="1"/>
          <p:nvPr/>
        </p:nvSpPr>
        <p:spPr>
          <a:xfrm>
            <a:off x="9610344" y="4983480"/>
            <a:ext cx="2048256" cy="1188720"/>
          </a:xfrm>
          <a:prstGeom prst="rect">
            <a:avLst/>
          </a:prstGeom>
          <a:noFill/>
          <a:ln/>
        </p:spPr>
        <p:txBody>
          <a:bodyPr wrap="square" lIns="0" tIns="0" rIns="0" bIns="0" rtlCol="0" anchor="t">
            <a:normAutofit/>
          </a:bodyPr>
          <a:lstStyle/>
          <a:p>
            <a:pPr marL="0" indent="0">
              <a:lnSpc>
                <a:spcPct val="105000"/>
              </a:lnSpc>
              <a:buNone/>
            </a:pPr>
            <a:r>
              <a:rPr lang="en-US" sz="1140" dirty="0">
                <a:solidFill>
                  <a:srgbClr val="4A5568"/>
                </a:solidFill>
                <a:latin typeface="Calibri" pitchFamily="34" charset="0"/>
                <a:ea typeface="Calibri" pitchFamily="34" charset="-122"/>
                <a:cs typeface="Calibri" pitchFamily="34" charset="-120"/>
              </a:rPr>
              <a:t>Any blocker unresolved for 48 hours goes to both project leads with a written options paper.</a:t>
            </a:r>
            <a:endParaRPr lang="en-US" sz="114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Investment summary</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Priced by workstream so you can see exactly what each part of the build costs.</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33</a:t>
            </a:r>
            <a:endParaRPr lang="en-US" sz="10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3794760"/>
        </p:xfrm>
        <a:graphic>
          <a:graphicData uri="http://schemas.openxmlformats.org/drawingml/2006/table">
            <a:tbl>
              <a:tblPr/>
              <a:tblGrid>
                <a:gridCol w="32004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2399">
                  <a:extLst>
                    <a:ext uri="{9D8B030D-6E8A-4147-A177-3AD203B41FA5}">
                      <a16:colId xmlns:a16="http://schemas.microsoft.com/office/drawing/2014/main" val="20003"/>
                    </a:ext>
                  </a:extLst>
                </a:gridCol>
              </a:tblGrid>
              <a:tr h="379476">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Workstream</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What it covers</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r">
                        <a:buNone/>
                      </a:pPr>
                      <a:r>
                        <a:rPr lang="en-US" sz="1020" b="1" dirty="0">
                          <a:solidFill>
                            <a:srgbClr val="FFFFFF"/>
                          </a:solidFill>
                          <a:latin typeface="Calibri" pitchFamily="34" charset="0"/>
                          <a:ea typeface="Calibri" pitchFamily="34" charset="-122"/>
                          <a:cs typeface="Calibri" pitchFamily="34" charset="-120"/>
                        </a:rPr>
                        <a:t>Effort</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r">
                        <a:buNone/>
                      </a:pPr>
                      <a:r>
                        <a:rPr lang="en-US" sz="1020" b="1" dirty="0">
                          <a:solidFill>
                            <a:srgbClr val="FFFFFF"/>
                          </a:solidFill>
                          <a:latin typeface="Calibri" pitchFamily="34" charset="0"/>
                          <a:ea typeface="Calibri" pitchFamily="34" charset="-122"/>
                          <a:cs typeface="Calibri" pitchFamily="34" charset="-120"/>
                        </a:rPr>
                        <a:t>Investment</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extLst>
                  <a:ext uri="{0D108BD9-81ED-4DB2-BD59-A6C34878D82A}">
                    <a16:rowId xmlns:a16="http://schemas.microsoft.com/office/drawing/2014/main" val="10000"/>
                  </a:ext>
                </a:extLst>
              </a:tr>
              <a:tr h="379476">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Discovery &amp; design</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Systems review, design system, all screens in both scripts, prototype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2 weeks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 ______</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1"/>
                  </a:ext>
                </a:extLst>
              </a:tr>
              <a:tr h="379476">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Mobile apps (iOS + Android)</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Flutter build, offline layer, push, store submission for both stores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5 weeks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 ______</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9476">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Web app &amp; PWA</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Next.js app with SSR and SEO, installable PWA</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5 weeks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 ______</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3"/>
                  </a:ext>
                </a:extLst>
              </a:tr>
              <a:tr h="379476">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Backend &amp; APIs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Services, caching, search, media pipeline, integrations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5 weeks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 ______</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9476">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AI &amp; ranking layer</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Classification, geo-tagging, personalised ranking, trending</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3 weeks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 ______</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5"/>
                  </a:ext>
                </a:extLst>
              </a:tr>
              <a:tr h="379476">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Newsroom console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Publishing, moderation, analytics and commercial controls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3 weeks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 ______</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9476">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Monetisation</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Ad serving, subscription billing, classifieds module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3 weeks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 ______</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7"/>
                  </a:ext>
                </a:extLst>
              </a:tr>
              <a:tr h="379476">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QA, security &amp; launch</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Test automation, load and penetration testing, beta, launch</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3 weeks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r">
                        <a:buNone/>
                      </a:pPr>
                      <a:r>
                        <a:rPr lang="en-US" sz="1060" dirty="0">
                          <a:solidFill>
                            <a:srgbClr val="4A5568"/>
                          </a:solidFill>
                          <a:latin typeface="Calibri" pitchFamily="34" charset="0"/>
                          <a:ea typeface="Calibri" pitchFamily="34" charset="-122"/>
                          <a:cs typeface="Calibri" pitchFamily="34" charset="-120"/>
                        </a:rPr>
                        <a:t>₹ ______</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9476">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Total build</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E4EAF4"/>
                    </a:solidFill>
                  </a:tcPr>
                </a:tc>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Fixed price for the scope defined in this document</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E4EAF4"/>
                    </a:solidFill>
                  </a:tcPr>
                </a:tc>
                <a:tc>
                  <a:txBody>
                    <a:bodyPr/>
                    <a:lstStyle/>
                    <a:p>
                      <a:pPr marL="0" indent="0" algn="r">
                        <a:buNone/>
                      </a:pPr>
                      <a:r>
                        <a:rPr lang="en-US" sz="1060" b="1" dirty="0">
                          <a:solidFill>
                            <a:srgbClr val="0F1E3D"/>
                          </a:solidFill>
                          <a:latin typeface="Calibri" pitchFamily="34" charset="0"/>
                          <a:ea typeface="Calibri" pitchFamily="34" charset="-122"/>
                          <a:cs typeface="Calibri" pitchFamily="34" charset="-120"/>
                        </a:rPr>
                        <a:t>8 weeks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E4EAF4"/>
                    </a:solidFill>
                  </a:tcPr>
                </a:tc>
                <a:tc>
                  <a:txBody>
                    <a:bodyPr/>
                    <a:lstStyle/>
                    <a:p>
                      <a:pPr marL="0" indent="0" algn="r">
                        <a:buNone/>
                      </a:pPr>
                      <a:r>
                        <a:rPr lang="en-US" sz="1060" b="1" dirty="0">
                          <a:solidFill>
                            <a:srgbClr val="0F1E3D"/>
                          </a:solidFill>
                          <a:latin typeface="Calibri" pitchFamily="34" charset="0"/>
                          <a:ea typeface="Calibri" pitchFamily="34" charset="-122"/>
                          <a:cs typeface="Calibri" pitchFamily="34" charset="-120"/>
                        </a:rPr>
                        <a:t>₹ ______</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E4EAF4"/>
                    </a:solidFill>
                  </a:tcPr>
                </a:tc>
                <a:extLst>
                  <a:ext uri="{0D108BD9-81ED-4DB2-BD59-A6C34878D82A}">
                    <a16:rowId xmlns:a16="http://schemas.microsoft.com/office/drawing/2014/main" val="10009"/>
                  </a:ext>
                </a:extLst>
              </a:tr>
            </a:tbl>
          </a:graphicData>
        </a:graphic>
      </p:graphicFrame>
      <p:sp>
        <p:nvSpPr>
          <p:cNvPr id="10" name="Shape 7"/>
          <p:cNvSpPr/>
          <p:nvPr/>
        </p:nvSpPr>
        <p:spPr>
          <a:xfrm>
            <a:off x="566928" y="5449824"/>
            <a:ext cx="11057839" cy="694944"/>
          </a:xfrm>
          <a:prstGeom prst="roundRect">
            <a:avLst>
              <a:gd name="adj" fmla="val 13158"/>
            </a:avLst>
          </a:prstGeom>
          <a:solidFill>
            <a:srgbClr val="F4F7FC"/>
          </a:solidFill>
          <a:ln/>
        </p:spPr>
        <p:txBody>
          <a:bodyPr/>
          <a:lstStyle/>
          <a:p>
            <a:endParaRPr lang="en-AE"/>
          </a:p>
        </p:txBody>
      </p:sp>
      <p:sp>
        <p:nvSpPr>
          <p:cNvPr id="11" name="Text 8"/>
          <p:cNvSpPr txBox="1"/>
          <p:nvPr/>
        </p:nvSpPr>
        <p:spPr>
          <a:xfrm>
            <a:off x="841248" y="5541264"/>
            <a:ext cx="3383280" cy="219456"/>
          </a:xfrm>
          <a:prstGeom prst="rect">
            <a:avLst/>
          </a:prstGeom>
          <a:noFill/>
          <a:ln/>
        </p:spPr>
        <p:txBody>
          <a:bodyPr wrap="square" lIns="0" tIns="0" rIns="0" bIns="0" rtlCol="0" anchor="ctr"/>
          <a:lstStyle/>
          <a:p>
            <a:pPr marL="0" indent="0">
              <a:buNone/>
            </a:pPr>
            <a:r>
              <a:rPr lang="en-US" sz="900" b="1" kern="0" spc="140" dirty="0">
                <a:solidFill>
                  <a:srgbClr val="0F1E3D"/>
                </a:solidFill>
                <a:latin typeface="Calibri" pitchFamily="34" charset="0"/>
                <a:ea typeface="Calibri" pitchFamily="34" charset="-122"/>
                <a:cs typeface="Calibri" pitchFamily="34" charset="-120"/>
              </a:rPr>
              <a:t>INCLUDED</a:t>
            </a:r>
            <a:endParaRPr lang="en-US" sz="900" dirty="0"/>
          </a:p>
        </p:txBody>
      </p:sp>
      <p:sp>
        <p:nvSpPr>
          <p:cNvPr id="12" name="Text 9"/>
          <p:cNvSpPr txBox="1"/>
          <p:nvPr/>
        </p:nvSpPr>
        <p:spPr>
          <a:xfrm>
            <a:off x="841248" y="5742432"/>
            <a:ext cx="3383280" cy="384048"/>
          </a:xfrm>
          <a:prstGeom prst="rect">
            <a:avLst/>
          </a:prstGeom>
          <a:noFill/>
          <a:ln/>
        </p:spPr>
        <p:txBody>
          <a:bodyPr wrap="square" lIns="0" tIns="0" rIns="0" bIns="0" rtlCol="0" anchor="t"/>
          <a:lstStyle/>
          <a:p>
            <a:pPr marL="0" indent="0">
              <a:lnSpc>
                <a:spcPct val="104000"/>
              </a:lnSpc>
              <a:buNone/>
            </a:pPr>
            <a:r>
              <a:rPr lang="en-US" sz="1040" dirty="0">
                <a:solidFill>
                  <a:srgbClr val="4A5568"/>
                </a:solidFill>
                <a:latin typeface="Calibri" pitchFamily="34" charset="0"/>
                <a:ea typeface="Calibri" pitchFamily="34" charset="-122"/>
                <a:cs typeface="Calibri" pitchFamily="34" charset="-120"/>
              </a:rPr>
              <a:t>All eleven roles, project management, two weeks of hypercare, source code, documentation</a:t>
            </a:r>
            <a:endParaRPr lang="en-US" sz="1040" dirty="0"/>
          </a:p>
        </p:txBody>
      </p:sp>
      <p:sp>
        <p:nvSpPr>
          <p:cNvPr id="13" name="Text 10"/>
          <p:cNvSpPr txBox="1"/>
          <p:nvPr/>
        </p:nvSpPr>
        <p:spPr>
          <a:xfrm>
            <a:off x="4453128" y="5541264"/>
            <a:ext cx="3383280" cy="219456"/>
          </a:xfrm>
          <a:prstGeom prst="rect">
            <a:avLst/>
          </a:prstGeom>
          <a:noFill/>
          <a:ln/>
        </p:spPr>
        <p:txBody>
          <a:bodyPr wrap="square" lIns="0" tIns="0" rIns="0" bIns="0" rtlCol="0" anchor="ctr"/>
          <a:lstStyle/>
          <a:p>
            <a:pPr marL="0" indent="0">
              <a:buNone/>
            </a:pPr>
            <a:r>
              <a:rPr lang="en-US" sz="900" b="1" kern="0" spc="140" dirty="0">
                <a:solidFill>
                  <a:srgbClr val="C8102E"/>
                </a:solidFill>
                <a:latin typeface="Calibri" pitchFamily="34" charset="0"/>
                <a:ea typeface="Calibri" pitchFamily="34" charset="-122"/>
                <a:cs typeface="Calibri" pitchFamily="34" charset="-120"/>
              </a:rPr>
              <a:t>EXCLUDED</a:t>
            </a:r>
            <a:endParaRPr lang="en-US" sz="900" dirty="0"/>
          </a:p>
        </p:txBody>
      </p:sp>
      <p:sp>
        <p:nvSpPr>
          <p:cNvPr id="14" name="Text 11"/>
          <p:cNvSpPr txBox="1"/>
          <p:nvPr/>
        </p:nvSpPr>
        <p:spPr>
          <a:xfrm>
            <a:off x="4453128" y="5742432"/>
            <a:ext cx="3383280" cy="384048"/>
          </a:xfrm>
          <a:prstGeom prst="rect">
            <a:avLst/>
          </a:prstGeom>
          <a:noFill/>
          <a:ln/>
        </p:spPr>
        <p:txBody>
          <a:bodyPr wrap="square" lIns="0" tIns="0" rIns="0" bIns="0" rtlCol="0" anchor="t"/>
          <a:lstStyle/>
          <a:p>
            <a:pPr marL="0" indent="0">
              <a:lnSpc>
                <a:spcPct val="104000"/>
              </a:lnSpc>
              <a:buNone/>
            </a:pPr>
            <a:r>
              <a:rPr lang="en-US" sz="1040" dirty="0">
                <a:solidFill>
                  <a:srgbClr val="4A5568"/>
                </a:solidFill>
                <a:latin typeface="Calibri" pitchFamily="34" charset="0"/>
                <a:ea typeface="Calibri" pitchFamily="34" charset="-122"/>
                <a:cs typeface="Calibri" pitchFamily="34" charset="-120"/>
              </a:rPr>
              <a:t>Cloud, CDN and AI inference costs, app-store fees, paid marketing, content licences</a:t>
            </a:r>
            <a:endParaRPr lang="en-US" sz="1040" dirty="0"/>
          </a:p>
        </p:txBody>
      </p:sp>
      <p:sp>
        <p:nvSpPr>
          <p:cNvPr id="15" name="Text 12"/>
          <p:cNvSpPr txBox="1"/>
          <p:nvPr/>
        </p:nvSpPr>
        <p:spPr>
          <a:xfrm>
            <a:off x="8065008" y="5541264"/>
            <a:ext cx="3383280" cy="219456"/>
          </a:xfrm>
          <a:prstGeom prst="rect">
            <a:avLst/>
          </a:prstGeom>
          <a:noFill/>
          <a:ln/>
        </p:spPr>
        <p:txBody>
          <a:bodyPr wrap="square" lIns="0" tIns="0" rIns="0" bIns="0" rtlCol="0" anchor="ctr"/>
          <a:lstStyle/>
          <a:p>
            <a:pPr marL="0" indent="0">
              <a:buNone/>
            </a:pPr>
            <a:r>
              <a:rPr lang="en-US" sz="900" b="1" kern="0" spc="140" dirty="0">
                <a:solidFill>
                  <a:srgbClr val="1B3160"/>
                </a:solidFill>
                <a:latin typeface="Calibri" pitchFamily="34" charset="0"/>
                <a:ea typeface="Calibri" pitchFamily="34" charset="-122"/>
                <a:cs typeface="Calibri" pitchFamily="34" charset="-120"/>
              </a:rPr>
              <a:t>AFTER LAUNCH</a:t>
            </a:r>
            <a:endParaRPr lang="en-US" sz="900" dirty="0"/>
          </a:p>
        </p:txBody>
      </p:sp>
      <p:sp>
        <p:nvSpPr>
          <p:cNvPr id="16" name="Text 13"/>
          <p:cNvSpPr txBox="1"/>
          <p:nvPr/>
        </p:nvSpPr>
        <p:spPr>
          <a:xfrm>
            <a:off x="8065008" y="5742432"/>
            <a:ext cx="3383280" cy="384048"/>
          </a:xfrm>
          <a:prstGeom prst="rect">
            <a:avLst/>
          </a:prstGeom>
          <a:noFill/>
          <a:ln/>
        </p:spPr>
        <p:txBody>
          <a:bodyPr wrap="square" lIns="0" tIns="0" rIns="0" bIns="0" rtlCol="0" anchor="t"/>
          <a:lstStyle/>
          <a:p>
            <a:pPr marL="0" indent="0">
              <a:lnSpc>
                <a:spcPct val="104000"/>
              </a:lnSpc>
              <a:buNone/>
            </a:pPr>
            <a:r>
              <a:rPr lang="en-US" sz="1040" dirty="0">
                <a:solidFill>
                  <a:srgbClr val="4A5568"/>
                </a:solidFill>
                <a:latin typeface="Calibri" pitchFamily="34" charset="0"/>
                <a:ea typeface="Calibri" pitchFamily="34" charset="-122"/>
                <a:cs typeface="Calibri" pitchFamily="34" charset="-120"/>
              </a:rPr>
              <a:t>Optional AMC at 20% of build price per year</a:t>
            </a:r>
            <a:endParaRPr lang="en-US" sz="10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Payment milestones &amp; annual maintenance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Payment tied to delivered gates, so your exposure tracks our progress.</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34</a:t>
            </a:r>
            <a:endParaRPr lang="en-US" sz="1050" dirty="0"/>
          </a:p>
        </p:txBody>
      </p:sp>
      <p:sp>
        <p:nvSpPr>
          <p:cNvPr id="9" name="Shape 7"/>
          <p:cNvSpPr/>
          <p:nvPr/>
        </p:nvSpPr>
        <p:spPr>
          <a:xfrm>
            <a:off x="566928" y="1645920"/>
            <a:ext cx="2615184" cy="2011680"/>
          </a:xfrm>
          <a:prstGeom prst="roundRect">
            <a:avLst>
              <a:gd name="adj" fmla="val 5455"/>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Text 8"/>
          <p:cNvSpPr txBox="1"/>
          <p:nvPr/>
        </p:nvSpPr>
        <p:spPr>
          <a:xfrm>
            <a:off x="786384" y="1828800"/>
            <a:ext cx="2176272" cy="603504"/>
          </a:xfrm>
          <a:prstGeom prst="rect">
            <a:avLst/>
          </a:prstGeom>
          <a:noFill/>
          <a:ln/>
        </p:spPr>
        <p:txBody>
          <a:bodyPr wrap="square" lIns="0" tIns="0" rIns="0" bIns="0" rtlCol="0" anchor="ctr"/>
          <a:lstStyle/>
          <a:p>
            <a:pPr marL="0" indent="0">
              <a:buNone/>
            </a:pPr>
            <a:r>
              <a:rPr lang="en-US" sz="3200" b="1" dirty="0">
                <a:solidFill>
                  <a:srgbClr val="C8102E"/>
                </a:solidFill>
                <a:latin typeface="Cambria" pitchFamily="34" charset="0"/>
                <a:ea typeface="Cambria" pitchFamily="34" charset="-122"/>
                <a:cs typeface="Cambria" pitchFamily="34" charset="-120"/>
              </a:rPr>
              <a:t>25%</a:t>
            </a:r>
            <a:endParaRPr lang="en-US" sz="3200" dirty="0"/>
          </a:p>
        </p:txBody>
      </p:sp>
      <p:sp>
        <p:nvSpPr>
          <p:cNvPr id="11" name="Text 9"/>
          <p:cNvSpPr txBox="1"/>
          <p:nvPr/>
        </p:nvSpPr>
        <p:spPr>
          <a:xfrm>
            <a:off x="786384" y="2468880"/>
            <a:ext cx="2176272" cy="457200"/>
          </a:xfrm>
          <a:prstGeom prst="rect">
            <a:avLst/>
          </a:prstGeom>
          <a:noFill/>
          <a:ln/>
        </p:spPr>
        <p:txBody>
          <a:bodyPr wrap="square" lIns="0" tIns="0" rIns="0" bIns="0" rtlCol="0" anchor="t"/>
          <a:lstStyle/>
          <a:p>
            <a:pPr marL="0" indent="0">
              <a:buNone/>
            </a:pPr>
            <a:r>
              <a:rPr lang="en-US" sz="1200" b="1" dirty="0">
                <a:solidFill>
                  <a:srgbClr val="0F1E3D"/>
                </a:solidFill>
                <a:latin typeface="Calibri" pitchFamily="34" charset="0"/>
                <a:ea typeface="Calibri" pitchFamily="34" charset="-122"/>
                <a:cs typeface="Calibri" pitchFamily="34" charset="-120"/>
              </a:rPr>
              <a:t>On signature</a:t>
            </a:r>
            <a:endParaRPr lang="en-US" sz="1200" dirty="0"/>
          </a:p>
        </p:txBody>
      </p:sp>
      <p:sp>
        <p:nvSpPr>
          <p:cNvPr id="12" name="Text 10"/>
          <p:cNvSpPr txBox="1"/>
          <p:nvPr/>
        </p:nvSpPr>
        <p:spPr>
          <a:xfrm>
            <a:off x="786384" y="2926080"/>
            <a:ext cx="2176272" cy="566928"/>
          </a:xfrm>
          <a:prstGeom prst="rect">
            <a:avLst/>
          </a:prstGeom>
          <a:noFill/>
          <a:ln/>
        </p:spPr>
        <p:txBody>
          <a:bodyPr wrap="square" lIns="0" tIns="0" rIns="0" bIns="0" rtlCol="0" anchor="t"/>
          <a:lstStyle/>
          <a:p>
            <a:pPr marL="0" indent="0">
              <a:lnSpc>
                <a:spcPct val="105000"/>
              </a:lnSpc>
              <a:buNone/>
            </a:pPr>
            <a:r>
              <a:rPr lang="en-US" sz="1040" dirty="0">
                <a:solidFill>
                  <a:srgbClr val="4A5568"/>
                </a:solidFill>
                <a:latin typeface="Calibri" pitchFamily="34" charset="0"/>
                <a:ea typeface="Calibri" pitchFamily="34" charset="-122"/>
                <a:cs typeface="Calibri" pitchFamily="34" charset="-120"/>
              </a:rPr>
              <a:t>Kickoff, team allocation, environments provisioned</a:t>
            </a:r>
            <a:endParaRPr lang="en-US" sz="1040" dirty="0"/>
          </a:p>
        </p:txBody>
      </p:sp>
      <p:sp>
        <p:nvSpPr>
          <p:cNvPr id="13" name="Shape 11"/>
          <p:cNvSpPr/>
          <p:nvPr/>
        </p:nvSpPr>
        <p:spPr>
          <a:xfrm>
            <a:off x="3218688" y="2542032"/>
            <a:ext cx="137160" cy="219456"/>
          </a:xfrm>
          <a:prstGeom prst="rightArrow">
            <a:avLst/>
          </a:prstGeom>
          <a:solidFill>
            <a:srgbClr val="C3CDDF"/>
          </a:solidFill>
          <a:ln/>
        </p:spPr>
        <p:txBody>
          <a:bodyPr/>
          <a:lstStyle/>
          <a:p>
            <a:endParaRPr lang="en-AE"/>
          </a:p>
        </p:txBody>
      </p:sp>
      <p:sp>
        <p:nvSpPr>
          <p:cNvPr id="14" name="Shape 12"/>
          <p:cNvSpPr/>
          <p:nvPr/>
        </p:nvSpPr>
        <p:spPr>
          <a:xfrm>
            <a:off x="3392424" y="1645920"/>
            <a:ext cx="2615184" cy="2011680"/>
          </a:xfrm>
          <a:prstGeom prst="roundRect">
            <a:avLst>
              <a:gd name="adj" fmla="val 5455"/>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5" name="Text 13"/>
          <p:cNvSpPr txBox="1"/>
          <p:nvPr/>
        </p:nvSpPr>
        <p:spPr>
          <a:xfrm>
            <a:off x="3611880" y="1828800"/>
            <a:ext cx="2176272" cy="603504"/>
          </a:xfrm>
          <a:prstGeom prst="rect">
            <a:avLst/>
          </a:prstGeom>
          <a:noFill/>
          <a:ln/>
        </p:spPr>
        <p:txBody>
          <a:bodyPr wrap="square" lIns="0" tIns="0" rIns="0" bIns="0" rtlCol="0" anchor="ctr"/>
          <a:lstStyle/>
          <a:p>
            <a:pPr marL="0" indent="0">
              <a:buNone/>
            </a:pPr>
            <a:r>
              <a:rPr lang="en-US" sz="3200" b="1" dirty="0">
                <a:solidFill>
                  <a:srgbClr val="C8102E"/>
                </a:solidFill>
                <a:latin typeface="Cambria" pitchFamily="34" charset="0"/>
                <a:ea typeface="Cambria" pitchFamily="34" charset="-122"/>
                <a:cs typeface="Cambria" pitchFamily="34" charset="-120"/>
              </a:rPr>
              <a:t>25%</a:t>
            </a:r>
            <a:endParaRPr lang="en-US" sz="3200" dirty="0"/>
          </a:p>
        </p:txBody>
      </p:sp>
      <p:sp>
        <p:nvSpPr>
          <p:cNvPr id="16" name="Text 14"/>
          <p:cNvSpPr txBox="1"/>
          <p:nvPr/>
        </p:nvSpPr>
        <p:spPr>
          <a:xfrm>
            <a:off x="3611880" y="2468880"/>
            <a:ext cx="2176272" cy="457200"/>
          </a:xfrm>
          <a:prstGeom prst="rect">
            <a:avLst/>
          </a:prstGeom>
          <a:noFill/>
          <a:ln/>
        </p:spPr>
        <p:txBody>
          <a:bodyPr wrap="square" lIns="0" tIns="0" rIns="0" bIns="0" rtlCol="0" anchor="t"/>
          <a:lstStyle/>
          <a:p>
            <a:pPr marL="0" indent="0">
              <a:buNone/>
            </a:pPr>
            <a:r>
              <a:rPr lang="en-US" sz="1200" b="1" dirty="0">
                <a:solidFill>
                  <a:srgbClr val="0F1E3D"/>
                </a:solidFill>
                <a:latin typeface="Calibri" pitchFamily="34" charset="0"/>
                <a:ea typeface="Calibri" pitchFamily="34" charset="-122"/>
                <a:cs typeface="Calibri" pitchFamily="34" charset="-120"/>
              </a:rPr>
              <a:t>Gate 1 — design sign-off</a:t>
            </a:r>
            <a:endParaRPr lang="en-US" sz="1200" dirty="0"/>
          </a:p>
        </p:txBody>
      </p:sp>
      <p:sp>
        <p:nvSpPr>
          <p:cNvPr id="17" name="Text 15"/>
          <p:cNvSpPr txBox="1"/>
          <p:nvPr/>
        </p:nvSpPr>
        <p:spPr>
          <a:xfrm>
            <a:off x="3611880" y="2926080"/>
            <a:ext cx="2176272" cy="566928"/>
          </a:xfrm>
          <a:prstGeom prst="rect">
            <a:avLst/>
          </a:prstGeom>
          <a:noFill/>
          <a:ln/>
        </p:spPr>
        <p:txBody>
          <a:bodyPr wrap="square" lIns="0" tIns="0" rIns="0" bIns="0" rtlCol="0" anchor="t"/>
          <a:lstStyle/>
          <a:p>
            <a:pPr marL="0" indent="0">
              <a:lnSpc>
                <a:spcPct val="105000"/>
              </a:lnSpc>
              <a:buNone/>
            </a:pPr>
            <a:r>
              <a:rPr lang="en-US" sz="1040" dirty="0">
                <a:solidFill>
                  <a:srgbClr val="4A5568"/>
                </a:solidFill>
                <a:latin typeface="Calibri" pitchFamily="34" charset="0"/>
                <a:ea typeface="Calibri" pitchFamily="34" charset="-122"/>
                <a:cs typeface="Calibri" pitchFamily="34" charset="-120"/>
              </a:rPr>
              <a:t>All screens approved in Figma, both scripts</a:t>
            </a:r>
            <a:endParaRPr lang="en-US" sz="1040" dirty="0"/>
          </a:p>
        </p:txBody>
      </p:sp>
      <p:sp>
        <p:nvSpPr>
          <p:cNvPr id="18" name="Shape 16"/>
          <p:cNvSpPr/>
          <p:nvPr/>
        </p:nvSpPr>
        <p:spPr>
          <a:xfrm>
            <a:off x="6044184" y="2542032"/>
            <a:ext cx="137160" cy="219456"/>
          </a:xfrm>
          <a:prstGeom prst="rightArrow">
            <a:avLst/>
          </a:prstGeom>
          <a:solidFill>
            <a:srgbClr val="C3CDDF"/>
          </a:solidFill>
          <a:ln/>
        </p:spPr>
        <p:txBody>
          <a:bodyPr/>
          <a:lstStyle/>
          <a:p>
            <a:endParaRPr lang="en-AE"/>
          </a:p>
        </p:txBody>
      </p:sp>
      <p:sp>
        <p:nvSpPr>
          <p:cNvPr id="19" name="Shape 17"/>
          <p:cNvSpPr/>
          <p:nvPr/>
        </p:nvSpPr>
        <p:spPr>
          <a:xfrm>
            <a:off x="6217920" y="1645920"/>
            <a:ext cx="2615184" cy="2011680"/>
          </a:xfrm>
          <a:prstGeom prst="roundRect">
            <a:avLst>
              <a:gd name="adj" fmla="val 5455"/>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0" name="Text 18"/>
          <p:cNvSpPr txBox="1"/>
          <p:nvPr/>
        </p:nvSpPr>
        <p:spPr>
          <a:xfrm>
            <a:off x="6437376" y="1828800"/>
            <a:ext cx="2176272" cy="603504"/>
          </a:xfrm>
          <a:prstGeom prst="rect">
            <a:avLst/>
          </a:prstGeom>
          <a:noFill/>
          <a:ln/>
        </p:spPr>
        <p:txBody>
          <a:bodyPr wrap="square" lIns="0" tIns="0" rIns="0" bIns="0" rtlCol="0" anchor="ctr"/>
          <a:lstStyle/>
          <a:p>
            <a:pPr marL="0" indent="0">
              <a:buNone/>
            </a:pPr>
            <a:r>
              <a:rPr lang="en-US" sz="3200" b="1" dirty="0">
                <a:solidFill>
                  <a:srgbClr val="C8102E"/>
                </a:solidFill>
                <a:latin typeface="Cambria" pitchFamily="34" charset="0"/>
                <a:ea typeface="Cambria" pitchFamily="34" charset="-122"/>
                <a:cs typeface="Cambria" pitchFamily="34" charset="-120"/>
              </a:rPr>
              <a:t>25%</a:t>
            </a:r>
            <a:endParaRPr lang="en-US" sz="3200" dirty="0"/>
          </a:p>
        </p:txBody>
      </p:sp>
      <p:sp>
        <p:nvSpPr>
          <p:cNvPr id="21" name="Text 19"/>
          <p:cNvSpPr txBox="1"/>
          <p:nvPr/>
        </p:nvSpPr>
        <p:spPr>
          <a:xfrm>
            <a:off x="6437376" y="2468880"/>
            <a:ext cx="2176272" cy="457200"/>
          </a:xfrm>
          <a:prstGeom prst="rect">
            <a:avLst/>
          </a:prstGeom>
          <a:noFill/>
          <a:ln/>
        </p:spPr>
        <p:txBody>
          <a:bodyPr wrap="square" lIns="0" tIns="0" rIns="0" bIns="0" rtlCol="0" anchor="t"/>
          <a:lstStyle/>
          <a:p>
            <a:pPr marL="0" indent="0">
              <a:buNone/>
            </a:pPr>
            <a:r>
              <a:rPr lang="en-US" sz="1200" b="1" dirty="0">
                <a:solidFill>
                  <a:srgbClr val="0F1E3D"/>
                </a:solidFill>
                <a:latin typeface="Calibri" pitchFamily="34" charset="0"/>
                <a:ea typeface="Calibri" pitchFamily="34" charset="-122"/>
                <a:cs typeface="Calibri" pitchFamily="34" charset="-120"/>
              </a:rPr>
              <a:t>Gate 3 — AI + engagement demo</a:t>
            </a:r>
            <a:endParaRPr lang="en-US" sz="1200" dirty="0"/>
          </a:p>
        </p:txBody>
      </p:sp>
      <p:sp>
        <p:nvSpPr>
          <p:cNvPr id="22" name="Text 20"/>
          <p:cNvSpPr txBox="1"/>
          <p:nvPr/>
        </p:nvSpPr>
        <p:spPr>
          <a:xfrm>
            <a:off x="6437376" y="2926080"/>
            <a:ext cx="2176272" cy="566928"/>
          </a:xfrm>
          <a:prstGeom prst="rect">
            <a:avLst/>
          </a:prstGeom>
          <a:noFill/>
          <a:ln/>
        </p:spPr>
        <p:txBody>
          <a:bodyPr wrap="square" lIns="0" tIns="0" rIns="0" bIns="0" rtlCol="0" anchor="t"/>
          <a:lstStyle/>
          <a:p>
            <a:pPr marL="0" indent="0">
              <a:lnSpc>
                <a:spcPct val="105000"/>
              </a:lnSpc>
              <a:buNone/>
            </a:pPr>
            <a:r>
              <a:rPr lang="en-US" sz="1040" dirty="0">
                <a:solidFill>
                  <a:srgbClr val="4A5568"/>
                </a:solidFill>
                <a:latin typeface="Calibri" pitchFamily="34" charset="0"/>
                <a:ea typeface="Calibri" pitchFamily="34" charset="-122"/>
                <a:cs typeface="Calibri" pitchFamily="34" charset="-120"/>
              </a:rPr>
              <a:t>Working build with AI ranking and comments live</a:t>
            </a:r>
            <a:endParaRPr lang="en-US" sz="1040" dirty="0"/>
          </a:p>
        </p:txBody>
      </p:sp>
      <p:sp>
        <p:nvSpPr>
          <p:cNvPr id="23" name="Shape 21"/>
          <p:cNvSpPr/>
          <p:nvPr/>
        </p:nvSpPr>
        <p:spPr>
          <a:xfrm>
            <a:off x="8869680" y="2542032"/>
            <a:ext cx="137160" cy="219456"/>
          </a:xfrm>
          <a:prstGeom prst="rightArrow">
            <a:avLst/>
          </a:prstGeom>
          <a:solidFill>
            <a:srgbClr val="C3CDDF"/>
          </a:solidFill>
          <a:ln/>
        </p:spPr>
        <p:txBody>
          <a:bodyPr/>
          <a:lstStyle/>
          <a:p>
            <a:endParaRPr lang="en-AE"/>
          </a:p>
        </p:txBody>
      </p:sp>
      <p:sp>
        <p:nvSpPr>
          <p:cNvPr id="24" name="Shape 22"/>
          <p:cNvSpPr/>
          <p:nvPr/>
        </p:nvSpPr>
        <p:spPr>
          <a:xfrm>
            <a:off x="9043416" y="1645920"/>
            <a:ext cx="2615184" cy="2011680"/>
          </a:xfrm>
          <a:prstGeom prst="roundRect">
            <a:avLst>
              <a:gd name="adj" fmla="val 5455"/>
            </a:avLst>
          </a:prstGeom>
          <a:solidFill>
            <a:srgbClr val="0F1E3D"/>
          </a:solidFill>
          <a:ln/>
          <a:effectLst>
            <a:outerShdw blurRad="127000" dist="25400" dir="5400000" algn="bl" rotWithShape="0">
              <a:srgbClr val="0F1E3D">
                <a:alpha val="10000"/>
              </a:srgbClr>
            </a:outerShdw>
          </a:effectLst>
        </p:spPr>
        <p:txBody>
          <a:bodyPr/>
          <a:lstStyle/>
          <a:p>
            <a:endParaRPr lang="en-AE"/>
          </a:p>
        </p:txBody>
      </p:sp>
      <p:sp>
        <p:nvSpPr>
          <p:cNvPr id="25" name="Text 23"/>
          <p:cNvSpPr txBox="1"/>
          <p:nvPr/>
        </p:nvSpPr>
        <p:spPr>
          <a:xfrm>
            <a:off x="9262872" y="1828800"/>
            <a:ext cx="2176272" cy="603504"/>
          </a:xfrm>
          <a:prstGeom prst="rect">
            <a:avLst/>
          </a:prstGeom>
          <a:noFill/>
          <a:ln/>
        </p:spPr>
        <p:txBody>
          <a:bodyPr wrap="square" lIns="0" tIns="0" rIns="0" bIns="0" rtlCol="0" anchor="ctr"/>
          <a:lstStyle/>
          <a:p>
            <a:pPr marL="0" indent="0">
              <a:buNone/>
            </a:pPr>
            <a:r>
              <a:rPr lang="en-US" sz="3200" b="1" dirty="0">
                <a:solidFill>
                  <a:srgbClr val="F0A81C"/>
                </a:solidFill>
                <a:latin typeface="Cambria" pitchFamily="34" charset="0"/>
                <a:ea typeface="Cambria" pitchFamily="34" charset="-122"/>
                <a:cs typeface="Cambria" pitchFamily="34" charset="-120"/>
              </a:rPr>
              <a:t>25%</a:t>
            </a:r>
            <a:endParaRPr lang="en-US" sz="3200" dirty="0"/>
          </a:p>
        </p:txBody>
      </p:sp>
      <p:sp>
        <p:nvSpPr>
          <p:cNvPr id="26" name="Text 24"/>
          <p:cNvSpPr txBox="1"/>
          <p:nvPr/>
        </p:nvSpPr>
        <p:spPr>
          <a:xfrm>
            <a:off x="9262872" y="2468880"/>
            <a:ext cx="2176272" cy="45720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Gate 4 — store launch</a:t>
            </a:r>
            <a:endParaRPr lang="en-US" sz="1200" dirty="0"/>
          </a:p>
        </p:txBody>
      </p:sp>
      <p:sp>
        <p:nvSpPr>
          <p:cNvPr id="27" name="Text 25"/>
          <p:cNvSpPr txBox="1"/>
          <p:nvPr/>
        </p:nvSpPr>
        <p:spPr>
          <a:xfrm>
            <a:off x="9262872" y="2926080"/>
            <a:ext cx="2176272" cy="566928"/>
          </a:xfrm>
          <a:prstGeom prst="rect">
            <a:avLst/>
          </a:prstGeom>
          <a:noFill/>
          <a:ln/>
        </p:spPr>
        <p:txBody>
          <a:bodyPr wrap="square" lIns="0" tIns="0" rIns="0" bIns="0" rtlCol="0" anchor="t"/>
          <a:lstStyle/>
          <a:p>
            <a:pPr marL="0" indent="0">
              <a:lnSpc>
                <a:spcPct val="105000"/>
              </a:lnSpc>
              <a:buNone/>
            </a:pPr>
            <a:r>
              <a:rPr lang="en-US" sz="1040" dirty="0">
                <a:solidFill>
                  <a:srgbClr val="CBD8EE"/>
                </a:solidFill>
                <a:latin typeface="Calibri" pitchFamily="34" charset="0"/>
                <a:ea typeface="Calibri" pitchFamily="34" charset="-122"/>
                <a:cs typeface="Calibri" pitchFamily="34" charset="-120"/>
              </a:rPr>
              <a:t>Apps submitted, web live, documentation handed over</a:t>
            </a:r>
            <a:endParaRPr lang="en-US" sz="1040" dirty="0"/>
          </a:p>
        </p:txBody>
      </p:sp>
      <p:sp>
        <p:nvSpPr>
          <p:cNvPr id="28" name="Text 26"/>
          <p:cNvSpPr txBox="1"/>
          <p:nvPr/>
        </p:nvSpPr>
        <p:spPr>
          <a:xfrm>
            <a:off x="566928" y="3785616"/>
            <a:ext cx="11057839" cy="347472"/>
          </a:xfrm>
          <a:prstGeom prst="rect">
            <a:avLst/>
          </a:prstGeom>
          <a:noFill/>
          <a:ln/>
        </p:spPr>
        <p:txBody>
          <a:bodyPr wrap="square" lIns="0" tIns="0" rIns="0" bIns="0" rtlCol="0" anchor="ctr"/>
          <a:lstStyle/>
          <a:p>
            <a:pPr marL="0" indent="0">
              <a:buNone/>
            </a:pPr>
            <a:r>
              <a:rPr lang="en-US" sz="1700" b="1" dirty="0">
                <a:solidFill>
                  <a:srgbClr val="0F1E3D"/>
                </a:solidFill>
                <a:latin typeface="Cambria" pitchFamily="34" charset="0"/>
                <a:ea typeface="Cambria" pitchFamily="34" charset="-122"/>
                <a:cs typeface="Cambria" pitchFamily="34" charset="-120"/>
              </a:rPr>
              <a:t>Annual maintenance contract — 20% of build price per year</a:t>
            </a:r>
            <a:endParaRPr lang="en-US" sz="1700" dirty="0"/>
          </a:p>
        </p:txBody>
      </p:sp>
      <p:sp>
        <p:nvSpPr>
          <p:cNvPr id="29" name="Shape 27"/>
          <p:cNvSpPr/>
          <p:nvPr/>
        </p:nvSpPr>
        <p:spPr>
          <a:xfrm>
            <a:off x="566928" y="4206240"/>
            <a:ext cx="2615184" cy="1755648"/>
          </a:xfrm>
          <a:prstGeom prst="roundRect">
            <a:avLst>
              <a:gd name="adj" fmla="val 6250"/>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30" name="Shape 28"/>
          <p:cNvSpPr/>
          <p:nvPr/>
        </p:nvSpPr>
        <p:spPr>
          <a:xfrm>
            <a:off x="786384" y="4443984"/>
            <a:ext cx="402336" cy="402336"/>
          </a:xfrm>
          <a:prstGeom prst="ellipse">
            <a:avLst/>
          </a:prstGeom>
          <a:solidFill>
            <a:srgbClr val="C8102E"/>
          </a:solidFill>
          <a:ln/>
        </p:spPr>
        <p:txBody>
          <a:bodyPr/>
          <a:lstStyle/>
          <a:p>
            <a:endParaRPr lang="en-AE"/>
          </a:p>
        </p:txBody>
      </p:sp>
      <p:pic>
        <p:nvPicPr>
          <p:cNvPr id="31" name="Image 0" descr="preencoded.png"/>
          <p:cNvPicPr>
            <a:picLocks noChangeAspect="1"/>
          </p:cNvPicPr>
          <p:nvPr/>
        </p:nvPicPr>
        <p:blipFill>
          <a:blip r:embed="rId3"/>
          <a:stretch>
            <a:fillRect/>
          </a:stretch>
        </p:blipFill>
        <p:spPr>
          <a:xfrm>
            <a:off x="882396" y="4544568"/>
            <a:ext cx="210312" cy="210312"/>
          </a:xfrm>
          <a:prstGeom prst="rect">
            <a:avLst/>
          </a:prstGeom>
        </p:spPr>
      </p:pic>
      <p:sp>
        <p:nvSpPr>
          <p:cNvPr id="32" name="Text 29"/>
          <p:cNvSpPr txBox="1"/>
          <p:nvPr/>
        </p:nvSpPr>
        <p:spPr>
          <a:xfrm>
            <a:off x="1335024" y="4425696"/>
            <a:ext cx="1627632" cy="292608"/>
          </a:xfrm>
          <a:prstGeom prst="rect">
            <a:avLst/>
          </a:prstGeom>
          <a:noFill/>
          <a:ln/>
        </p:spPr>
        <p:txBody>
          <a:bodyPr wrap="square" lIns="0" tIns="0" rIns="0" bIns="0" rtlCol="0" anchor="t"/>
          <a:lstStyle/>
          <a:p>
            <a:pPr marL="0" indent="0">
              <a:lnSpc>
                <a:spcPct val="95000"/>
              </a:lnSpc>
              <a:buNone/>
            </a:pPr>
            <a:r>
              <a:rPr lang="en-US" sz="1300" b="1" dirty="0">
                <a:solidFill>
                  <a:srgbClr val="0F1E3D"/>
                </a:solidFill>
                <a:latin typeface="Cambria" pitchFamily="34" charset="0"/>
                <a:ea typeface="Cambria" pitchFamily="34" charset="-122"/>
                <a:cs typeface="Cambria" pitchFamily="34" charset="-120"/>
              </a:rPr>
              <a:t>Keep it running</a:t>
            </a:r>
            <a:endParaRPr lang="en-US" sz="1300" dirty="0"/>
          </a:p>
        </p:txBody>
      </p:sp>
      <p:sp>
        <p:nvSpPr>
          <p:cNvPr id="33" name="Text 30"/>
          <p:cNvSpPr txBox="1"/>
          <p:nvPr/>
        </p:nvSpPr>
        <p:spPr>
          <a:xfrm>
            <a:off x="786384" y="4809744"/>
            <a:ext cx="2176272" cy="93268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Bug fixes with defined response times</a:t>
            </a:r>
            <a:endParaRPr lang="en-US" sz="1020" dirty="0"/>
          </a:p>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OS and dependency upgrades</a:t>
            </a:r>
            <a:endParaRPr lang="en-US" sz="1020" dirty="0"/>
          </a:p>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Server and database maintenance</a:t>
            </a:r>
            <a:endParaRPr lang="en-US" sz="1020" dirty="0"/>
          </a:p>
        </p:txBody>
      </p:sp>
      <p:sp>
        <p:nvSpPr>
          <p:cNvPr id="34" name="Shape 31"/>
          <p:cNvSpPr/>
          <p:nvPr/>
        </p:nvSpPr>
        <p:spPr>
          <a:xfrm>
            <a:off x="3392424" y="4206240"/>
            <a:ext cx="2615184" cy="1755648"/>
          </a:xfrm>
          <a:prstGeom prst="roundRect">
            <a:avLst>
              <a:gd name="adj" fmla="val 6250"/>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35" name="Shape 32"/>
          <p:cNvSpPr/>
          <p:nvPr/>
        </p:nvSpPr>
        <p:spPr>
          <a:xfrm>
            <a:off x="3611880" y="4443984"/>
            <a:ext cx="402336" cy="402336"/>
          </a:xfrm>
          <a:prstGeom prst="ellipse">
            <a:avLst/>
          </a:prstGeom>
          <a:solidFill>
            <a:srgbClr val="0F1E3D"/>
          </a:solidFill>
          <a:ln/>
        </p:spPr>
        <p:txBody>
          <a:bodyPr/>
          <a:lstStyle/>
          <a:p>
            <a:endParaRPr lang="en-AE"/>
          </a:p>
        </p:txBody>
      </p:sp>
      <p:pic>
        <p:nvPicPr>
          <p:cNvPr id="36" name="Image 1" descr="preencoded.png"/>
          <p:cNvPicPr>
            <a:picLocks noChangeAspect="1"/>
          </p:cNvPicPr>
          <p:nvPr/>
        </p:nvPicPr>
        <p:blipFill>
          <a:blip r:embed="rId4"/>
          <a:stretch>
            <a:fillRect/>
          </a:stretch>
        </p:blipFill>
        <p:spPr>
          <a:xfrm>
            <a:off x="3707892" y="4544568"/>
            <a:ext cx="210312" cy="210312"/>
          </a:xfrm>
          <a:prstGeom prst="rect">
            <a:avLst/>
          </a:prstGeom>
        </p:spPr>
      </p:pic>
      <p:sp>
        <p:nvSpPr>
          <p:cNvPr id="37" name="Text 33"/>
          <p:cNvSpPr txBox="1"/>
          <p:nvPr/>
        </p:nvSpPr>
        <p:spPr>
          <a:xfrm>
            <a:off x="4160520" y="4425696"/>
            <a:ext cx="1627632" cy="292608"/>
          </a:xfrm>
          <a:prstGeom prst="rect">
            <a:avLst/>
          </a:prstGeom>
          <a:noFill/>
          <a:ln/>
        </p:spPr>
        <p:txBody>
          <a:bodyPr wrap="square" lIns="0" tIns="0" rIns="0" bIns="0" rtlCol="0" anchor="t"/>
          <a:lstStyle/>
          <a:p>
            <a:pPr marL="0" indent="0">
              <a:lnSpc>
                <a:spcPct val="95000"/>
              </a:lnSpc>
              <a:buNone/>
            </a:pPr>
            <a:r>
              <a:rPr lang="en-US" sz="1300" b="1" dirty="0">
                <a:solidFill>
                  <a:srgbClr val="0F1E3D"/>
                </a:solidFill>
                <a:latin typeface="Cambria" pitchFamily="34" charset="0"/>
                <a:ea typeface="Cambria" pitchFamily="34" charset="-122"/>
                <a:cs typeface="Cambria" pitchFamily="34" charset="-120"/>
              </a:rPr>
              <a:t>Keep it safe</a:t>
            </a:r>
            <a:endParaRPr lang="en-US" sz="1300" dirty="0"/>
          </a:p>
        </p:txBody>
      </p:sp>
      <p:sp>
        <p:nvSpPr>
          <p:cNvPr id="38" name="Text 34"/>
          <p:cNvSpPr txBox="1"/>
          <p:nvPr/>
        </p:nvSpPr>
        <p:spPr>
          <a:xfrm>
            <a:off x="3611880" y="4809744"/>
            <a:ext cx="2176272" cy="93268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Quarterly security and dependency audits</a:t>
            </a:r>
            <a:endParaRPr lang="en-US" sz="1020" dirty="0"/>
          </a:p>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Incident response to an agreed RTO</a:t>
            </a:r>
            <a:endParaRPr lang="en-US" sz="1020" dirty="0"/>
          </a:p>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Backup and restore drills</a:t>
            </a:r>
            <a:endParaRPr lang="en-US" sz="1020" dirty="0"/>
          </a:p>
        </p:txBody>
      </p:sp>
      <p:sp>
        <p:nvSpPr>
          <p:cNvPr id="39" name="Shape 35"/>
          <p:cNvSpPr/>
          <p:nvPr/>
        </p:nvSpPr>
        <p:spPr>
          <a:xfrm>
            <a:off x="6217920" y="4206240"/>
            <a:ext cx="2615184" cy="1755648"/>
          </a:xfrm>
          <a:prstGeom prst="roundRect">
            <a:avLst>
              <a:gd name="adj" fmla="val 6250"/>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40" name="Shape 36"/>
          <p:cNvSpPr/>
          <p:nvPr/>
        </p:nvSpPr>
        <p:spPr>
          <a:xfrm>
            <a:off x="6437376" y="4443984"/>
            <a:ext cx="402336" cy="402336"/>
          </a:xfrm>
          <a:prstGeom prst="ellipse">
            <a:avLst/>
          </a:prstGeom>
          <a:solidFill>
            <a:srgbClr val="C8102E"/>
          </a:solidFill>
          <a:ln/>
        </p:spPr>
        <p:txBody>
          <a:bodyPr/>
          <a:lstStyle/>
          <a:p>
            <a:endParaRPr lang="en-AE"/>
          </a:p>
        </p:txBody>
      </p:sp>
      <p:pic>
        <p:nvPicPr>
          <p:cNvPr id="41" name="Image 2" descr="preencoded.png"/>
          <p:cNvPicPr>
            <a:picLocks noChangeAspect="1"/>
          </p:cNvPicPr>
          <p:nvPr/>
        </p:nvPicPr>
        <p:blipFill>
          <a:blip r:embed="rId5"/>
          <a:stretch>
            <a:fillRect/>
          </a:stretch>
        </p:blipFill>
        <p:spPr>
          <a:xfrm>
            <a:off x="6533388" y="4544568"/>
            <a:ext cx="210312" cy="210312"/>
          </a:xfrm>
          <a:prstGeom prst="rect">
            <a:avLst/>
          </a:prstGeom>
        </p:spPr>
      </p:pic>
      <p:sp>
        <p:nvSpPr>
          <p:cNvPr id="42" name="Text 37"/>
          <p:cNvSpPr txBox="1"/>
          <p:nvPr/>
        </p:nvSpPr>
        <p:spPr>
          <a:xfrm>
            <a:off x="6986016" y="4425696"/>
            <a:ext cx="1627632" cy="292608"/>
          </a:xfrm>
          <a:prstGeom prst="rect">
            <a:avLst/>
          </a:prstGeom>
          <a:noFill/>
          <a:ln/>
        </p:spPr>
        <p:txBody>
          <a:bodyPr wrap="square" lIns="0" tIns="0" rIns="0" bIns="0" rtlCol="0" anchor="t"/>
          <a:lstStyle/>
          <a:p>
            <a:pPr marL="0" indent="0">
              <a:lnSpc>
                <a:spcPct val="95000"/>
              </a:lnSpc>
              <a:buNone/>
            </a:pPr>
            <a:r>
              <a:rPr lang="en-US" sz="1300" b="1" dirty="0">
                <a:solidFill>
                  <a:srgbClr val="0F1E3D"/>
                </a:solidFill>
                <a:latin typeface="Cambria" pitchFamily="34" charset="0"/>
                <a:ea typeface="Cambria" pitchFamily="34" charset="-122"/>
                <a:cs typeface="Cambria" pitchFamily="34" charset="-120"/>
              </a:rPr>
              <a:t>Keep it improving</a:t>
            </a:r>
            <a:endParaRPr lang="en-US" sz="1300" dirty="0"/>
          </a:p>
        </p:txBody>
      </p:sp>
      <p:sp>
        <p:nvSpPr>
          <p:cNvPr id="43" name="Text 38"/>
          <p:cNvSpPr txBox="1"/>
          <p:nvPr/>
        </p:nvSpPr>
        <p:spPr>
          <a:xfrm>
            <a:off x="6437376" y="4809744"/>
            <a:ext cx="2176272" cy="93268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A pool of enhancement hours each quarter</a:t>
            </a:r>
            <a:endParaRPr lang="en-US" sz="1020" dirty="0"/>
          </a:p>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AI retuning as reading patterns shift</a:t>
            </a:r>
            <a:endParaRPr lang="en-US" sz="1020" dirty="0"/>
          </a:p>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A/B tests on feed and paywall</a:t>
            </a:r>
            <a:endParaRPr lang="en-US" sz="1020" dirty="0"/>
          </a:p>
        </p:txBody>
      </p:sp>
      <p:sp>
        <p:nvSpPr>
          <p:cNvPr id="44" name="Shape 39"/>
          <p:cNvSpPr/>
          <p:nvPr/>
        </p:nvSpPr>
        <p:spPr>
          <a:xfrm>
            <a:off x="9043416" y="4206240"/>
            <a:ext cx="2615184" cy="1755648"/>
          </a:xfrm>
          <a:prstGeom prst="roundRect">
            <a:avLst>
              <a:gd name="adj" fmla="val 6250"/>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45" name="Shape 40"/>
          <p:cNvSpPr/>
          <p:nvPr/>
        </p:nvSpPr>
        <p:spPr>
          <a:xfrm>
            <a:off x="9262872" y="4443984"/>
            <a:ext cx="402336" cy="402336"/>
          </a:xfrm>
          <a:prstGeom prst="ellipse">
            <a:avLst/>
          </a:prstGeom>
          <a:solidFill>
            <a:srgbClr val="0F1E3D"/>
          </a:solidFill>
          <a:ln/>
        </p:spPr>
        <p:txBody>
          <a:bodyPr/>
          <a:lstStyle/>
          <a:p>
            <a:endParaRPr lang="en-AE"/>
          </a:p>
        </p:txBody>
      </p:sp>
      <p:pic>
        <p:nvPicPr>
          <p:cNvPr id="46" name="Image 3" descr="preencoded.png"/>
          <p:cNvPicPr>
            <a:picLocks noChangeAspect="1"/>
          </p:cNvPicPr>
          <p:nvPr/>
        </p:nvPicPr>
        <p:blipFill>
          <a:blip r:embed="rId6"/>
          <a:stretch>
            <a:fillRect/>
          </a:stretch>
        </p:blipFill>
        <p:spPr>
          <a:xfrm>
            <a:off x="9358884" y="4544568"/>
            <a:ext cx="210312" cy="210312"/>
          </a:xfrm>
          <a:prstGeom prst="rect">
            <a:avLst/>
          </a:prstGeom>
        </p:spPr>
      </p:pic>
      <p:sp>
        <p:nvSpPr>
          <p:cNvPr id="47" name="Text 41"/>
          <p:cNvSpPr txBox="1"/>
          <p:nvPr/>
        </p:nvSpPr>
        <p:spPr>
          <a:xfrm>
            <a:off x="9811512" y="4425696"/>
            <a:ext cx="1627632" cy="292608"/>
          </a:xfrm>
          <a:prstGeom prst="rect">
            <a:avLst/>
          </a:prstGeom>
          <a:noFill/>
          <a:ln/>
        </p:spPr>
        <p:txBody>
          <a:bodyPr wrap="square" lIns="0" tIns="0" rIns="0" bIns="0" rtlCol="0" anchor="t"/>
          <a:lstStyle/>
          <a:p>
            <a:pPr marL="0" indent="0">
              <a:lnSpc>
                <a:spcPct val="95000"/>
              </a:lnSpc>
              <a:buNone/>
            </a:pPr>
            <a:r>
              <a:rPr lang="en-US" sz="1300" b="1" dirty="0">
                <a:solidFill>
                  <a:srgbClr val="0F1E3D"/>
                </a:solidFill>
                <a:latin typeface="Cambria" pitchFamily="34" charset="0"/>
                <a:ea typeface="Cambria" pitchFamily="34" charset="-122"/>
                <a:cs typeface="Cambria" pitchFamily="34" charset="-120"/>
              </a:rPr>
              <a:t>Keep you informed</a:t>
            </a:r>
            <a:endParaRPr lang="en-US" sz="1300" dirty="0"/>
          </a:p>
        </p:txBody>
      </p:sp>
      <p:sp>
        <p:nvSpPr>
          <p:cNvPr id="48" name="Text 42"/>
          <p:cNvSpPr txBox="1"/>
          <p:nvPr/>
        </p:nvSpPr>
        <p:spPr>
          <a:xfrm>
            <a:off x="9262872" y="4809744"/>
            <a:ext cx="2176272" cy="932688"/>
          </a:xfrm>
          <a:prstGeom prst="rect">
            <a:avLst/>
          </a:prstGeom>
          <a:noFill/>
          <a:ln/>
        </p:spPr>
        <p:txBody>
          <a:bodyPr wrap="square" lIns="0" tIns="0" rIns="0" bIns="0" rtlCol="0" anchor="t">
            <a:normAutofit/>
          </a:bodyPr>
          <a:lstStyle/>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Monthly performance and revenue report</a:t>
            </a:r>
            <a:endParaRPr lang="en-US" sz="1020" dirty="0"/>
          </a:p>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Quarterly roadmap review</a:t>
            </a:r>
            <a:endParaRPr lang="en-US" sz="1020" dirty="0"/>
          </a:p>
          <a:p>
            <a:pPr marL="165100" indent="-165100">
              <a:lnSpc>
                <a:spcPct val="106000"/>
              </a:lnSpc>
              <a:spcAft>
                <a:spcPts val="400"/>
              </a:spcAft>
              <a:buSzPct val="100000"/>
              <a:buChar char="•"/>
            </a:pPr>
            <a:r>
              <a:rPr lang="en-US" sz="1020" dirty="0">
                <a:solidFill>
                  <a:srgbClr val="4A5568"/>
                </a:solidFill>
                <a:latin typeface="Calibri" pitchFamily="34" charset="0"/>
                <a:ea typeface="Calibri" pitchFamily="34" charset="-122"/>
                <a:cs typeface="Calibri" pitchFamily="34" charset="-120"/>
              </a:rPr>
              <a:t>Named contact and escalation path</a:t>
            </a:r>
            <a:endParaRPr lang="en-US" sz="10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Assumptions, risks &amp; mitigations</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The things that could move the date, named now rather than discovered in week 6.</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35</a:t>
            </a:r>
            <a:endParaRPr lang="en-US" sz="10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4544568"/>
        </p:xfrm>
        <a:graphic>
          <a:graphicData uri="http://schemas.openxmlformats.org/drawingml/2006/table">
            <a:tbl>
              <a:tblPr/>
              <a:tblGrid>
                <a:gridCol w="3017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3422599">
                  <a:extLst>
                    <a:ext uri="{9D8B030D-6E8A-4147-A177-3AD203B41FA5}">
                      <a16:colId xmlns:a16="http://schemas.microsoft.com/office/drawing/2014/main" val="20003"/>
                    </a:ext>
                  </a:extLst>
                </a:gridCol>
              </a:tblGrid>
              <a:tr h="649224">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Risk or assumption</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Impact</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Why it could happen</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tc>
                  <a:txBody>
                    <a:bodyPr/>
                    <a:lstStyle/>
                    <a:p>
                      <a:pPr marL="0" indent="0" algn="l">
                        <a:buNone/>
                      </a:pPr>
                      <a:r>
                        <a:rPr lang="en-US" sz="1020" b="1" dirty="0">
                          <a:solidFill>
                            <a:srgbClr val="FFFFFF"/>
                          </a:solidFill>
                          <a:latin typeface="Calibri" pitchFamily="34" charset="0"/>
                          <a:ea typeface="Calibri" pitchFamily="34" charset="-122"/>
                          <a:cs typeface="Calibri" pitchFamily="34" charset="-120"/>
                        </a:rPr>
                        <a:t>How we handle it</a:t>
                      </a:r>
                      <a:endParaRPr lang="en-US" sz="102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0" cap="flat" cmpd="sng" algn="ctr">
                      <a:noFill/>
                    </a:lnB>
                    <a:solidFill>
                      <a:srgbClr val="0F1E3D"/>
                    </a:solidFill>
                  </a:tcPr>
                </a:tc>
                <a:extLst>
                  <a:ext uri="{0D108BD9-81ED-4DB2-BD59-A6C34878D82A}">
                    <a16:rowId xmlns:a16="http://schemas.microsoft.com/office/drawing/2014/main" val="10000"/>
                  </a:ext>
                </a:extLst>
              </a:tr>
              <a:tr h="649224">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Feedback slower than 3 business days at a gate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High</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Multiple stakeholders, festival season, newsroom pressure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Named product owner with decision authority; timeline shifts transparently, logged at the gate</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0" cap="flat" cmpd="sng" algn="ctr">
                      <a:noFill/>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1"/>
                  </a:ext>
                </a:extLst>
              </a:tr>
              <a:tr h="649224">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Existing CMS harder to integrate than expected</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High</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Unknown until the week 1 systems review</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Adapter-first design; if integration is unviable we ship the console as the primary CMS, decided in week 1</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9224">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App Store or Play review delay or rejection</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Medium</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Policy review on news apps, UGC and subscriptions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Submit at start of week 8 with policy declarations pre-checked; web and PWA launch regardless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3"/>
                  </a:ext>
                </a:extLst>
              </a:tr>
              <a:tr h="649224">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Kannada content quality for AI tagging</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Medium</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Fewer pretrained resources for Kannada NER</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Gazetteer-backed geo-tagging plus editor confirmation; accuracy measured and reported weekly from week 5</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9224">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Scope growth during the build</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Medium</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Good ideas surface once people can click a real app</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Written change-control: anything new is estimated and either swapped in or scheduled for phase 2</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4F7FC"/>
                    </a:solidFill>
                  </a:tcPr>
                </a:tc>
                <a:extLst>
                  <a:ext uri="{0D108BD9-81ED-4DB2-BD59-A6C34878D82A}">
                    <a16:rowId xmlns:a16="http://schemas.microsoft.com/office/drawing/2014/main" val="10005"/>
                  </a:ext>
                </a:extLst>
              </a:tr>
              <a:tr h="649224">
                <a:tc>
                  <a:txBody>
                    <a:bodyPr/>
                    <a:lstStyle/>
                    <a:p>
                      <a:pPr marL="0" indent="0" algn="l">
                        <a:buNone/>
                      </a:pPr>
                      <a:r>
                        <a:rPr lang="en-US" sz="1060" b="1" dirty="0">
                          <a:solidFill>
                            <a:srgbClr val="0F1E3D"/>
                          </a:solidFill>
                          <a:latin typeface="Calibri" pitchFamily="34" charset="0"/>
                          <a:ea typeface="Calibri" pitchFamily="34" charset="-122"/>
                          <a:cs typeface="Calibri" pitchFamily="34" charset="-120"/>
                        </a:rPr>
                        <a:t>Ad and classifieds revenue depends on sales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Medium</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Software cannot sign advertisers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tc>
                  <a:txBody>
                    <a:bodyPr/>
                    <a:lstStyle/>
                    <a:p>
                      <a:pPr marL="0" indent="0" algn="l">
                        <a:buNone/>
                      </a:pPr>
                      <a:r>
                        <a:rPr lang="en-US" sz="1060" dirty="0">
                          <a:solidFill>
                            <a:srgbClr val="4A5568"/>
                          </a:solidFill>
                          <a:latin typeface="Calibri" pitchFamily="34" charset="0"/>
                          <a:ea typeface="Calibri" pitchFamily="34" charset="-122"/>
                          <a:cs typeface="Calibri" pitchFamily="34" charset="-120"/>
                        </a:rPr>
                        <a:t>We deliver the inventory, targeting and reporting; your commercial team runs sales, supported by our dashboards</a:t>
                      </a:r>
                      <a:endParaRPr lang="en-US" sz="1060" dirty="0">
                        <a:latin typeface="Calibri" charset="0"/>
                        <a:ea typeface="Calibri" charset="0"/>
                        <a:cs typeface="Calibri" charset="0"/>
                      </a:endParaRPr>
                    </a:p>
                  </a:txBody>
                  <a:tcPr marL="128016" marR="128016" marT="27432" marB="27432" anchor="ctr">
                    <a:lnL w="0" cap="flat" cmpd="sng" algn="ctr">
                      <a:noFill/>
                    </a:lnL>
                    <a:lnR w="0" cap="flat" cmpd="sng" algn="ctr">
                      <a:noFill/>
                    </a:lnR>
                    <a:lnT w="12700" cap="flat" cmpd="sng" algn="ctr">
                      <a:solidFill>
                        <a:srgbClr val="DFE6F0"/>
                      </a:solidFill>
                      <a:prstDash val="solid"/>
                      <a:round/>
                      <a:headEnd type="none" w="med" len="med"/>
                      <a:tailEnd type="none" w="med" len="med"/>
                    </a:lnT>
                    <a:lnB w="12700" cap="flat" cmpd="sng" algn="ctr">
                      <a:solidFill>
                        <a:srgbClr val="DFE6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Shape 7"/>
          <p:cNvSpPr/>
          <p:nvPr/>
        </p:nvSpPr>
        <p:spPr>
          <a:xfrm>
            <a:off x="566928" y="5614416"/>
            <a:ext cx="11057839" cy="566928"/>
          </a:xfrm>
          <a:prstGeom prst="roundRect">
            <a:avLst>
              <a:gd name="adj" fmla="val 16129"/>
            </a:avLst>
          </a:prstGeom>
          <a:solidFill>
            <a:srgbClr val="F4F7FC"/>
          </a:solidFill>
          <a:ln/>
        </p:spPr>
        <p:txBody>
          <a:bodyPr/>
          <a:lstStyle/>
          <a:p>
            <a:endParaRPr lang="en-AE"/>
          </a:p>
        </p:txBody>
      </p:sp>
      <p:sp>
        <p:nvSpPr>
          <p:cNvPr id="11" name="Text 8"/>
          <p:cNvSpPr txBox="1"/>
          <p:nvPr/>
        </p:nvSpPr>
        <p:spPr>
          <a:xfrm>
            <a:off x="841248" y="5614416"/>
            <a:ext cx="10509199" cy="566928"/>
          </a:xfrm>
          <a:prstGeom prst="rect">
            <a:avLst/>
          </a:prstGeom>
          <a:noFill/>
          <a:ln/>
        </p:spPr>
        <p:txBody>
          <a:bodyPr wrap="square" lIns="0" tIns="0" rIns="0" bIns="0" rtlCol="0" anchor="ctr"/>
          <a:lstStyle/>
          <a:p>
            <a:pPr marL="0" indent="0">
              <a:buNone/>
            </a:pPr>
            <a:r>
              <a:rPr lang="en-US" sz="1080" b="1" dirty="0">
                <a:solidFill>
                  <a:srgbClr val="0F1E3D"/>
                </a:solidFill>
                <a:latin typeface="Calibri" pitchFamily="34" charset="0"/>
                <a:ea typeface="Calibri" pitchFamily="34" charset="-122"/>
                <a:cs typeface="Calibri" pitchFamily="34" charset="-120"/>
              </a:rPr>
              <a:t>Also assumed:  </a:t>
            </a:r>
            <a:r>
              <a:rPr lang="en-US" sz="1080" dirty="0">
                <a:solidFill>
                  <a:srgbClr val="4A5568"/>
                </a:solidFill>
                <a:latin typeface="Calibri" pitchFamily="34" charset="0"/>
                <a:ea typeface="Calibri" pitchFamily="34" charset="-122"/>
                <a:cs typeface="Calibri" pitchFamily="34" charset="-120"/>
              </a:rPr>
              <a:t>News Karnataka provides brand assets and content API access in week 1, owns the cloud and store accounts, and nominates the editorial and commercial reviewers before kickoff. All third-party costs are billed to News Karnataka directly.</a:t>
            </a:r>
            <a:endParaRPr lang="en-US" sz="10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Deliverables &amp; acceptance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Exactly what is handed over, and what has to be true for it to be accepted.</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36</a:t>
            </a:r>
            <a:endParaRPr lang="en-US" sz="1050" dirty="0"/>
          </a:p>
        </p:txBody>
      </p:sp>
      <p:sp>
        <p:nvSpPr>
          <p:cNvPr id="9" name="Shape 7"/>
          <p:cNvSpPr/>
          <p:nvPr/>
        </p:nvSpPr>
        <p:spPr>
          <a:xfrm>
            <a:off x="566928" y="1645920"/>
            <a:ext cx="2615184" cy="4023360"/>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786384" y="1847088"/>
            <a:ext cx="457200" cy="457200"/>
          </a:xfrm>
          <a:prstGeom prst="ellipse">
            <a:avLst/>
          </a:prstGeom>
          <a:solidFill>
            <a:srgbClr val="C8102E"/>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891540" y="1952244"/>
            <a:ext cx="246888" cy="246888"/>
          </a:xfrm>
          <a:prstGeom prst="rect">
            <a:avLst/>
          </a:prstGeom>
        </p:spPr>
      </p:pic>
      <p:sp>
        <p:nvSpPr>
          <p:cNvPr id="12" name="Text 9"/>
          <p:cNvSpPr txBox="1"/>
          <p:nvPr/>
        </p:nvSpPr>
        <p:spPr>
          <a:xfrm>
            <a:off x="1353312" y="1847088"/>
            <a:ext cx="1737360" cy="457200"/>
          </a:xfrm>
          <a:prstGeom prst="rect">
            <a:avLst/>
          </a:prstGeom>
          <a:noFill/>
          <a:ln/>
        </p:spPr>
        <p:txBody>
          <a:bodyPr wrap="square" lIns="0" tIns="0" rIns="0" bIns="0" rtlCol="0" anchor="ctr"/>
          <a:lstStyle/>
          <a:p>
            <a:pPr marL="0" indent="0">
              <a:buNone/>
            </a:pPr>
            <a:r>
              <a:rPr lang="en-US" sz="1450" b="1" dirty="0">
                <a:solidFill>
                  <a:srgbClr val="0F1E3D"/>
                </a:solidFill>
                <a:latin typeface="Cambria" pitchFamily="34" charset="0"/>
                <a:ea typeface="Cambria" pitchFamily="34" charset="-122"/>
                <a:cs typeface="Cambria" pitchFamily="34" charset="-120"/>
              </a:rPr>
              <a:t>Product</a:t>
            </a:r>
            <a:endParaRPr lang="en-US" sz="1450" dirty="0"/>
          </a:p>
        </p:txBody>
      </p:sp>
      <p:sp>
        <p:nvSpPr>
          <p:cNvPr id="13" name="Shape 10"/>
          <p:cNvSpPr/>
          <p:nvPr/>
        </p:nvSpPr>
        <p:spPr>
          <a:xfrm>
            <a:off x="804672" y="2587752"/>
            <a:ext cx="219456" cy="219456"/>
          </a:xfrm>
          <a:prstGeom prst="ellipse">
            <a:avLst/>
          </a:prstGeom>
          <a:solidFill>
            <a:srgbClr val="FFFFFF"/>
          </a:solidFill>
          <a:ln/>
        </p:spPr>
        <p:txBody>
          <a:bodyPr/>
          <a:lstStyle/>
          <a:p>
            <a:endParaRPr lang="en-AE"/>
          </a:p>
        </p:txBody>
      </p:sp>
      <p:pic>
        <p:nvPicPr>
          <p:cNvPr id="14" name="Image 1" descr="preencoded.png"/>
          <p:cNvPicPr>
            <a:picLocks noChangeAspect="1"/>
          </p:cNvPicPr>
          <p:nvPr/>
        </p:nvPicPr>
        <p:blipFill>
          <a:blip r:embed="rId4"/>
          <a:stretch>
            <a:fillRect/>
          </a:stretch>
        </p:blipFill>
        <p:spPr>
          <a:xfrm>
            <a:off x="854964" y="2638044"/>
            <a:ext cx="118872" cy="118872"/>
          </a:xfrm>
          <a:prstGeom prst="rect">
            <a:avLst/>
          </a:prstGeom>
        </p:spPr>
      </p:pic>
      <p:sp>
        <p:nvSpPr>
          <p:cNvPr id="15" name="Text 11"/>
          <p:cNvSpPr txBox="1"/>
          <p:nvPr/>
        </p:nvSpPr>
        <p:spPr>
          <a:xfrm>
            <a:off x="1115568" y="2542032"/>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iOS app live on the App Store</a:t>
            </a:r>
            <a:endParaRPr lang="en-US" sz="1060" dirty="0"/>
          </a:p>
        </p:txBody>
      </p:sp>
      <p:sp>
        <p:nvSpPr>
          <p:cNvPr id="16" name="Shape 12"/>
          <p:cNvSpPr/>
          <p:nvPr/>
        </p:nvSpPr>
        <p:spPr>
          <a:xfrm>
            <a:off x="804672" y="3191256"/>
            <a:ext cx="219456" cy="219456"/>
          </a:xfrm>
          <a:prstGeom prst="ellipse">
            <a:avLst/>
          </a:prstGeom>
          <a:solidFill>
            <a:srgbClr val="FFFFFF"/>
          </a:solidFill>
          <a:ln/>
        </p:spPr>
        <p:txBody>
          <a:bodyPr/>
          <a:lstStyle/>
          <a:p>
            <a:endParaRPr lang="en-AE"/>
          </a:p>
        </p:txBody>
      </p:sp>
      <p:pic>
        <p:nvPicPr>
          <p:cNvPr id="17" name="Image 2" descr="preencoded.png"/>
          <p:cNvPicPr>
            <a:picLocks noChangeAspect="1"/>
          </p:cNvPicPr>
          <p:nvPr/>
        </p:nvPicPr>
        <p:blipFill>
          <a:blip r:embed="rId4"/>
          <a:stretch>
            <a:fillRect/>
          </a:stretch>
        </p:blipFill>
        <p:spPr>
          <a:xfrm>
            <a:off x="854964" y="3241548"/>
            <a:ext cx="118872" cy="118872"/>
          </a:xfrm>
          <a:prstGeom prst="rect">
            <a:avLst/>
          </a:prstGeom>
        </p:spPr>
      </p:pic>
      <p:sp>
        <p:nvSpPr>
          <p:cNvPr id="18" name="Text 13"/>
          <p:cNvSpPr txBox="1"/>
          <p:nvPr/>
        </p:nvSpPr>
        <p:spPr>
          <a:xfrm>
            <a:off x="1115568" y="3145536"/>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Android app live on Google Play</a:t>
            </a:r>
            <a:endParaRPr lang="en-US" sz="1060" dirty="0"/>
          </a:p>
        </p:txBody>
      </p:sp>
      <p:sp>
        <p:nvSpPr>
          <p:cNvPr id="19" name="Shape 14"/>
          <p:cNvSpPr/>
          <p:nvPr/>
        </p:nvSpPr>
        <p:spPr>
          <a:xfrm>
            <a:off x="804672" y="3794760"/>
            <a:ext cx="219456" cy="219456"/>
          </a:xfrm>
          <a:prstGeom prst="ellipse">
            <a:avLst/>
          </a:prstGeom>
          <a:solidFill>
            <a:srgbClr val="FFFFFF"/>
          </a:solidFill>
          <a:ln/>
        </p:spPr>
        <p:txBody>
          <a:bodyPr/>
          <a:lstStyle/>
          <a:p>
            <a:endParaRPr lang="en-AE"/>
          </a:p>
        </p:txBody>
      </p:sp>
      <p:pic>
        <p:nvPicPr>
          <p:cNvPr id="20" name="Image 3" descr="preencoded.png"/>
          <p:cNvPicPr>
            <a:picLocks noChangeAspect="1"/>
          </p:cNvPicPr>
          <p:nvPr/>
        </p:nvPicPr>
        <p:blipFill>
          <a:blip r:embed="rId4"/>
          <a:stretch>
            <a:fillRect/>
          </a:stretch>
        </p:blipFill>
        <p:spPr>
          <a:xfrm>
            <a:off x="854964" y="3845052"/>
            <a:ext cx="118872" cy="118872"/>
          </a:xfrm>
          <a:prstGeom prst="rect">
            <a:avLst/>
          </a:prstGeom>
        </p:spPr>
      </p:pic>
      <p:sp>
        <p:nvSpPr>
          <p:cNvPr id="21" name="Text 15"/>
          <p:cNvSpPr txBox="1"/>
          <p:nvPr/>
        </p:nvSpPr>
        <p:spPr>
          <a:xfrm>
            <a:off x="1115568" y="3749040"/>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Responsive web app on your domain</a:t>
            </a:r>
            <a:endParaRPr lang="en-US" sz="1060" dirty="0"/>
          </a:p>
        </p:txBody>
      </p:sp>
      <p:sp>
        <p:nvSpPr>
          <p:cNvPr id="22" name="Shape 16"/>
          <p:cNvSpPr/>
          <p:nvPr/>
        </p:nvSpPr>
        <p:spPr>
          <a:xfrm>
            <a:off x="804672" y="4398264"/>
            <a:ext cx="219456" cy="219456"/>
          </a:xfrm>
          <a:prstGeom prst="ellipse">
            <a:avLst/>
          </a:prstGeom>
          <a:solidFill>
            <a:srgbClr val="FFFFFF"/>
          </a:solidFill>
          <a:ln/>
        </p:spPr>
        <p:txBody>
          <a:bodyPr/>
          <a:lstStyle/>
          <a:p>
            <a:endParaRPr lang="en-AE"/>
          </a:p>
        </p:txBody>
      </p:sp>
      <p:pic>
        <p:nvPicPr>
          <p:cNvPr id="23" name="Image 4" descr="preencoded.png"/>
          <p:cNvPicPr>
            <a:picLocks noChangeAspect="1"/>
          </p:cNvPicPr>
          <p:nvPr/>
        </p:nvPicPr>
        <p:blipFill>
          <a:blip r:embed="rId4"/>
          <a:stretch>
            <a:fillRect/>
          </a:stretch>
        </p:blipFill>
        <p:spPr>
          <a:xfrm>
            <a:off x="854964" y="4448556"/>
            <a:ext cx="118872" cy="118872"/>
          </a:xfrm>
          <a:prstGeom prst="rect">
            <a:avLst/>
          </a:prstGeom>
        </p:spPr>
      </p:pic>
      <p:sp>
        <p:nvSpPr>
          <p:cNvPr id="24" name="Text 17"/>
          <p:cNvSpPr txBox="1"/>
          <p:nvPr/>
        </p:nvSpPr>
        <p:spPr>
          <a:xfrm>
            <a:off x="1115568" y="4352544"/>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Installable PWA with offline support</a:t>
            </a:r>
            <a:endParaRPr lang="en-US" sz="1060" dirty="0"/>
          </a:p>
        </p:txBody>
      </p:sp>
      <p:sp>
        <p:nvSpPr>
          <p:cNvPr id="25" name="Shape 18"/>
          <p:cNvSpPr/>
          <p:nvPr/>
        </p:nvSpPr>
        <p:spPr>
          <a:xfrm>
            <a:off x="804672" y="5001768"/>
            <a:ext cx="219456" cy="219456"/>
          </a:xfrm>
          <a:prstGeom prst="ellipse">
            <a:avLst/>
          </a:prstGeom>
          <a:solidFill>
            <a:srgbClr val="FFFFFF"/>
          </a:solidFill>
          <a:ln/>
        </p:spPr>
        <p:txBody>
          <a:bodyPr/>
          <a:lstStyle/>
          <a:p>
            <a:endParaRPr lang="en-AE"/>
          </a:p>
        </p:txBody>
      </p:sp>
      <p:pic>
        <p:nvPicPr>
          <p:cNvPr id="26" name="Image 5" descr="preencoded.png"/>
          <p:cNvPicPr>
            <a:picLocks noChangeAspect="1"/>
          </p:cNvPicPr>
          <p:nvPr/>
        </p:nvPicPr>
        <p:blipFill>
          <a:blip r:embed="rId4"/>
          <a:stretch>
            <a:fillRect/>
          </a:stretch>
        </p:blipFill>
        <p:spPr>
          <a:xfrm>
            <a:off x="854964" y="5052060"/>
            <a:ext cx="118872" cy="118872"/>
          </a:xfrm>
          <a:prstGeom prst="rect">
            <a:avLst/>
          </a:prstGeom>
        </p:spPr>
      </p:pic>
      <p:sp>
        <p:nvSpPr>
          <p:cNvPr id="27" name="Text 19"/>
          <p:cNvSpPr txBox="1"/>
          <p:nvPr/>
        </p:nvSpPr>
        <p:spPr>
          <a:xfrm>
            <a:off x="1115568" y="4956048"/>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Newsroom console, role-based access</a:t>
            </a:r>
            <a:endParaRPr lang="en-US" sz="1060" dirty="0"/>
          </a:p>
        </p:txBody>
      </p:sp>
      <p:sp>
        <p:nvSpPr>
          <p:cNvPr id="28" name="Shape 20"/>
          <p:cNvSpPr/>
          <p:nvPr/>
        </p:nvSpPr>
        <p:spPr>
          <a:xfrm>
            <a:off x="3392424" y="1645920"/>
            <a:ext cx="2615184" cy="4023360"/>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9" name="Shape 21"/>
          <p:cNvSpPr/>
          <p:nvPr/>
        </p:nvSpPr>
        <p:spPr>
          <a:xfrm>
            <a:off x="3611880" y="1847088"/>
            <a:ext cx="457200" cy="457200"/>
          </a:xfrm>
          <a:prstGeom prst="ellipse">
            <a:avLst/>
          </a:prstGeom>
          <a:solidFill>
            <a:srgbClr val="0F1E3D"/>
          </a:solidFill>
          <a:ln/>
        </p:spPr>
        <p:txBody>
          <a:bodyPr/>
          <a:lstStyle/>
          <a:p>
            <a:endParaRPr lang="en-AE"/>
          </a:p>
        </p:txBody>
      </p:sp>
      <p:pic>
        <p:nvPicPr>
          <p:cNvPr id="30" name="Image 6" descr="preencoded.png"/>
          <p:cNvPicPr>
            <a:picLocks noChangeAspect="1"/>
          </p:cNvPicPr>
          <p:nvPr/>
        </p:nvPicPr>
        <p:blipFill>
          <a:blip r:embed="rId5"/>
          <a:stretch>
            <a:fillRect/>
          </a:stretch>
        </p:blipFill>
        <p:spPr>
          <a:xfrm>
            <a:off x="3717036" y="1952244"/>
            <a:ext cx="246888" cy="246888"/>
          </a:xfrm>
          <a:prstGeom prst="rect">
            <a:avLst/>
          </a:prstGeom>
        </p:spPr>
      </p:pic>
      <p:sp>
        <p:nvSpPr>
          <p:cNvPr id="31" name="Text 22"/>
          <p:cNvSpPr txBox="1"/>
          <p:nvPr/>
        </p:nvSpPr>
        <p:spPr>
          <a:xfrm>
            <a:off x="4178808" y="1847088"/>
            <a:ext cx="1737360" cy="457200"/>
          </a:xfrm>
          <a:prstGeom prst="rect">
            <a:avLst/>
          </a:prstGeom>
          <a:noFill/>
          <a:ln/>
        </p:spPr>
        <p:txBody>
          <a:bodyPr wrap="square" lIns="0" tIns="0" rIns="0" bIns="0" rtlCol="0" anchor="ctr"/>
          <a:lstStyle/>
          <a:p>
            <a:pPr marL="0" indent="0">
              <a:buNone/>
            </a:pPr>
            <a:r>
              <a:rPr lang="en-US" sz="1450" b="1" dirty="0">
                <a:solidFill>
                  <a:srgbClr val="0F1E3D"/>
                </a:solidFill>
                <a:latin typeface="Cambria" pitchFamily="34" charset="0"/>
                <a:ea typeface="Cambria" pitchFamily="34" charset="-122"/>
                <a:cs typeface="Cambria" pitchFamily="34" charset="-120"/>
              </a:rPr>
              <a:t>Engineering</a:t>
            </a:r>
            <a:endParaRPr lang="en-US" sz="1450" dirty="0"/>
          </a:p>
        </p:txBody>
      </p:sp>
      <p:sp>
        <p:nvSpPr>
          <p:cNvPr id="32" name="Shape 23"/>
          <p:cNvSpPr/>
          <p:nvPr/>
        </p:nvSpPr>
        <p:spPr>
          <a:xfrm>
            <a:off x="3630168" y="2587752"/>
            <a:ext cx="219456" cy="219456"/>
          </a:xfrm>
          <a:prstGeom prst="ellipse">
            <a:avLst/>
          </a:prstGeom>
          <a:solidFill>
            <a:srgbClr val="FFFFFF"/>
          </a:solidFill>
          <a:ln/>
        </p:spPr>
        <p:txBody>
          <a:bodyPr/>
          <a:lstStyle/>
          <a:p>
            <a:endParaRPr lang="en-AE"/>
          </a:p>
        </p:txBody>
      </p:sp>
      <p:pic>
        <p:nvPicPr>
          <p:cNvPr id="33" name="Image 7" descr="preencoded.png"/>
          <p:cNvPicPr>
            <a:picLocks noChangeAspect="1"/>
          </p:cNvPicPr>
          <p:nvPr/>
        </p:nvPicPr>
        <p:blipFill>
          <a:blip r:embed="rId4"/>
          <a:stretch>
            <a:fillRect/>
          </a:stretch>
        </p:blipFill>
        <p:spPr>
          <a:xfrm>
            <a:off x="3680460" y="2638044"/>
            <a:ext cx="118872" cy="118872"/>
          </a:xfrm>
          <a:prstGeom prst="rect">
            <a:avLst/>
          </a:prstGeom>
        </p:spPr>
      </p:pic>
      <p:sp>
        <p:nvSpPr>
          <p:cNvPr id="34" name="Text 24"/>
          <p:cNvSpPr txBox="1"/>
          <p:nvPr/>
        </p:nvSpPr>
        <p:spPr>
          <a:xfrm>
            <a:off x="3941064" y="2542032"/>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All source code in your repositories</a:t>
            </a:r>
            <a:endParaRPr lang="en-US" sz="1060" dirty="0"/>
          </a:p>
        </p:txBody>
      </p:sp>
      <p:sp>
        <p:nvSpPr>
          <p:cNvPr id="35" name="Shape 25"/>
          <p:cNvSpPr/>
          <p:nvPr/>
        </p:nvSpPr>
        <p:spPr>
          <a:xfrm>
            <a:off x="3630168" y="3191256"/>
            <a:ext cx="219456" cy="219456"/>
          </a:xfrm>
          <a:prstGeom prst="ellipse">
            <a:avLst/>
          </a:prstGeom>
          <a:solidFill>
            <a:srgbClr val="FFFFFF"/>
          </a:solidFill>
          <a:ln/>
        </p:spPr>
        <p:txBody>
          <a:bodyPr/>
          <a:lstStyle/>
          <a:p>
            <a:endParaRPr lang="en-AE"/>
          </a:p>
        </p:txBody>
      </p:sp>
      <p:pic>
        <p:nvPicPr>
          <p:cNvPr id="36" name="Image 8" descr="preencoded.png"/>
          <p:cNvPicPr>
            <a:picLocks noChangeAspect="1"/>
          </p:cNvPicPr>
          <p:nvPr/>
        </p:nvPicPr>
        <p:blipFill>
          <a:blip r:embed="rId4"/>
          <a:stretch>
            <a:fillRect/>
          </a:stretch>
        </p:blipFill>
        <p:spPr>
          <a:xfrm>
            <a:off x="3680460" y="3241548"/>
            <a:ext cx="118872" cy="118872"/>
          </a:xfrm>
          <a:prstGeom prst="rect">
            <a:avLst/>
          </a:prstGeom>
        </p:spPr>
      </p:pic>
      <p:sp>
        <p:nvSpPr>
          <p:cNvPr id="37" name="Text 26"/>
          <p:cNvSpPr txBox="1"/>
          <p:nvPr/>
        </p:nvSpPr>
        <p:spPr>
          <a:xfrm>
            <a:off x="3941064" y="3145536"/>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Infrastructure defined as code</a:t>
            </a:r>
            <a:endParaRPr lang="en-US" sz="1060" dirty="0"/>
          </a:p>
        </p:txBody>
      </p:sp>
      <p:sp>
        <p:nvSpPr>
          <p:cNvPr id="38" name="Shape 27"/>
          <p:cNvSpPr/>
          <p:nvPr/>
        </p:nvSpPr>
        <p:spPr>
          <a:xfrm>
            <a:off x="3630168" y="3794760"/>
            <a:ext cx="219456" cy="219456"/>
          </a:xfrm>
          <a:prstGeom prst="ellipse">
            <a:avLst/>
          </a:prstGeom>
          <a:solidFill>
            <a:srgbClr val="FFFFFF"/>
          </a:solidFill>
          <a:ln/>
        </p:spPr>
        <p:txBody>
          <a:bodyPr/>
          <a:lstStyle/>
          <a:p>
            <a:endParaRPr lang="en-AE"/>
          </a:p>
        </p:txBody>
      </p:sp>
      <p:pic>
        <p:nvPicPr>
          <p:cNvPr id="39" name="Image 9" descr="preencoded.png"/>
          <p:cNvPicPr>
            <a:picLocks noChangeAspect="1"/>
          </p:cNvPicPr>
          <p:nvPr/>
        </p:nvPicPr>
        <p:blipFill>
          <a:blip r:embed="rId4"/>
          <a:stretch>
            <a:fillRect/>
          </a:stretch>
        </p:blipFill>
        <p:spPr>
          <a:xfrm>
            <a:off x="3680460" y="3845052"/>
            <a:ext cx="118872" cy="118872"/>
          </a:xfrm>
          <a:prstGeom prst="rect">
            <a:avLst/>
          </a:prstGeom>
        </p:spPr>
      </p:pic>
      <p:sp>
        <p:nvSpPr>
          <p:cNvPr id="40" name="Text 28"/>
          <p:cNvSpPr txBox="1"/>
          <p:nvPr/>
        </p:nvSpPr>
        <p:spPr>
          <a:xfrm>
            <a:off x="3941064" y="3749040"/>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CI/CD pipelines and environments</a:t>
            </a:r>
            <a:endParaRPr lang="en-US" sz="1060" dirty="0"/>
          </a:p>
        </p:txBody>
      </p:sp>
      <p:sp>
        <p:nvSpPr>
          <p:cNvPr id="41" name="Shape 29"/>
          <p:cNvSpPr/>
          <p:nvPr/>
        </p:nvSpPr>
        <p:spPr>
          <a:xfrm>
            <a:off x="3630168" y="4398264"/>
            <a:ext cx="219456" cy="219456"/>
          </a:xfrm>
          <a:prstGeom prst="ellipse">
            <a:avLst/>
          </a:prstGeom>
          <a:solidFill>
            <a:srgbClr val="FFFFFF"/>
          </a:solidFill>
          <a:ln/>
        </p:spPr>
        <p:txBody>
          <a:bodyPr/>
          <a:lstStyle/>
          <a:p>
            <a:endParaRPr lang="en-AE"/>
          </a:p>
        </p:txBody>
      </p:sp>
      <p:pic>
        <p:nvPicPr>
          <p:cNvPr id="42" name="Image 10" descr="preencoded.png"/>
          <p:cNvPicPr>
            <a:picLocks noChangeAspect="1"/>
          </p:cNvPicPr>
          <p:nvPr/>
        </p:nvPicPr>
        <p:blipFill>
          <a:blip r:embed="rId4"/>
          <a:stretch>
            <a:fillRect/>
          </a:stretch>
        </p:blipFill>
        <p:spPr>
          <a:xfrm>
            <a:off x="3680460" y="4448556"/>
            <a:ext cx="118872" cy="118872"/>
          </a:xfrm>
          <a:prstGeom prst="rect">
            <a:avLst/>
          </a:prstGeom>
        </p:spPr>
      </p:pic>
      <p:sp>
        <p:nvSpPr>
          <p:cNvPr id="43" name="Text 30"/>
          <p:cNvSpPr txBox="1"/>
          <p:nvPr/>
        </p:nvSpPr>
        <p:spPr>
          <a:xfrm>
            <a:off x="3941064" y="4352544"/>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Automated test suite, 80%+ on logic</a:t>
            </a:r>
            <a:endParaRPr lang="en-US" sz="1060" dirty="0"/>
          </a:p>
        </p:txBody>
      </p:sp>
      <p:sp>
        <p:nvSpPr>
          <p:cNvPr id="44" name="Shape 31"/>
          <p:cNvSpPr/>
          <p:nvPr/>
        </p:nvSpPr>
        <p:spPr>
          <a:xfrm>
            <a:off x="3630168" y="5001768"/>
            <a:ext cx="219456" cy="219456"/>
          </a:xfrm>
          <a:prstGeom prst="ellipse">
            <a:avLst/>
          </a:prstGeom>
          <a:solidFill>
            <a:srgbClr val="FFFFFF"/>
          </a:solidFill>
          <a:ln/>
        </p:spPr>
        <p:txBody>
          <a:bodyPr/>
          <a:lstStyle/>
          <a:p>
            <a:endParaRPr lang="en-AE"/>
          </a:p>
        </p:txBody>
      </p:sp>
      <p:pic>
        <p:nvPicPr>
          <p:cNvPr id="45" name="Image 11" descr="preencoded.png"/>
          <p:cNvPicPr>
            <a:picLocks noChangeAspect="1"/>
          </p:cNvPicPr>
          <p:nvPr/>
        </p:nvPicPr>
        <p:blipFill>
          <a:blip r:embed="rId4"/>
          <a:stretch>
            <a:fillRect/>
          </a:stretch>
        </p:blipFill>
        <p:spPr>
          <a:xfrm>
            <a:off x="3680460" y="5052060"/>
            <a:ext cx="118872" cy="118872"/>
          </a:xfrm>
          <a:prstGeom prst="rect">
            <a:avLst/>
          </a:prstGeom>
        </p:spPr>
      </p:pic>
      <p:sp>
        <p:nvSpPr>
          <p:cNvPr id="46" name="Text 32"/>
          <p:cNvSpPr txBox="1"/>
          <p:nvPr/>
        </p:nvSpPr>
        <p:spPr>
          <a:xfrm>
            <a:off x="3941064" y="4956048"/>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Load, security and chaos test reports</a:t>
            </a:r>
            <a:endParaRPr lang="en-US" sz="1060" dirty="0"/>
          </a:p>
        </p:txBody>
      </p:sp>
      <p:sp>
        <p:nvSpPr>
          <p:cNvPr id="47" name="Shape 33"/>
          <p:cNvSpPr/>
          <p:nvPr/>
        </p:nvSpPr>
        <p:spPr>
          <a:xfrm>
            <a:off x="6217920" y="1645920"/>
            <a:ext cx="2615184" cy="4023360"/>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48" name="Shape 34"/>
          <p:cNvSpPr/>
          <p:nvPr/>
        </p:nvSpPr>
        <p:spPr>
          <a:xfrm>
            <a:off x="6437376" y="1847088"/>
            <a:ext cx="457200" cy="457200"/>
          </a:xfrm>
          <a:prstGeom prst="ellipse">
            <a:avLst/>
          </a:prstGeom>
          <a:solidFill>
            <a:srgbClr val="F0A81C"/>
          </a:solidFill>
          <a:ln/>
        </p:spPr>
        <p:txBody>
          <a:bodyPr/>
          <a:lstStyle/>
          <a:p>
            <a:endParaRPr lang="en-AE"/>
          </a:p>
        </p:txBody>
      </p:sp>
      <p:pic>
        <p:nvPicPr>
          <p:cNvPr id="49" name="Image 12" descr="preencoded.png"/>
          <p:cNvPicPr>
            <a:picLocks noChangeAspect="1"/>
          </p:cNvPicPr>
          <p:nvPr/>
        </p:nvPicPr>
        <p:blipFill>
          <a:blip r:embed="rId6"/>
          <a:stretch>
            <a:fillRect/>
          </a:stretch>
        </p:blipFill>
        <p:spPr>
          <a:xfrm>
            <a:off x="6542532" y="1952244"/>
            <a:ext cx="246888" cy="246888"/>
          </a:xfrm>
          <a:prstGeom prst="rect">
            <a:avLst/>
          </a:prstGeom>
        </p:spPr>
      </p:pic>
      <p:sp>
        <p:nvSpPr>
          <p:cNvPr id="50" name="Text 35"/>
          <p:cNvSpPr txBox="1"/>
          <p:nvPr/>
        </p:nvSpPr>
        <p:spPr>
          <a:xfrm>
            <a:off x="7004304" y="1847088"/>
            <a:ext cx="1737360" cy="457200"/>
          </a:xfrm>
          <a:prstGeom prst="rect">
            <a:avLst/>
          </a:prstGeom>
          <a:noFill/>
          <a:ln/>
        </p:spPr>
        <p:txBody>
          <a:bodyPr wrap="square" lIns="0" tIns="0" rIns="0" bIns="0" rtlCol="0" anchor="ctr"/>
          <a:lstStyle/>
          <a:p>
            <a:pPr marL="0" indent="0">
              <a:buNone/>
            </a:pPr>
            <a:r>
              <a:rPr lang="en-US" sz="1450" b="1" dirty="0">
                <a:solidFill>
                  <a:srgbClr val="0F1E3D"/>
                </a:solidFill>
                <a:latin typeface="Cambria" pitchFamily="34" charset="0"/>
                <a:ea typeface="Cambria" pitchFamily="34" charset="-122"/>
                <a:cs typeface="Cambria" pitchFamily="34" charset="-120"/>
              </a:rPr>
              <a:t>Documentation</a:t>
            </a:r>
            <a:endParaRPr lang="en-US" sz="1450" dirty="0"/>
          </a:p>
        </p:txBody>
      </p:sp>
      <p:sp>
        <p:nvSpPr>
          <p:cNvPr id="51" name="Shape 36"/>
          <p:cNvSpPr/>
          <p:nvPr/>
        </p:nvSpPr>
        <p:spPr>
          <a:xfrm>
            <a:off x="6455664" y="2587752"/>
            <a:ext cx="219456" cy="219456"/>
          </a:xfrm>
          <a:prstGeom prst="ellipse">
            <a:avLst/>
          </a:prstGeom>
          <a:solidFill>
            <a:srgbClr val="FFFFFF"/>
          </a:solidFill>
          <a:ln/>
        </p:spPr>
        <p:txBody>
          <a:bodyPr/>
          <a:lstStyle/>
          <a:p>
            <a:endParaRPr lang="en-AE"/>
          </a:p>
        </p:txBody>
      </p:sp>
      <p:pic>
        <p:nvPicPr>
          <p:cNvPr id="52" name="Image 13" descr="preencoded.png"/>
          <p:cNvPicPr>
            <a:picLocks noChangeAspect="1"/>
          </p:cNvPicPr>
          <p:nvPr/>
        </p:nvPicPr>
        <p:blipFill>
          <a:blip r:embed="rId7"/>
          <a:stretch>
            <a:fillRect/>
          </a:stretch>
        </p:blipFill>
        <p:spPr>
          <a:xfrm>
            <a:off x="6505956" y="2638044"/>
            <a:ext cx="118872" cy="118872"/>
          </a:xfrm>
          <a:prstGeom prst="rect">
            <a:avLst/>
          </a:prstGeom>
        </p:spPr>
      </p:pic>
      <p:sp>
        <p:nvSpPr>
          <p:cNvPr id="53" name="Text 37"/>
          <p:cNvSpPr txBox="1"/>
          <p:nvPr/>
        </p:nvSpPr>
        <p:spPr>
          <a:xfrm>
            <a:off x="6766560" y="2542032"/>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Architecture and data-model docs</a:t>
            </a:r>
            <a:endParaRPr lang="en-US" sz="1060" dirty="0"/>
          </a:p>
        </p:txBody>
      </p:sp>
      <p:sp>
        <p:nvSpPr>
          <p:cNvPr id="54" name="Shape 38"/>
          <p:cNvSpPr/>
          <p:nvPr/>
        </p:nvSpPr>
        <p:spPr>
          <a:xfrm>
            <a:off x="6455664" y="3191256"/>
            <a:ext cx="219456" cy="219456"/>
          </a:xfrm>
          <a:prstGeom prst="ellipse">
            <a:avLst/>
          </a:prstGeom>
          <a:solidFill>
            <a:srgbClr val="FFFFFF"/>
          </a:solidFill>
          <a:ln/>
        </p:spPr>
        <p:txBody>
          <a:bodyPr/>
          <a:lstStyle/>
          <a:p>
            <a:endParaRPr lang="en-AE"/>
          </a:p>
        </p:txBody>
      </p:sp>
      <p:pic>
        <p:nvPicPr>
          <p:cNvPr id="55" name="Image 14" descr="preencoded.png"/>
          <p:cNvPicPr>
            <a:picLocks noChangeAspect="1"/>
          </p:cNvPicPr>
          <p:nvPr/>
        </p:nvPicPr>
        <p:blipFill>
          <a:blip r:embed="rId7"/>
          <a:stretch>
            <a:fillRect/>
          </a:stretch>
        </p:blipFill>
        <p:spPr>
          <a:xfrm>
            <a:off x="6505956" y="3241548"/>
            <a:ext cx="118872" cy="118872"/>
          </a:xfrm>
          <a:prstGeom prst="rect">
            <a:avLst/>
          </a:prstGeom>
        </p:spPr>
      </p:pic>
      <p:sp>
        <p:nvSpPr>
          <p:cNvPr id="56" name="Text 39"/>
          <p:cNvSpPr txBox="1"/>
          <p:nvPr/>
        </p:nvSpPr>
        <p:spPr>
          <a:xfrm>
            <a:off x="6766560" y="3145536"/>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API reference for all endpoints</a:t>
            </a:r>
            <a:endParaRPr lang="en-US" sz="1060" dirty="0"/>
          </a:p>
        </p:txBody>
      </p:sp>
      <p:sp>
        <p:nvSpPr>
          <p:cNvPr id="57" name="Shape 40"/>
          <p:cNvSpPr/>
          <p:nvPr/>
        </p:nvSpPr>
        <p:spPr>
          <a:xfrm>
            <a:off x="6455664" y="3794760"/>
            <a:ext cx="219456" cy="219456"/>
          </a:xfrm>
          <a:prstGeom prst="ellipse">
            <a:avLst/>
          </a:prstGeom>
          <a:solidFill>
            <a:srgbClr val="FFFFFF"/>
          </a:solidFill>
          <a:ln/>
        </p:spPr>
        <p:txBody>
          <a:bodyPr/>
          <a:lstStyle/>
          <a:p>
            <a:endParaRPr lang="en-AE"/>
          </a:p>
        </p:txBody>
      </p:sp>
      <p:pic>
        <p:nvPicPr>
          <p:cNvPr id="58" name="Image 15" descr="preencoded.png"/>
          <p:cNvPicPr>
            <a:picLocks noChangeAspect="1"/>
          </p:cNvPicPr>
          <p:nvPr/>
        </p:nvPicPr>
        <p:blipFill>
          <a:blip r:embed="rId7"/>
          <a:stretch>
            <a:fillRect/>
          </a:stretch>
        </p:blipFill>
        <p:spPr>
          <a:xfrm>
            <a:off x="6505956" y="3845052"/>
            <a:ext cx="118872" cy="118872"/>
          </a:xfrm>
          <a:prstGeom prst="rect">
            <a:avLst/>
          </a:prstGeom>
        </p:spPr>
      </p:pic>
      <p:sp>
        <p:nvSpPr>
          <p:cNvPr id="59" name="Text 41"/>
          <p:cNvSpPr txBox="1"/>
          <p:nvPr/>
        </p:nvSpPr>
        <p:spPr>
          <a:xfrm>
            <a:off x="6766560" y="3749040"/>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Newsroom console user guide, bilingual</a:t>
            </a:r>
            <a:endParaRPr lang="en-US" sz="1060" dirty="0"/>
          </a:p>
        </p:txBody>
      </p:sp>
      <p:sp>
        <p:nvSpPr>
          <p:cNvPr id="60" name="Shape 42"/>
          <p:cNvSpPr/>
          <p:nvPr/>
        </p:nvSpPr>
        <p:spPr>
          <a:xfrm>
            <a:off x="6455664" y="4398264"/>
            <a:ext cx="219456" cy="219456"/>
          </a:xfrm>
          <a:prstGeom prst="ellipse">
            <a:avLst/>
          </a:prstGeom>
          <a:solidFill>
            <a:srgbClr val="FFFFFF"/>
          </a:solidFill>
          <a:ln/>
        </p:spPr>
        <p:txBody>
          <a:bodyPr/>
          <a:lstStyle/>
          <a:p>
            <a:endParaRPr lang="en-AE"/>
          </a:p>
        </p:txBody>
      </p:sp>
      <p:pic>
        <p:nvPicPr>
          <p:cNvPr id="61" name="Image 16" descr="preencoded.png"/>
          <p:cNvPicPr>
            <a:picLocks noChangeAspect="1"/>
          </p:cNvPicPr>
          <p:nvPr/>
        </p:nvPicPr>
        <p:blipFill>
          <a:blip r:embed="rId7"/>
          <a:stretch>
            <a:fillRect/>
          </a:stretch>
        </p:blipFill>
        <p:spPr>
          <a:xfrm>
            <a:off x="6505956" y="4448556"/>
            <a:ext cx="118872" cy="118872"/>
          </a:xfrm>
          <a:prstGeom prst="rect">
            <a:avLst/>
          </a:prstGeom>
        </p:spPr>
      </p:pic>
      <p:sp>
        <p:nvSpPr>
          <p:cNvPr id="62" name="Text 43"/>
          <p:cNvSpPr txBox="1"/>
          <p:nvPr/>
        </p:nvSpPr>
        <p:spPr>
          <a:xfrm>
            <a:off x="6766560" y="4352544"/>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Operations runbooks and on-call guide</a:t>
            </a:r>
            <a:endParaRPr lang="en-US" sz="1060" dirty="0"/>
          </a:p>
        </p:txBody>
      </p:sp>
      <p:sp>
        <p:nvSpPr>
          <p:cNvPr id="63" name="Shape 44"/>
          <p:cNvSpPr/>
          <p:nvPr/>
        </p:nvSpPr>
        <p:spPr>
          <a:xfrm>
            <a:off x="6455664" y="5001768"/>
            <a:ext cx="219456" cy="219456"/>
          </a:xfrm>
          <a:prstGeom prst="ellipse">
            <a:avLst/>
          </a:prstGeom>
          <a:solidFill>
            <a:srgbClr val="FFFFFF"/>
          </a:solidFill>
          <a:ln/>
        </p:spPr>
        <p:txBody>
          <a:bodyPr/>
          <a:lstStyle/>
          <a:p>
            <a:endParaRPr lang="en-AE"/>
          </a:p>
        </p:txBody>
      </p:sp>
      <p:pic>
        <p:nvPicPr>
          <p:cNvPr id="64" name="Image 17" descr="preencoded.png"/>
          <p:cNvPicPr>
            <a:picLocks noChangeAspect="1"/>
          </p:cNvPicPr>
          <p:nvPr/>
        </p:nvPicPr>
        <p:blipFill>
          <a:blip r:embed="rId7"/>
          <a:stretch>
            <a:fillRect/>
          </a:stretch>
        </p:blipFill>
        <p:spPr>
          <a:xfrm>
            <a:off x="6505956" y="5052060"/>
            <a:ext cx="118872" cy="118872"/>
          </a:xfrm>
          <a:prstGeom prst="rect">
            <a:avLst/>
          </a:prstGeom>
        </p:spPr>
      </p:pic>
      <p:sp>
        <p:nvSpPr>
          <p:cNvPr id="65" name="Text 45"/>
          <p:cNvSpPr txBox="1"/>
          <p:nvPr/>
        </p:nvSpPr>
        <p:spPr>
          <a:xfrm>
            <a:off x="6766560" y="4956048"/>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Figma design system and all screens</a:t>
            </a:r>
            <a:endParaRPr lang="en-US" sz="1060" dirty="0"/>
          </a:p>
        </p:txBody>
      </p:sp>
      <p:sp>
        <p:nvSpPr>
          <p:cNvPr id="66" name="Shape 46"/>
          <p:cNvSpPr/>
          <p:nvPr/>
        </p:nvSpPr>
        <p:spPr>
          <a:xfrm>
            <a:off x="9043416" y="1645920"/>
            <a:ext cx="2615184" cy="4023360"/>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67" name="Shape 47"/>
          <p:cNvSpPr/>
          <p:nvPr/>
        </p:nvSpPr>
        <p:spPr>
          <a:xfrm>
            <a:off x="9262872" y="1847088"/>
            <a:ext cx="457200" cy="457200"/>
          </a:xfrm>
          <a:prstGeom prst="ellipse">
            <a:avLst/>
          </a:prstGeom>
          <a:solidFill>
            <a:srgbClr val="1B3160"/>
          </a:solidFill>
          <a:ln/>
        </p:spPr>
        <p:txBody>
          <a:bodyPr/>
          <a:lstStyle/>
          <a:p>
            <a:endParaRPr lang="en-AE"/>
          </a:p>
        </p:txBody>
      </p:sp>
      <p:pic>
        <p:nvPicPr>
          <p:cNvPr id="68" name="Image 18" descr="preencoded.png"/>
          <p:cNvPicPr>
            <a:picLocks noChangeAspect="1"/>
          </p:cNvPicPr>
          <p:nvPr/>
        </p:nvPicPr>
        <p:blipFill>
          <a:blip r:embed="rId8"/>
          <a:stretch>
            <a:fillRect/>
          </a:stretch>
        </p:blipFill>
        <p:spPr>
          <a:xfrm>
            <a:off x="9368028" y="1952244"/>
            <a:ext cx="246888" cy="246888"/>
          </a:xfrm>
          <a:prstGeom prst="rect">
            <a:avLst/>
          </a:prstGeom>
        </p:spPr>
      </p:pic>
      <p:sp>
        <p:nvSpPr>
          <p:cNvPr id="69" name="Text 48"/>
          <p:cNvSpPr txBox="1"/>
          <p:nvPr/>
        </p:nvSpPr>
        <p:spPr>
          <a:xfrm>
            <a:off x="9829800" y="1847088"/>
            <a:ext cx="1737360" cy="457200"/>
          </a:xfrm>
          <a:prstGeom prst="rect">
            <a:avLst/>
          </a:prstGeom>
          <a:noFill/>
          <a:ln/>
        </p:spPr>
        <p:txBody>
          <a:bodyPr wrap="square" lIns="0" tIns="0" rIns="0" bIns="0" rtlCol="0" anchor="ctr"/>
          <a:lstStyle/>
          <a:p>
            <a:pPr marL="0" indent="0">
              <a:buNone/>
            </a:pPr>
            <a:r>
              <a:rPr lang="en-US" sz="1450" b="1" dirty="0">
                <a:solidFill>
                  <a:srgbClr val="0F1E3D"/>
                </a:solidFill>
                <a:latin typeface="Cambria" pitchFamily="34" charset="0"/>
                <a:ea typeface="Cambria" pitchFamily="34" charset="-122"/>
                <a:cs typeface="Cambria" pitchFamily="34" charset="-120"/>
              </a:rPr>
              <a:t>Acceptance criteria</a:t>
            </a:r>
            <a:endParaRPr lang="en-US" sz="1450" dirty="0"/>
          </a:p>
        </p:txBody>
      </p:sp>
      <p:sp>
        <p:nvSpPr>
          <p:cNvPr id="70" name="Shape 49"/>
          <p:cNvSpPr/>
          <p:nvPr/>
        </p:nvSpPr>
        <p:spPr>
          <a:xfrm>
            <a:off x="9281160" y="2587752"/>
            <a:ext cx="219456" cy="219456"/>
          </a:xfrm>
          <a:prstGeom prst="ellipse">
            <a:avLst/>
          </a:prstGeom>
          <a:solidFill>
            <a:srgbClr val="FFFFFF"/>
          </a:solidFill>
          <a:ln/>
        </p:spPr>
        <p:txBody>
          <a:bodyPr/>
          <a:lstStyle/>
          <a:p>
            <a:endParaRPr lang="en-AE"/>
          </a:p>
        </p:txBody>
      </p:sp>
      <p:pic>
        <p:nvPicPr>
          <p:cNvPr id="71" name="Image 19" descr="preencoded.png"/>
          <p:cNvPicPr>
            <a:picLocks noChangeAspect="1"/>
          </p:cNvPicPr>
          <p:nvPr/>
        </p:nvPicPr>
        <p:blipFill>
          <a:blip r:embed="rId4"/>
          <a:stretch>
            <a:fillRect/>
          </a:stretch>
        </p:blipFill>
        <p:spPr>
          <a:xfrm>
            <a:off x="9331452" y="2638044"/>
            <a:ext cx="118872" cy="118872"/>
          </a:xfrm>
          <a:prstGeom prst="rect">
            <a:avLst/>
          </a:prstGeom>
        </p:spPr>
      </p:pic>
      <p:sp>
        <p:nvSpPr>
          <p:cNvPr id="72" name="Text 50"/>
          <p:cNvSpPr txBox="1"/>
          <p:nvPr/>
        </p:nvSpPr>
        <p:spPr>
          <a:xfrm>
            <a:off x="9592056" y="2542032"/>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All page-6 objective tests passed</a:t>
            </a:r>
            <a:endParaRPr lang="en-US" sz="1060" dirty="0"/>
          </a:p>
        </p:txBody>
      </p:sp>
      <p:sp>
        <p:nvSpPr>
          <p:cNvPr id="73" name="Shape 51"/>
          <p:cNvSpPr/>
          <p:nvPr/>
        </p:nvSpPr>
        <p:spPr>
          <a:xfrm>
            <a:off x="9281160" y="3191256"/>
            <a:ext cx="219456" cy="219456"/>
          </a:xfrm>
          <a:prstGeom prst="ellipse">
            <a:avLst/>
          </a:prstGeom>
          <a:solidFill>
            <a:srgbClr val="FFFFFF"/>
          </a:solidFill>
          <a:ln/>
        </p:spPr>
        <p:txBody>
          <a:bodyPr/>
          <a:lstStyle/>
          <a:p>
            <a:endParaRPr lang="en-AE"/>
          </a:p>
        </p:txBody>
      </p:sp>
      <p:pic>
        <p:nvPicPr>
          <p:cNvPr id="74" name="Image 20" descr="preencoded.png"/>
          <p:cNvPicPr>
            <a:picLocks noChangeAspect="1"/>
          </p:cNvPicPr>
          <p:nvPr/>
        </p:nvPicPr>
        <p:blipFill>
          <a:blip r:embed="rId4"/>
          <a:stretch>
            <a:fillRect/>
          </a:stretch>
        </p:blipFill>
        <p:spPr>
          <a:xfrm>
            <a:off x="9331452" y="3241548"/>
            <a:ext cx="118872" cy="118872"/>
          </a:xfrm>
          <a:prstGeom prst="rect">
            <a:avLst/>
          </a:prstGeom>
        </p:spPr>
      </p:pic>
      <p:sp>
        <p:nvSpPr>
          <p:cNvPr id="75" name="Text 52"/>
          <p:cNvSpPr txBox="1"/>
          <p:nvPr/>
        </p:nvSpPr>
        <p:spPr>
          <a:xfrm>
            <a:off x="9592056" y="3145536"/>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Page-21 performance targets met under test</a:t>
            </a:r>
            <a:endParaRPr lang="en-US" sz="1060" dirty="0"/>
          </a:p>
        </p:txBody>
      </p:sp>
      <p:sp>
        <p:nvSpPr>
          <p:cNvPr id="76" name="Shape 53"/>
          <p:cNvSpPr/>
          <p:nvPr/>
        </p:nvSpPr>
        <p:spPr>
          <a:xfrm>
            <a:off x="9281160" y="3794760"/>
            <a:ext cx="219456" cy="219456"/>
          </a:xfrm>
          <a:prstGeom prst="ellipse">
            <a:avLst/>
          </a:prstGeom>
          <a:solidFill>
            <a:srgbClr val="FFFFFF"/>
          </a:solidFill>
          <a:ln/>
        </p:spPr>
        <p:txBody>
          <a:bodyPr/>
          <a:lstStyle/>
          <a:p>
            <a:endParaRPr lang="en-AE"/>
          </a:p>
        </p:txBody>
      </p:sp>
      <p:pic>
        <p:nvPicPr>
          <p:cNvPr id="77" name="Image 21" descr="preencoded.png"/>
          <p:cNvPicPr>
            <a:picLocks noChangeAspect="1"/>
          </p:cNvPicPr>
          <p:nvPr/>
        </p:nvPicPr>
        <p:blipFill>
          <a:blip r:embed="rId4"/>
          <a:stretch>
            <a:fillRect/>
          </a:stretch>
        </p:blipFill>
        <p:spPr>
          <a:xfrm>
            <a:off x="9331452" y="3845052"/>
            <a:ext cx="118872" cy="118872"/>
          </a:xfrm>
          <a:prstGeom prst="rect">
            <a:avLst/>
          </a:prstGeom>
        </p:spPr>
      </p:pic>
      <p:sp>
        <p:nvSpPr>
          <p:cNvPr id="78" name="Text 54"/>
          <p:cNvSpPr txBox="1"/>
          <p:nvPr/>
        </p:nvSpPr>
        <p:spPr>
          <a:xfrm>
            <a:off x="9592056" y="3749040"/>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Zero open critical or high-severity defects</a:t>
            </a:r>
            <a:endParaRPr lang="en-US" sz="1060" dirty="0"/>
          </a:p>
        </p:txBody>
      </p:sp>
      <p:sp>
        <p:nvSpPr>
          <p:cNvPr id="79" name="Shape 55"/>
          <p:cNvSpPr/>
          <p:nvPr/>
        </p:nvSpPr>
        <p:spPr>
          <a:xfrm>
            <a:off x="9281160" y="4398264"/>
            <a:ext cx="219456" cy="219456"/>
          </a:xfrm>
          <a:prstGeom prst="ellipse">
            <a:avLst/>
          </a:prstGeom>
          <a:solidFill>
            <a:srgbClr val="FFFFFF"/>
          </a:solidFill>
          <a:ln/>
        </p:spPr>
        <p:txBody>
          <a:bodyPr/>
          <a:lstStyle/>
          <a:p>
            <a:endParaRPr lang="en-AE"/>
          </a:p>
        </p:txBody>
      </p:sp>
      <p:pic>
        <p:nvPicPr>
          <p:cNvPr id="80" name="Image 22" descr="preencoded.png"/>
          <p:cNvPicPr>
            <a:picLocks noChangeAspect="1"/>
          </p:cNvPicPr>
          <p:nvPr/>
        </p:nvPicPr>
        <p:blipFill>
          <a:blip r:embed="rId4"/>
          <a:stretch>
            <a:fillRect/>
          </a:stretch>
        </p:blipFill>
        <p:spPr>
          <a:xfrm>
            <a:off x="9331452" y="4448556"/>
            <a:ext cx="118872" cy="118872"/>
          </a:xfrm>
          <a:prstGeom prst="rect">
            <a:avLst/>
          </a:prstGeom>
        </p:spPr>
      </p:pic>
      <p:sp>
        <p:nvSpPr>
          <p:cNvPr id="81" name="Text 56"/>
          <p:cNvSpPr txBox="1"/>
          <p:nvPr/>
        </p:nvSpPr>
        <p:spPr>
          <a:xfrm>
            <a:off x="9592056" y="4352544"/>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Security review findings closed</a:t>
            </a:r>
            <a:endParaRPr lang="en-US" sz="1060" dirty="0"/>
          </a:p>
        </p:txBody>
      </p:sp>
      <p:sp>
        <p:nvSpPr>
          <p:cNvPr id="82" name="Shape 57"/>
          <p:cNvSpPr/>
          <p:nvPr/>
        </p:nvSpPr>
        <p:spPr>
          <a:xfrm>
            <a:off x="9281160" y="5001768"/>
            <a:ext cx="219456" cy="219456"/>
          </a:xfrm>
          <a:prstGeom prst="ellipse">
            <a:avLst/>
          </a:prstGeom>
          <a:solidFill>
            <a:srgbClr val="FFFFFF"/>
          </a:solidFill>
          <a:ln/>
        </p:spPr>
        <p:txBody>
          <a:bodyPr/>
          <a:lstStyle/>
          <a:p>
            <a:endParaRPr lang="en-AE"/>
          </a:p>
        </p:txBody>
      </p:sp>
      <p:pic>
        <p:nvPicPr>
          <p:cNvPr id="83" name="Image 23" descr="preencoded.png"/>
          <p:cNvPicPr>
            <a:picLocks noChangeAspect="1"/>
          </p:cNvPicPr>
          <p:nvPr/>
        </p:nvPicPr>
        <p:blipFill>
          <a:blip r:embed="rId4"/>
          <a:stretch>
            <a:fillRect/>
          </a:stretch>
        </p:blipFill>
        <p:spPr>
          <a:xfrm>
            <a:off x="9331452" y="5052060"/>
            <a:ext cx="118872" cy="118872"/>
          </a:xfrm>
          <a:prstGeom prst="rect">
            <a:avLst/>
          </a:prstGeom>
        </p:spPr>
      </p:pic>
      <p:sp>
        <p:nvSpPr>
          <p:cNvPr id="84" name="Text 58"/>
          <p:cNvSpPr txBox="1"/>
          <p:nvPr/>
        </p:nvSpPr>
        <p:spPr>
          <a:xfrm>
            <a:off x="9592056" y="4956048"/>
            <a:ext cx="1920240" cy="548640"/>
          </a:xfrm>
          <a:prstGeom prst="rect">
            <a:avLst/>
          </a:prstGeom>
          <a:noFill/>
          <a:ln/>
        </p:spPr>
        <p:txBody>
          <a:bodyPr wrap="square" lIns="0" tIns="0" rIns="0" bIns="0" rtlCol="0" anchor="t"/>
          <a:lstStyle/>
          <a:p>
            <a:pPr marL="0" indent="0">
              <a:lnSpc>
                <a:spcPct val="105000"/>
              </a:lnSpc>
              <a:buNone/>
            </a:pPr>
            <a:r>
              <a:rPr lang="en-US" sz="1060" dirty="0">
                <a:solidFill>
                  <a:srgbClr val="4A5568"/>
                </a:solidFill>
                <a:latin typeface="Calibri" pitchFamily="34" charset="0"/>
                <a:ea typeface="Calibri" pitchFamily="34" charset="-122"/>
                <a:cs typeface="Calibri" pitchFamily="34" charset="-120"/>
              </a:rPr>
              <a:t>Editors trained and publishing unaided</a:t>
            </a:r>
            <a:endParaRPr lang="en-US" sz="1060" dirty="0"/>
          </a:p>
        </p:txBody>
      </p:sp>
      <p:sp>
        <p:nvSpPr>
          <p:cNvPr id="85" name="Text 59"/>
          <p:cNvSpPr txBox="1"/>
          <p:nvPr/>
        </p:nvSpPr>
        <p:spPr>
          <a:xfrm>
            <a:off x="566928" y="5797296"/>
            <a:ext cx="11057839" cy="274320"/>
          </a:xfrm>
          <a:prstGeom prst="rect">
            <a:avLst/>
          </a:prstGeom>
          <a:noFill/>
          <a:ln/>
        </p:spPr>
        <p:txBody>
          <a:bodyPr wrap="square" lIns="0" tIns="0" rIns="0" bIns="0" rtlCol="0" anchor="ctr"/>
          <a:lstStyle/>
          <a:p>
            <a:pPr marL="0" indent="0">
              <a:buNone/>
            </a:pPr>
            <a:r>
              <a:rPr lang="en-US" sz="1120" dirty="0">
                <a:solidFill>
                  <a:srgbClr val="4A5568"/>
                </a:solidFill>
                <a:latin typeface="Calibri" pitchFamily="34" charset="0"/>
                <a:ea typeface="Calibri" pitchFamily="34" charset="-122"/>
                <a:cs typeface="Calibri" pitchFamily="34" charset="-120"/>
              </a:rPr>
              <a:t>Handover includes a live walkthrough with your engineering and editorial teams, plus recorded training sessions your staff can revisit.</a:t>
            </a:r>
            <a:endParaRPr lang="en-US" sz="11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Why Opus Infinite</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Four reasons this build lands on time and keeps working after we leave.</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37</a:t>
            </a:r>
            <a:endParaRPr lang="en-US" sz="1050" dirty="0"/>
          </a:p>
        </p:txBody>
      </p:sp>
      <p:sp>
        <p:nvSpPr>
          <p:cNvPr id="9" name="Shape 7"/>
          <p:cNvSpPr/>
          <p:nvPr/>
        </p:nvSpPr>
        <p:spPr>
          <a:xfrm>
            <a:off x="566928" y="1700784"/>
            <a:ext cx="5413248" cy="1591056"/>
          </a:xfrm>
          <a:prstGeom prst="roundRect">
            <a:avLst>
              <a:gd name="adj" fmla="val 689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822960" y="1975104"/>
            <a:ext cx="402336" cy="402336"/>
          </a:xfrm>
          <a:prstGeom prst="ellipse">
            <a:avLst/>
          </a:prstGeom>
          <a:solidFill>
            <a:srgbClr val="C8102E"/>
          </a:solidFill>
          <a:ln/>
        </p:spPr>
        <p:txBody>
          <a:bodyPr/>
          <a:lstStyle/>
          <a:p>
            <a:endParaRPr lang="en-AE"/>
          </a:p>
        </p:txBody>
      </p:sp>
      <p:pic>
        <p:nvPicPr>
          <p:cNvPr id="11" name="Image 0" descr="preencoded.png"/>
          <p:cNvPicPr>
            <a:picLocks noChangeAspect="1"/>
          </p:cNvPicPr>
          <p:nvPr/>
        </p:nvPicPr>
        <p:blipFill>
          <a:blip r:embed="rId3"/>
          <a:stretch>
            <a:fillRect/>
          </a:stretch>
        </p:blipFill>
        <p:spPr>
          <a:xfrm>
            <a:off x="918972" y="2075688"/>
            <a:ext cx="210312" cy="210312"/>
          </a:xfrm>
          <a:prstGeom prst="rect">
            <a:avLst/>
          </a:prstGeom>
        </p:spPr>
      </p:pic>
      <p:sp>
        <p:nvSpPr>
          <p:cNvPr id="12" name="Text 9"/>
          <p:cNvSpPr txBox="1"/>
          <p:nvPr/>
        </p:nvSpPr>
        <p:spPr>
          <a:xfrm>
            <a:off x="1371600" y="1956816"/>
            <a:ext cx="4352544" cy="292608"/>
          </a:xfrm>
          <a:prstGeom prst="rect">
            <a:avLst/>
          </a:prstGeom>
          <a:noFill/>
          <a:ln/>
        </p:spPr>
        <p:txBody>
          <a:bodyPr wrap="square" lIns="0" tIns="0" rIns="0" bIns="0" rtlCol="0" anchor="t"/>
          <a:lstStyle/>
          <a:p>
            <a:pPr marL="0" indent="0">
              <a:lnSpc>
                <a:spcPct val="95000"/>
              </a:lnSpc>
              <a:buNone/>
            </a:pPr>
            <a:r>
              <a:rPr lang="en-US" sz="1600" b="1" dirty="0">
                <a:solidFill>
                  <a:srgbClr val="0F1E3D"/>
                </a:solidFill>
                <a:latin typeface="Cambria" pitchFamily="34" charset="0"/>
                <a:ea typeface="Cambria" pitchFamily="34" charset="-122"/>
                <a:cs typeface="Cambria" pitchFamily="34" charset="-120"/>
              </a:rPr>
              <a:t>We ship, then we tune</a:t>
            </a:r>
            <a:endParaRPr lang="en-US" sz="1600" dirty="0"/>
          </a:p>
        </p:txBody>
      </p:sp>
      <p:sp>
        <p:nvSpPr>
          <p:cNvPr id="13" name="Text 10"/>
          <p:cNvSpPr txBox="1"/>
          <p:nvPr/>
        </p:nvSpPr>
        <p:spPr>
          <a:xfrm>
            <a:off x="822960" y="2340864"/>
            <a:ext cx="4901184" cy="694944"/>
          </a:xfrm>
          <a:prstGeom prst="rect">
            <a:avLst/>
          </a:prstGeom>
          <a:noFill/>
          <a:ln/>
        </p:spPr>
        <p:txBody>
          <a:bodyPr wrap="square" lIns="0" tIns="0" rIns="0" bIns="0" rtlCol="0" anchor="t">
            <a:normAutofit/>
          </a:bodyPr>
          <a:lstStyle/>
          <a:p>
            <a:pPr marL="0" indent="0">
              <a:lnSpc>
                <a:spcPct val="106000"/>
              </a:lnSpc>
              <a:spcAft>
                <a:spcPts val="400"/>
              </a:spcAft>
              <a:buNone/>
            </a:pPr>
            <a:r>
              <a:rPr lang="en-US" sz="1260" dirty="0">
                <a:solidFill>
                  <a:srgbClr val="4A5568"/>
                </a:solidFill>
                <a:latin typeface="Calibri" pitchFamily="34" charset="0"/>
                <a:ea typeface="Calibri" pitchFamily="34" charset="-122"/>
                <a:cs typeface="Calibri" pitchFamily="34" charset="-120"/>
              </a:rPr>
              <a:t>Eight weeks to a public launch with four clickable demos along the way. You judge progress by using the product, not by reading a status report.</a:t>
            </a:r>
            <a:endParaRPr lang="en-US" sz="1260" dirty="0"/>
          </a:p>
        </p:txBody>
      </p:sp>
      <p:sp>
        <p:nvSpPr>
          <p:cNvPr id="14" name="Shape 11"/>
          <p:cNvSpPr/>
          <p:nvPr/>
        </p:nvSpPr>
        <p:spPr>
          <a:xfrm>
            <a:off x="6208776" y="1700784"/>
            <a:ext cx="5413248" cy="1591056"/>
          </a:xfrm>
          <a:prstGeom prst="roundRect">
            <a:avLst>
              <a:gd name="adj" fmla="val 689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5" name="Shape 12"/>
          <p:cNvSpPr/>
          <p:nvPr/>
        </p:nvSpPr>
        <p:spPr>
          <a:xfrm>
            <a:off x="6464808" y="1975104"/>
            <a:ext cx="402336" cy="402336"/>
          </a:xfrm>
          <a:prstGeom prst="ellipse">
            <a:avLst/>
          </a:prstGeom>
          <a:solidFill>
            <a:srgbClr val="0F1E3D"/>
          </a:solidFill>
          <a:ln/>
        </p:spPr>
        <p:txBody>
          <a:bodyPr/>
          <a:lstStyle/>
          <a:p>
            <a:endParaRPr lang="en-AE"/>
          </a:p>
        </p:txBody>
      </p:sp>
      <p:pic>
        <p:nvPicPr>
          <p:cNvPr id="16" name="Image 1" descr="preencoded.png"/>
          <p:cNvPicPr>
            <a:picLocks noChangeAspect="1"/>
          </p:cNvPicPr>
          <p:nvPr/>
        </p:nvPicPr>
        <p:blipFill>
          <a:blip r:embed="rId4"/>
          <a:stretch>
            <a:fillRect/>
          </a:stretch>
        </p:blipFill>
        <p:spPr>
          <a:xfrm>
            <a:off x="6560820" y="2075688"/>
            <a:ext cx="210312" cy="210312"/>
          </a:xfrm>
          <a:prstGeom prst="rect">
            <a:avLst/>
          </a:prstGeom>
        </p:spPr>
      </p:pic>
      <p:sp>
        <p:nvSpPr>
          <p:cNvPr id="17" name="Text 13"/>
          <p:cNvSpPr txBox="1"/>
          <p:nvPr/>
        </p:nvSpPr>
        <p:spPr>
          <a:xfrm>
            <a:off x="7013448" y="1956816"/>
            <a:ext cx="4352544" cy="292608"/>
          </a:xfrm>
          <a:prstGeom prst="rect">
            <a:avLst/>
          </a:prstGeom>
          <a:noFill/>
          <a:ln/>
        </p:spPr>
        <p:txBody>
          <a:bodyPr wrap="square" lIns="0" tIns="0" rIns="0" bIns="0" rtlCol="0" anchor="t"/>
          <a:lstStyle/>
          <a:p>
            <a:pPr marL="0" indent="0">
              <a:lnSpc>
                <a:spcPct val="95000"/>
              </a:lnSpc>
              <a:buNone/>
            </a:pPr>
            <a:r>
              <a:rPr lang="en-US" sz="1600" b="1" dirty="0">
                <a:solidFill>
                  <a:srgbClr val="0F1E3D"/>
                </a:solidFill>
                <a:latin typeface="Cambria" pitchFamily="34" charset="0"/>
                <a:ea typeface="Cambria" pitchFamily="34" charset="-122"/>
                <a:cs typeface="Cambria" pitchFamily="34" charset="-120"/>
              </a:rPr>
              <a:t>Applied AI, not AI theatre</a:t>
            </a:r>
            <a:endParaRPr lang="en-US" sz="1600" dirty="0"/>
          </a:p>
        </p:txBody>
      </p:sp>
      <p:sp>
        <p:nvSpPr>
          <p:cNvPr id="18" name="Text 14"/>
          <p:cNvSpPr txBox="1"/>
          <p:nvPr/>
        </p:nvSpPr>
        <p:spPr>
          <a:xfrm>
            <a:off x="6464808" y="2340864"/>
            <a:ext cx="4901184" cy="694944"/>
          </a:xfrm>
          <a:prstGeom prst="rect">
            <a:avLst/>
          </a:prstGeom>
          <a:noFill/>
          <a:ln/>
        </p:spPr>
        <p:txBody>
          <a:bodyPr wrap="square" lIns="0" tIns="0" rIns="0" bIns="0" rtlCol="0" anchor="t">
            <a:normAutofit/>
          </a:bodyPr>
          <a:lstStyle/>
          <a:p>
            <a:pPr marL="0" indent="0">
              <a:lnSpc>
                <a:spcPct val="106000"/>
              </a:lnSpc>
              <a:spcAft>
                <a:spcPts val="400"/>
              </a:spcAft>
              <a:buNone/>
            </a:pPr>
            <a:r>
              <a:rPr lang="en-US" sz="1260" dirty="0">
                <a:solidFill>
                  <a:srgbClr val="4A5568"/>
                </a:solidFill>
                <a:latin typeface="Calibri" pitchFamily="34" charset="0"/>
                <a:ea typeface="Calibri" pitchFamily="34" charset="-122"/>
                <a:cs typeface="Calibri" pitchFamily="34" charset="-120"/>
              </a:rPr>
              <a:t>The intelligence layer does four specific, measurable jobs and stays behind our own interface — so the model can be swapped without touching your apps.</a:t>
            </a:r>
            <a:endParaRPr lang="en-US" sz="1260" dirty="0"/>
          </a:p>
        </p:txBody>
      </p:sp>
      <p:sp>
        <p:nvSpPr>
          <p:cNvPr id="19" name="Shape 15"/>
          <p:cNvSpPr/>
          <p:nvPr/>
        </p:nvSpPr>
        <p:spPr>
          <a:xfrm>
            <a:off x="566928" y="3529584"/>
            <a:ext cx="5413248" cy="1591056"/>
          </a:xfrm>
          <a:prstGeom prst="roundRect">
            <a:avLst>
              <a:gd name="adj" fmla="val 689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0" name="Shape 16"/>
          <p:cNvSpPr/>
          <p:nvPr/>
        </p:nvSpPr>
        <p:spPr>
          <a:xfrm>
            <a:off x="822960" y="3803904"/>
            <a:ext cx="402336" cy="402336"/>
          </a:xfrm>
          <a:prstGeom prst="ellipse">
            <a:avLst/>
          </a:prstGeom>
          <a:solidFill>
            <a:srgbClr val="F0A81C"/>
          </a:solidFill>
          <a:ln/>
        </p:spPr>
        <p:txBody>
          <a:bodyPr/>
          <a:lstStyle/>
          <a:p>
            <a:endParaRPr lang="en-AE"/>
          </a:p>
        </p:txBody>
      </p:sp>
      <p:pic>
        <p:nvPicPr>
          <p:cNvPr id="21" name="Image 2" descr="preencoded.png"/>
          <p:cNvPicPr>
            <a:picLocks noChangeAspect="1"/>
          </p:cNvPicPr>
          <p:nvPr/>
        </p:nvPicPr>
        <p:blipFill>
          <a:blip r:embed="rId5"/>
          <a:stretch>
            <a:fillRect/>
          </a:stretch>
        </p:blipFill>
        <p:spPr>
          <a:xfrm>
            <a:off x="918972" y="3904488"/>
            <a:ext cx="210312" cy="210312"/>
          </a:xfrm>
          <a:prstGeom prst="rect">
            <a:avLst/>
          </a:prstGeom>
        </p:spPr>
      </p:pic>
      <p:sp>
        <p:nvSpPr>
          <p:cNvPr id="22" name="Text 17"/>
          <p:cNvSpPr txBox="1"/>
          <p:nvPr/>
        </p:nvSpPr>
        <p:spPr>
          <a:xfrm>
            <a:off x="1371600" y="3785616"/>
            <a:ext cx="4352544" cy="292608"/>
          </a:xfrm>
          <a:prstGeom prst="rect">
            <a:avLst/>
          </a:prstGeom>
          <a:noFill/>
          <a:ln/>
        </p:spPr>
        <p:txBody>
          <a:bodyPr wrap="square" lIns="0" tIns="0" rIns="0" bIns="0" rtlCol="0" anchor="t"/>
          <a:lstStyle/>
          <a:p>
            <a:pPr marL="0" indent="0">
              <a:lnSpc>
                <a:spcPct val="95000"/>
              </a:lnSpc>
              <a:buNone/>
            </a:pPr>
            <a:r>
              <a:rPr lang="en-US" sz="1600" b="1" dirty="0">
                <a:solidFill>
                  <a:srgbClr val="0F1E3D"/>
                </a:solidFill>
                <a:latin typeface="Cambria" pitchFamily="34" charset="0"/>
                <a:ea typeface="Cambria" pitchFamily="34" charset="-122"/>
                <a:cs typeface="Cambria" pitchFamily="34" charset="-120"/>
              </a:rPr>
              <a:t>Built for this market</a:t>
            </a:r>
            <a:endParaRPr lang="en-US" sz="1600" dirty="0"/>
          </a:p>
        </p:txBody>
      </p:sp>
      <p:sp>
        <p:nvSpPr>
          <p:cNvPr id="23" name="Text 18"/>
          <p:cNvSpPr txBox="1"/>
          <p:nvPr/>
        </p:nvSpPr>
        <p:spPr>
          <a:xfrm>
            <a:off x="822960" y="4169664"/>
            <a:ext cx="4901184" cy="694944"/>
          </a:xfrm>
          <a:prstGeom prst="rect">
            <a:avLst/>
          </a:prstGeom>
          <a:noFill/>
          <a:ln/>
        </p:spPr>
        <p:txBody>
          <a:bodyPr wrap="square" lIns="0" tIns="0" rIns="0" bIns="0" rtlCol="0" anchor="t">
            <a:normAutofit/>
          </a:bodyPr>
          <a:lstStyle/>
          <a:p>
            <a:pPr marL="0" indent="0">
              <a:lnSpc>
                <a:spcPct val="106000"/>
              </a:lnSpc>
              <a:spcAft>
                <a:spcPts val="400"/>
              </a:spcAft>
              <a:buNone/>
            </a:pPr>
            <a:r>
              <a:rPr lang="en-US" sz="1260" dirty="0">
                <a:solidFill>
                  <a:srgbClr val="4A5568"/>
                </a:solidFill>
                <a:latin typeface="Calibri" pitchFamily="34" charset="0"/>
                <a:ea typeface="Calibri" pitchFamily="34" charset="-122"/>
                <a:cs typeface="Calibri" pitchFamily="34" charset="-120"/>
              </a:rPr>
              <a:t>Kannada rendering, WhatsApp-first sharing, weak-connection performance and DPDP obligations designed in from week 1, not patched in after.</a:t>
            </a:r>
            <a:endParaRPr lang="en-US" sz="1260" dirty="0"/>
          </a:p>
        </p:txBody>
      </p:sp>
      <p:sp>
        <p:nvSpPr>
          <p:cNvPr id="24" name="Shape 19"/>
          <p:cNvSpPr/>
          <p:nvPr/>
        </p:nvSpPr>
        <p:spPr>
          <a:xfrm>
            <a:off x="6208776" y="3529584"/>
            <a:ext cx="5413248" cy="1591056"/>
          </a:xfrm>
          <a:prstGeom prst="roundRect">
            <a:avLst>
              <a:gd name="adj" fmla="val 6897"/>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5" name="Shape 20"/>
          <p:cNvSpPr/>
          <p:nvPr/>
        </p:nvSpPr>
        <p:spPr>
          <a:xfrm>
            <a:off x="6464808" y="3803904"/>
            <a:ext cx="402336" cy="402336"/>
          </a:xfrm>
          <a:prstGeom prst="ellipse">
            <a:avLst/>
          </a:prstGeom>
          <a:solidFill>
            <a:srgbClr val="1B3160"/>
          </a:solidFill>
          <a:ln/>
        </p:spPr>
        <p:txBody>
          <a:bodyPr/>
          <a:lstStyle/>
          <a:p>
            <a:endParaRPr lang="en-AE"/>
          </a:p>
        </p:txBody>
      </p:sp>
      <p:pic>
        <p:nvPicPr>
          <p:cNvPr id="26" name="Image 3" descr="preencoded.png"/>
          <p:cNvPicPr>
            <a:picLocks noChangeAspect="1"/>
          </p:cNvPicPr>
          <p:nvPr/>
        </p:nvPicPr>
        <p:blipFill>
          <a:blip r:embed="rId6"/>
          <a:stretch>
            <a:fillRect/>
          </a:stretch>
        </p:blipFill>
        <p:spPr>
          <a:xfrm>
            <a:off x="6560820" y="3904488"/>
            <a:ext cx="210312" cy="210312"/>
          </a:xfrm>
          <a:prstGeom prst="rect">
            <a:avLst/>
          </a:prstGeom>
        </p:spPr>
      </p:pic>
      <p:sp>
        <p:nvSpPr>
          <p:cNvPr id="27" name="Text 21"/>
          <p:cNvSpPr txBox="1"/>
          <p:nvPr/>
        </p:nvSpPr>
        <p:spPr>
          <a:xfrm>
            <a:off x="7013448" y="3785616"/>
            <a:ext cx="4352544" cy="292608"/>
          </a:xfrm>
          <a:prstGeom prst="rect">
            <a:avLst/>
          </a:prstGeom>
          <a:noFill/>
          <a:ln/>
        </p:spPr>
        <p:txBody>
          <a:bodyPr wrap="square" lIns="0" tIns="0" rIns="0" bIns="0" rtlCol="0" anchor="t"/>
          <a:lstStyle/>
          <a:p>
            <a:pPr marL="0" indent="0">
              <a:lnSpc>
                <a:spcPct val="95000"/>
              </a:lnSpc>
              <a:buNone/>
            </a:pPr>
            <a:r>
              <a:rPr lang="en-US" sz="1600" b="1" dirty="0">
                <a:solidFill>
                  <a:srgbClr val="0F1E3D"/>
                </a:solidFill>
                <a:latin typeface="Cambria" pitchFamily="34" charset="0"/>
                <a:ea typeface="Cambria" pitchFamily="34" charset="-122"/>
                <a:cs typeface="Cambria" pitchFamily="34" charset="-120"/>
              </a:rPr>
              <a:t>No lock-in, by design</a:t>
            </a:r>
            <a:endParaRPr lang="en-US" sz="1600" dirty="0"/>
          </a:p>
        </p:txBody>
      </p:sp>
      <p:sp>
        <p:nvSpPr>
          <p:cNvPr id="28" name="Text 22"/>
          <p:cNvSpPr txBox="1"/>
          <p:nvPr/>
        </p:nvSpPr>
        <p:spPr>
          <a:xfrm>
            <a:off x="6464808" y="4169664"/>
            <a:ext cx="4901184" cy="694944"/>
          </a:xfrm>
          <a:prstGeom prst="rect">
            <a:avLst/>
          </a:prstGeom>
          <a:noFill/>
          <a:ln/>
        </p:spPr>
        <p:txBody>
          <a:bodyPr wrap="square" lIns="0" tIns="0" rIns="0" bIns="0" rtlCol="0" anchor="t">
            <a:normAutofit/>
          </a:bodyPr>
          <a:lstStyle/>
          <a:p>
            <a:pPr marL="0" indent="0">
              <a:lnSpc>
                <a:spcPct val="106000"/>
              </a:lnSpc>
              <a:spcAft>
                <a:spcPts val="400"/>
              </a:spcAft>
              <a:buNone/>
            </a:pPr>
            <a:r>
              <a:rPr lang="en-US" sz="1260" dirty="0">
                <a:solidFill>
                  <a:srgbClr val="4A5568"/>
                </a:solidFill>
                <a:latin typeface="Calibri" pitchFamily="34" charset="0"/>
                <a:ea typeface="Calibri" pitchFamily="34" charset="-122"/>
                <a:cs typeface="Calibri" pitchFamily="34" charset="-120"/>
              </a:rPr>
              <a:t>Your repositories, your cloud accounts, your data, mainstream technologies and complete documentation. AMC is a choice, never a dependency.</a:t>
            </a:r>
            <a:endParaRPr lang="en-US" sz="1260" dirty="0"/>
          </a:p>
        </p:txBody>
      </p:sp>
      <p:sp>
        <p:nvSpPr>
          <p:cNvPr id="29" name="Shape 23"/>
          <p:cNvSpPr/>
          <p:nvPr/>
        </p:nvSpPr>
        <p:spPr>
          <a:xfrm>
            <a:off x="566928" y="5431536"/>
            <a:ext cx="11057839" cy="548640"/>
          </a:xfrm>
          <a:prstGeom prst="roundRect">
            <a:avLst>
              <a:gd name="adj" fmla="val 16667"/>
            </a:avLst>
          </a:prstGeom>
          <a:solidFill>
            <a:srgbClr val="0F1E3D"/>
          </a:solidFill>
          <a:ln/>
        </p:spPr>
        <p:txBody>
          <a:bodyPr/>
          <a:lstStyle/>
          <a:p>
            <a:endParaRPr lang="en-AE"/>
          </a:p>
        </p:txBody>
      </p:sp>
      <p:sp>
        <p:nvSpPr>
          <p:cNvPr id="30" name="Text 24"/>
          <p:cNvSpPr txBox="1"/>
          <p:nvPr/>
        </p:nvSpPr>
        <p:spPr>
          <a:xfrm>
            <a:off x="841248" y="5431536"/>
            <a:ext cx="10509199" cy="548640"/>
          </a:xfrm>
          <a:prstGeom prst="rect">
            <a:avLst/>
          </a:prstGeom>
          <a:noFill/>
          <a:ln/>
        </p:spPr>
        <p:txBody>
          <a:bodyPr wrap="square" lIns="0" tIns="0" rIns="0" bIns="0" rtlCol="0" anchor="ctr"/>
          <a:lstStyle/>
          <a:p>
            <a:pPr marL="0" indent="0">
              <a:buNone/>
            </a:pPr>
            <a:r>
              <a:rPr lang="en-US" sz="1140" b="1" dirty="0">
                <a:solidFill>
                  <a:srgbClr val="FFFFFF"/>
                </a:solidFill>
                <a:latin typeface="Calibri" pitchFamily="34" charset="0"/>
                <a:ea typeface="Calibri" pitchFamily="34" charset="-122"/>
                <a:cs typeface="Calibri" pitchFamily="34" charset="-120"/>
              </a:rPr>
              <a:t>Our commitment: if any gate demo does not meet what this document promises, you may pause the engagement at that milestone with no further obligation.</a:t>
            </a:r>
            <a:endParaRPr lang="en-US" sz="114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marL="0" indent="0">
              <a:buNone/>
            </a:pPr>
            <a:r>
              <a:rPr lang="en-US" sz="1050" b="1" kern="0" spc="220" dirty="0">
                <a:solidFill>
                  <a:srgbClr val="C8102E"/>
                </a:solidFill>
                <a:latin typeface="Calibri" pitchFamily="34" charset="0"/>
                <a:ea typeface="Calibri" pitchFamily="34" charset="-122"/>
                <a:cs typeface="Calibri" pitchFamily="34" charset="-120"/>
              </a:rPr>
              <a:t>PART 05 · DELIVERY</a:t>
            </a:r>
            <a:endParaRPr lang="en-US" sz="1050" dirty="0"/>
          </a:p>
        </p:txBody>
      </p:sp>
      <p:sp>
        <p:nvSpPr>
          <p:cNvPr id="3" name="Text 1"/>
          <p:cNvSpPr txBox="1"/>
          <p:nvPr/>
        </p:nvSpPr>
        <p:spPr>
          <a:xfrm>
            <a:off x="566928" y="640080"/>
            <a:ext cx="11057839" cy="530352"/>
          </a:xfrm>
          <a:prstGeom prst="rect">
            <a:avLst/>
          </a:prstGeom>
          <a:noFill/>
          <a:ln/>
        </p:spPr>
        <p:txBody>
          <a:bodyPr wrap="square" lIns="0" tIns="0" rIns="0" bIns="0" rtlCol="0" anchor="t"/>
          <a:lstStyle/>
          <a:p>
            <a:pPr marL="0" indent="0">
              <a:buNone/>
            </a:pPr>
            <a:r>
              <a:rPr lang="en-US" sz="3000" b="1" dirty="0">
                <a:solidFill>
                  <a:srgbClr val="0F1E3D"/>
                </a:solidFill>
                <a:latin typeface="Cambria" pitchFamily="34" charset="0"/>
                <a:ea typeface="Cambria" pitchFamily="34" charset="-122"/>
                <a:cs typeface="Cambria" pitchFamily="34" charset="-120"/>
              </a:rPr>
              <a:t>Next steps</a:t>
            </a:r>
            <a:endParaRPr lang="en-US" sz="3000" dirty="0"/>
          </a:p>
        </p:txBody>
      </p:sp>
      <p:sp>
        <p:nvSpPr>
          <p:cNvPr id="4" name="Text 2"/>
          <p:cNvSpPr txBox="1"/>
          <p:nvPr/>
        </p:nvSpPr>
        <p:spPr>
          <a:xfrm>
            <a:off x="566928" y="1170432"/>
            <a:ext cx="10692079" cy="310896"/>
          </a:xfrm>
          <a:prstGeom prst="rect">
            <a:avLst/>
          </a:prstGeom>
          <a:noFill/>
          <a:ln/>
        </p:spPr>
        <p:txBody>
          <a:bodyPr wrap="square" lIns="0" tIns="0" rIns="0" bIns="0" rtlCol="0" anchor="t"/>
          <a:lstStyle/>
          <a:p>
            <a:pPr marL="0" indent="0">
              <a:buNone/>
            </a:pPr>
            <a:r>
              <a:rPr lang="en-US" sz="1350" dirty="0">
                <a:solidFill>
                  <a:srgbClr val="4A5568"/>
                </a:solidFill>
                <a:latin typeface="Calibri" pitchFamily="34" charset="0"/>
                <a:ea typeface="Calibri" pitchFamily="34" charset="-122"/>
                <a:cs typeface="Calibri" pitchFamily="34" charset="-120"/>
              </a:rPr>
              <a:t>Four steps between this document and week 1 of the build.</a:t>
            </a:r>
            <a:endParaRPr lang="en-US" sz="1350" dirty="0"/>
          </a:p>
        </p:txBody>
      </p:sp>
      <p:sp>
        <p:nvSpPr>
          <p:cNvPr id="5" name="Text 3"/>
          <p:cNvSpPr txBox="1"/>
          <p:nvPr/>
        </p:nvSpPr>
        <p:spPr>
          <a:xfrm>
            <a:off x="566928" y="6345936"/>
            <a:ext cx="7863840" cy="274320"/>
          </a:xfrm>
          <a:prstGeom prst="rect">
            <a:avLst/>
          </a:prstGeom>
          <a:noFill/>
          <a:ln/>
        </p:spPr>
        <p:txBody>
          <a:bodyPr wrap="square" lIns="0" tIns="0" rIns="0" bIns="0" rtlCol="0" anchor="ctr"/>
          <a:lstStyle/>
          <a:p>
            <a:pPr marL="0" indent="0">
              <a:buNone/>
            </a:pPr>
            <a:r>
              <a:rPr lang="en-US" sz="950" dirty="0">
                <a:solidFill>
                  <a:srgbClr val="77839B"/>
                </a:solidFill>
                <a:latin typeface="Calibri" pitchFamily="34" charset="0"/>
                <a:ea typeface="Calibri" pitchFamily="34" charset="-122"/>
                <a:cs typeface="Calibri" pitchFamily="34" charset="-120"/>
              </a:rPr>
              <a:t>Advanced News Platform  ·  Proposal for News Karnataka</a:t>
            </a:r>
            <a:endParaRPr lang="en-US" sz="950" dirty="0"/>
          </a:p>
        </p:txBody>
      </p:sp>
      <p:sp>
        <p:nvSpPr>
          <p:cNvPr id="6" name="Text 4"/>
          <p:cNvSpPr txBox="1"/>
          <p:nvPr/>
        </p:nvSpPr>
        <p:spPr>
          <a:xfrm>
            <a:off x="8881567" y="6345936"/>
            <a:ext cx="1874520" cy="274320"/>
          </a:xfrm>
          <a:prstGeom prst="rect">
            <a:avLst/>
          </a:prstGeom>
          <a:noFill/>
          <a:ln/>
        </p:spPr>
        <p:txBody>
          <a:bodyPr wrap="square" lIns="0" tIns="0" rIns="0" bIns="0" rtlCol="0" anchor="ctr"/>
          <a:lstStyle/>
          <a:p>
            <a:pPr marL="0" indent="0" algn="r">
              <a:buNone/>
            </a:pPr>
            <a:r>
              <a:rPr lang="en-US" sz="950" dirty="0">
                <a:solidFill>
                  <a:srgbClr val="77839B"/>
                </a:solidFill>
                <a:latin typeface="Calibri" pitchFamily="34" charset="0"/>
                <a:ea typeface="Calibri" pitchFamily="34" charset="-122"/>
                <a:cs typeface="Calibri" pitchFamily="34" charset="-120"/>
              </a:rPr>
              <a:t>Opus Infinite</a:t>
            </a:r>
            <a:endParaRPr lang="en-US" sz="950" dirty="0"/>
          </a:p>
        </p:txBody>
      </p:sp>
      <p:sp>
        <p:nvSpPr>
          <p:cNvPr id="7" name="Shape 5"/>
          <p:cNvSpPr/>
          <p:nvPr/>
        </p:nvSpPr>
        <p:spPr>
          <a:xfrm>
            <a:off x="11240719" y="6300216"/>
            <a:ext cx="384048" cy="384048"/>
          </a:xfrm>
          <a:prstGeom prst="ellipse">
            <a:avLst/>
          </a:prstGeom>
          <a:solidFill>
            <a:srgbClr val="F4F7FC"/>
          </a:solidFill>
          <a:ln/>
        </p:spPr>
        <p:txBody>
          <a:bodyPr/>
          <a:lstStyle/>
          <a:p>
            <a:endParaRPr lang="en-AE"/>
          </a:p>
        </p:txBody>
      </p:sp>
      <p:sp>
        <p:nvSpPr>
          <p:cNvPr id="8" name="Text 6"/>
          <p:cNvSpPr txBox="1"/>
          <p:nvPr/>
        </p:nvSpPr>
        <p:spPr>
          <a:xfrm>
            <a:off x="11240719" y="6300216"/>
            <a:ext cx="384048" cy="384048"/>
          </a:xfrm>
          <a:prstGeom prst="rect">
            <a:avLst/>
          </a:prstGeom>
          <a:noFill/>
          <a:ln/>
        </p:spPr>
        <p:txBody>
          <a:bodyPr wrap="square" lIns="0" tIns="0" rIns="0" bIns="0" rtlCol="0" anchor="ctr"/>
          <a:lstStyle/>
          <a:p>
            <a:pPr marL="0" indent="0" algn="ctr">
              <a:buNone/>
            </a:pPr>
            <a:r>
              <a:rPr lang="en-US" sz="1050" b="1" dirty="0">
                <a:solidFill>
                  <a:srgbClr val="0F1E3D"/>
                </a:solidFill>
                <a:latin typeface="Calibri" pitchFamily="34" charset="0"/>
                <a:ea typeface="Calibri" pitchFamily="34" charset="-122"/>
                <a:cs typeface="Calibri" pitchFamily="34" charset="-120"/>
              </a:rPr>
              <a:t>38</a:t>
            </a:r>
            <a:endParaRPr lang="en-US" sz="1050" dirty="0"/>
          </a:p>
        </p:txBody>
      </p:sp>
      <p:sp>
        <p:nvSpPr>
          <p:cNvPr id="9" name="Shape 7"/>
          <p:cNvSpPr/>
          <p:nvPr/>
        </p:nvSpPr>
        <p:spPr>
          <a:xfrm>
            <a:off x="566928" y="1664208"/>
            <a:ext cx="2615184" cy="3291840"/>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0" name="Shape 8"/>
          <p:cNvSpPr/>
          <p:nvPr/>
        </p:nvSpPr>
        <p:spPr>
          <a:xfrm>
            <a:off x="786384" y="1865376"/>
            <a:ext cx="512064" cy="512064"/>
          </a:xfrm>
          <a:prstGeom prst="ellipse">
            <a:avLst/>
          </a:prstGeom>
          <a:solidFill>
            <a:srgbClr val="C8102E"/>
          </a:solidFill>
          <a:ln/>
        </p:spPr>
        <p:txBody>
          <a:bodyPr/>
          <a:lstStyle/>
          <a:p>
            <a:endParaRPr lang="en-AE"/>
          </a:p>
        </p:txBody>
      </p:sp>
      <p:sp>
        <p:nvSpPr>
          <p:cNvPr id="11" name="Text 9"/>
          <p:cNvSpPr txBox="1"/>
          <p:nvPr/>
        </p:nvSpPr>
        <p:spPr>
          <a:xfrm>
            <a:off x="786384" y="18653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2" name="Text 10"/>
          <p:cNvSpPr txBox="1"/>
          <p:nvPr/>
        </p:nvSpPr>
        <p:spPr>
          <a:xfrm>
            <a:off x="1408176" y="1975104"/>
            <a:ext cx="1645920" cy="274320"/>
          </a:xfrm>
          <a:prstGeom prst="rect">
            <a:avLst/>
          </a:prstGeom>
          <a:noFill/>
          <a:ln/>
        </p:spPr>
        <p:txBody>
          <a:bodyPr wrap="square" lIns="0" tIns="0" rIns="0" bIns="0" rtlCol="0" anchor="ctr"/>
          <a:lstStyle/>
          <a:p>
            <a:pPr marL="0" indent="0">
              <a:buNone/>
            </a:pPr>
            <a:r>
              <a:rPr lang="en-US" sz="880" b="1" kern="0" spc="120" dirty="0">
                <a:solidFill>
                  <a:srgbClr val="77839B"/>
                </a:solidFill>
                <a:latin typeface="Calibri" pitchFamily="34" charset="0"/>
                <a:ea typeface="Calibri" pitchFamily="34" charset="-122"/>
                <a:cs typeface="Calibri" pitchFamily="34" charset="-120"/>
              </a:rPr>
              <a:t>THIS WEEK</a:t>
            </a:r>
            <a:endParaRPr lang="en-US" sz="880" dirty="0"/>
          </a:p>
        </p:txBody>
      </p:sp>
      <p:sp>
        <p:nvSpPr>
          <p:cNvPr id="13" name="Text 11"/>
          <p:cNvSpPr txBox="1"/>
          <p:nvPr/>
        </p:nvSpPr>
        <p:spPr>
          <a:xfrm>
            <a:off x="786384" y="2468880"/>
            <a:ext cx="2194560" cy="310896"/>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Proposal walkthrough</a:t>
            </a:r>
            <a:endParaRPr lang="en-US" sz="1450" dirty="0"/>
          </a:p>
        </p:txBody>
      </p:sp>
      <p:sp>
        <p:nvSpPr>
          <p:cNvPr id="14" name="Text 12"/>
          <p:cNvSpPr txBox="1"/>
          <p:nvPr/>
        </p:nvSpPr>
        <p:spPr>
          <a:xfrm>
            <a:off x="786384" y="2926080"/>
            <a:ext cx="2176272" cy="1828800"/>
          </a:xfrm>
          <a:prstGeom prst="rect">
            <a:avLst/>
          </a:prstGeom>
          <a:noFill/>
          <a:ln/>
        </p:spPr>
        <p:txBody>
          <a:bodyPr wrap="square" lIns="0" tIns="0" rIns="0" bIns="0" rtlCol="0" anchor="t"/>
          <a:lstStyle/>
          <a:p>
            <a:pPr marL="165100" indent="-165100">
              <a:lnSpc>
                <a:spcPct val="107000"/>
              </a:lnSpc>
              <a:spcAft>
                <a:spcPts val="800"/>
              </a:spcAft>
              <a:buSzPct val="100000"/>
              <a:buChar char="•"/>
            </a:pPr>
            <a:r>
              <a:rPr lang="en-US" sz="1080" dirty="0">
                <a:solidFill>
                  <a:srgbClr val="4A5568"/>
                </a:solidFill>
                <a:latin typeface="Calibri" pitchFamily="34" charset="0"/>
                <a:ea typeface="Calibri" pitchFamily="34" charset="-122"/>
                <a:cs typeface="Calibri" pitchFamily="34" charset="-120"/>
              </a:rPr>
              <a:t>A 60-minute session with your editorial and commercial leads</a:t>
            </a:r>
            <a:endParaRPr lang="en-US" sz="1080" dirty="0"/>
          </a:p>
          <a:p>
            <a:pPr marL="165100" indent="-165100">
              <a:lnSpc>
                <a:spcPct val="107000"/>
              </a:lnSpc>
              <a:spcAft>
                <a:spcPts val="800"/>
              </a:spcAft>
              <a:buSzPct val="100000"/>
              <a:buChar char="•"/>
            </a:pPr>
            <a:r>
              <a:rPr lang="en-US" sz="1080" dirty="0">
                <a:solidFill>
                  <a:srgbClr val="4A5568"/>
                </a:solidFill>
                <a:latin typeface="Calibri" pitchFamily="34" charset="0"/>
                <a:ea typeface="Calibri" pitchFamily="34" charset="-122"/>
                <a:cs typeface="Calibri" pitchFamily="34" charset="-120"/>
              </a:rPr>
              <a:t>We answer questions and capture required changes</a:t>
            </a:r>
            <a:endParaRPr lang="en-US" sz="1080" dirty="0"/>
          </a:p>
          <a:p>
            <a:pPr marL="165100" indent="-165100">
              <a:lnSpc>
                <a:spcPct val="107000"/>
              </a:lnSpc>
              <a:spcAft>
                <a:spcPts val="800"/>
              </a:spcAft>
              <a:buSzPct val="100000"/>
              <a:buChar char="•"/>
            </a:pPr>
            <a:r>
              <a:rPr lang="en-US" sz="1080" dirty="0">
                <a:solidFill>
                  <a:srgbClr val="4A5568"/>
                </a:solidFill>
                <a:latin typeface="Calibri" pitchFamily="34" charset="0"/>
                <a:ea typeface="Calibri" pitchFamily="34" charset="-122"/>
                <a:cs typeface="Calibri" pitchFamily="34" charset="-120"/>
              </a:rPr>
              <a:t>Confirm scope, price and any exclusions</a:t>
            </a:r>
            <a:endParaRPr lang="en-US" sz="1080" dirty="0"/>
          </a:p>
        </p:txBody>
      </p:sp>
      <p:sp>
        <p:nvSpPr>
          <p:cNvPr id="15" name="Shape 13"/>
          <p:cNvSpPr/>
          <p:nvPr/>
        </p:nvSpPr>
        <p:spPr>
          <a:xfrm>
            <a:off x="3236976" y="3200400"/>
            <a:ext cx="118872" cy="219456"/>
          </a:xfrm>
          <a:prstGeom prst="rightArrow">
            <a:avLst/>
          </a:prstGeom>
          <a:solidFill>
            <a:srgbClr val="C3CDDF"/>
          </a:solidFill>
          <a:ln/>
        </p:spPr>
        <p:txBody>
          <a:bodyPr/>
          <a:lstStyle/>
          <a:p>
            <a:endParaRPr lang="en-AE"/>
          </a:p>
        </p:txBody>
      </p:sp>
      <p:sp>
        <p:nvSpPr>
          <p:cNvPr id="16" name="Shape 14"/>
          <p:cNvSpPr/>
          <p:nvPr/>
        </p:nvSpPr>
        <p:spPr>
          <a:xfrm>
            <a:off x="3392424" y="1664208"/>
            <a:ext cx="2615184" cy="3291840"/>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17" name="Shape 15"/>
          <p:cNvSpPr/>
          <p:nvPr/>
        </p:nvSpPr>
        <p:spPr>
          <a:xfrm>
            <a:off x="3611880" y="1865376"/>
            <a:ext cx="512064" cy="512064"/>
          </a:xfrm>
          <a:prstGeom prst="ellipse">
            <a:avLst/>
          </a:prstGeom>
          <a:solidFill>
            <a:srgbClr val="C8102E"/>
          </a:solidFill>
          <a:ln/>
        </p:spPr>
        <p:txBody>
          <a:bodyPr/>
          <a:lstStyle/>
          <a:p>
            <a:endParaRPr lang="en-AE"/>
          </a:p>
        </p:txBody>
      </p:sp>
      <p:sp>
        <p:nvSpPr>
          <p:cNvPr id="18" name="Text 16"/>
          <p:cNvSpPr txBox="1"/>
          <p:nvPr/>
        </p:nvSpPr>
        <p:spPr>
          <a:xfrm>
            <a:off x="3611880" y="18653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9" name="Text 17"/>
          <p:cNvSpPr txBox="1"/>
          <p:nvPr/>
        </p:nvSpPr>
        <p:spPr>
          <a:xfrm>
            <a:off x="4233672" y="1975104"/>
            <a:ext cx="1645920" cy="274320"/>
          </a:xfrm>
          <a:prstGeom prst="rect">
            <a:avLst/>
          </a:prstGeom>
          <a:noFill/>
          <a:ln/>
        </p:spPr>
        <p:txBody>
          <a:bodyPr wrap="square" lIns="0" tIns="0" rIns="0" bIns="0" rtlCol="0" anchor="ctr"/>
          <a:lstStyle/>
          <a:p>
            <a:pPr marL="0" indent="0">
              <a:buNone/>
            </a:pPr>
            <a:r>
              <a:rPr lang="en-US" sz="880" b="1" kern="0" spc="120" dirty="0">
                <a:solidFill>
                  <a:srgbClr val="77839B"/>
                </a:solidFill>
                <a:latin typeface="Calibri" pitchFamily="34" charset="0"/>
                <a:ea typeface="Calibri" pitchFamily="34" charset="-122"/>
                <a:cs typeface="Calibri" pitchFamily="34" charset="-120"/>
              </a:rPr>
              <a:t>WITHIN 1 WEEK</a:t>
            </a:r>
            <a:endParaRPr lang="en-US" sz="880" dirty="0"/>
          </a:p>
        </p:txBody>
      </p:sp>
      <p:sp>
        <p:nvSpPr>
          <p:cNvPr id="20" name="Text 18"/>
          <p:cNvSpPr txBox="1"/>
          <p:nvPr/>
        </p:nvSpPr>
        <p:spPr>
          <a:xfrm>
            <a:off x="3611880" y="2468880"/>
            <a:ext cx="2194560" cy="310896"/>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Alignment &amp; paperwork</a:t>
            </a:r>
            <a:endParaRPr lang="en-US" sz="1450" dirty="0"/>
          </a:p>
        </p:txBody>
      </p:sp>
      <p:sp>
        <p:nvSpPr>
          <p:cNvPr id="21" name="Text 19"/>
          <p:cNvSpPr txBox="1"/>
          <p:nvPr/>
        </p:nvSpPr>
        <p:spPr>
          <a:xfrm>
            <a:off x="3611880" y="2926080"/>
            <a:ext cx="2176272" cy="1828800"/>
          </a:xfrm>
          <a:prstGeom prst="rect">
            <a:avLst/>
          </a:prstGeom>
          <a:noFill/>
          <a:ln/>
        </p:spPr>
        <p:txBody>
          <a:bodyPr wrap="square" lIns="0" tIns="0" rIns="0" bIns="0" rtlCol="0" anchor="t"/>
          <a:lstStyle/>
          <a:p>
            <a:pPr marL="165100" indent="-165100">
              <a:lnSpc>
                <a:spcPct val="107000"/>
              </a:lnSpc>
              <a:spcAft>
                <a:spcPts val="800"/>
              </a:spcAft>
              <a:buSzPct val="100000"/>
              <a:buChar char="•"/>
            </a:pPr>
            <a:r>
              <a:rPr lang="en-US" sz="1080" dirty="0">
                <a:solidFill>
                  <a:srgbClr val="4A5568"/>
                </a:solidFill>
                <a:latin typeface="Calibri" pitchFamily="34" charset="0"/>
                <a:ea typeface="Calibri" pitchFamily="34" charset="-122"/>
                <a:cs typeface="Calibri" pitchFamily="34" charset="-120"/>
              </a:rPr>
              <a:t>Revised proposal issued with agreed scope and final pricing</a:t>
            </a:r>
            <a:endParaRPr lang="en-US" sz="1080" dirty="0"/>
          </a:p>
          <a:p>
            <a:pPr marL="165100" indent="-165100">
              <a:lnSpc>
                <a:spcPct val="107000"/>
              </a:lnSpc>
              <a:spcAft>
                <a:spcPts val="800"/>
              </a:spcAft>
              <a:buSzPct val="100000"/>
              <a:buChar char="•"/>
            </a:pPr>
            <a:r>
              <a:rPr lang="en-US" sz="1080" dirty="0">
                <a:solidFill>
                  <a:srgbClr val="4A5568"/>
                </a:solidFill>
                <a:latin typeface="Calibri" pitchFamily="34" charset="0"/>
                <a:ea typeface="Calibri" pitchFamily="34" charset="-122"/>
                <a:cs typeface="Calibri" pitchFamily="34" charset="-120"/>
              </a:rPr>
              <a:t>Contract, NDA and payment schedule signed</a:t>
            </a:r>
            <a:endParaRPr lang="en-US" sz="1080" dirty="0"/>
          </a:p>
          <a:p>
            <a:pPr marL="165100" indent="-165100">
              <a:lnSpc>
                <a:spcPct val="107000"/>
              </a:lnSpc>
              <a:spcAft>
                <a:spcPts val="800"/>
              </a:spcAft>
              <a:buSzPct val="100000"/>
              <a:buChar char="•"/>
            </a:pPr>
            <a:r>
              <a:rPr lang="en-US" sz="1080" dirty="0">
                <a:solidFill>
                  <a:srgbClr val="4A5568"/>
                </a:solidFill>
                <a:latin typeface="Calibri" pitchFamily="34" charset="0"/>
                <a:ea typeface="Calibri" pitchFamily="34" charset="-122"/>
                <a:cs typeface="Calibri" pitchFamily="34" charset="-120"/>
              </a:rPr>
              <a:t>Product owner and reviewers nominated</a:t>
            </a:r>
            <a:endParaRPr lang="en-US" sz="1080" dirty="0"/>
          </a:p>
        </p:txBody>
      </p:sp>
      <p:sp>
        <p:nvSpPr>
          <p:cNvPr id="22" name="Shape 20"/>
          <p:cNvSpPr/>
          <p:nvPr/>
        </p:nvSpPr>
        <p:spPr>
          <a:xfrm>
            <a:off x="6062472" y="3200400"/>
            <a:ext cx="118872" cy="219456"/>
          </a:xfrm>
          <a:prstGeom prst="rightArrow">
            <a:avLst/>
          </a:prstGeom>
          <a:solidFill>
            <a:srgbClr val="C3CDDF"/>
          </a:solidFill>
          <a:ln/>
        </p:spPr>
        <p:txBody>
          <a:bodyPr/>
          <a:lstStyle/>
          <a:p>
            <a:endParaRPr lang="en-AE"/>
          </a:p>
        </p:txBody>
      </p:sp>
      <p:sp>
        <p:nvSpPr>
          <p:cNvPr id="23" name="Shape 21"/>
          <p:cNvSpPr/>
          <p:nvPr/>
        </p:nvSpPr>
        <p:spPr>
          <a:xfrm>
            <a:off x="6217920" y="1664208"/>
            <a:ext cx="2615184" cy="3291840"/>
          </a:xfrm>
          <a:prstGeom prst="roundRect">
            <a:avLst>
              <a:gd name="adj" fmla="val 4196"/>
            </a:avLst>
          </a:prstGeom>
          <a:solidFill>
            <a:srgbClr val="F4F7FC"/>
          </a:solidFill>
          <a:ln/>
          <a:effectLst>
            <a:outerShdw blurRad="127000" dist="25400" dir="5400000" algn="bl" rotWithShape="0">
              <a:srgbClr val="0F1E3D">
                <a:alpha val="10000"/>
              </a:srgbClr>
            </a:outerShdw>
          </a:effectLst>
        </p:spPr>
        <p:txBody>
          <a:bodyPr/>
          <a:lstStyle/>
          <a:p>
            <a:endParaRPr lang="en-AE"/>
          </a:p>
        </p:txBody>
      </p:sp>
      <p:sp>
        <p:nvSpPr>
          <p:cNvPr id="24" name="Shape 22"/>
          <p:cNvSpPr/>
          <p:nvPr/>
        </p:nvSpPr>
        <p:spPr>
          <a:xfrm>
            <a:off x="6437376" y="1865376"/>
            <a:ext cx="512064" cy="512064"/>
          </a:xfrm>
          <a:prstGeom prst="ellipse">
            <a:avLst/>
          </a:prstGeom>
          <a:solidFill>
            <a:srgbClr val="C8102E"/>
          </a:solidFill>
          <a:ln/>
        </p:spPr>
        <p:txBody>
          <a:bodyPr/>
          <a:lstStyle/>
          <a:p>
            <a:endParaRPr lang="en-AE"/>
          </a:p>
        </p:txBody>
      </p:sp>
      <p:sp>
        <p:nvSpPr>
          <p:cNvPr id="25" name="Text 23"/>
          <p:cNvSpPr txBox="1"/>
          <p:nvPr/>
        </p:nvSpPr>
        <p:spPr>
          <a:xfrm>
            <a:off x="6437376" y="186537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6" name="Text 24"/>
          <p:cNvSpPr txBox="1"/>
          <p:nvPr/>
        </p:nvSpPr>
        <p:spPr>
          <a:xfrm>
            <a:off x="7059168" y="1975104"/>
            <a:ext cx="1645920" cy="274320"/>
          </a:xfrm>
          <a:prstGeom prst="rect">
            <a:avLst/>
          </a:prstGeom>
          <a:noFill/>
          <a:ln/>
        </p:spPr>
        <p:txBody>
          <a:bodyPr wrap="square" lIns="0" tIns="0" rIns="0" bIns="0" rtlCol="0" anchor="ctr"/>
          <a:lstStyle/>
          <a:p>
            <a:pPr marL="0" indent="0">
              <a:buNone/>
            </a:pPr>
            <a:r>
              <a:rPr lang="en-US" sz="880" b="1" kern="0" spc="120" dirty="0">
                <a:solidFill>
                  <a:srgbClr val="77839B"/>
                </a:solidFill>
                <a:latin typeface="Calibri" pitchFamily="34" charset="0"/>
                <a:ea typeface="Calibri" pitchFamily="34" charset="-122"/>
                <a:cs typeface="Calibri" pitchFamily="34" charset="-120"/>
              </a:rPr>
              <a:t>WITHIN 2 WEEKS</a:t>
            </a:r>
            <a:endParaRPr lang="en-US" sz="880" dirty="0"/>
          </a:p>
        </p:txBody>
      </p:sp>
      <p:sp>
        <p:nvSpPr>
          <p:cNvPr id="27" name="Text 25"/>
          <p:cNvSpPr txBox="1"/>
          <p:nvPr/>
        </p:nvSpPr>
        <p:spPr>
          <a:xfrm>
            <a:off x="6437376" y="2468880"/>
            <a:ext cx="2194560" cy="310896"/>
          </a:xfrm>
          <a:prstGeom prst="rect">
            <a:avLst/>
          </a:prstGeom>
          <a:noFill/>
          <a:ln/>
        </p:spPr>
        <p:txBody>
          <a:bodyPr wrap="square" lIns="0" tIns="0" rIns="0" bIns="0" rtlCol="0" anchor="t"/>
          <a:lstStyle/>
          <a:p>
            <a:pPr marL="0" indent="0">
              <a:buNone/>
            </a:pPr>
            <a:r>
              <a:rPr lang="en-US" sz="1450" b="1" dirty="0">
                <a:solidFill>
                  <a:srgbClr val="0F1E3D"/>
                </a:solidFill>
                <a:latin typeface="Cambria" pitchFamily="34" charset="0"/>
                <a:ea typeface="Cambria" pitchFamily="34" charset="-122"/>
                <a:cs typeface="Cambria" pitchFamily="34" charset="-120"/>
              </a:rPr>
              <a:t>Kickoff</a:t>
            </a:r>
            <a:endParaRPr lang="en-US" sz="1450" dirty="0"/>
          </a:p>
        </p:txBody>
      </p:sp>
      <p:sp>
        <p:nvSpPr>
          <p:cNvPr id="28" name="Text 26"/>
          <p:cNvSpPr txBox="1"/>
          <p:nvPr/>
        </p:nvSpPr>
        <p:spPr>
          <a:xfrm>
            <a:off x="6437376" y="2926080"/>
            <a:ext cx="2176272" cy="1828800"/>
          </a:xfrm>
          <a:prstGeom prst="rect">
            <a:avLst/>
          </a:prstGeom>
          <a:noFill/>
          <a:ln/>
        </p:spPr>
        <p:txBody>
          <a:bodyPr wrap="square" lIns="0" tIns="0" rIns="0" bIns="0" rtlCol="0" anchor="t"/>
          <a:lstStyle/>
          <a:p>
            <a:pPr marL="165100" indent="-165100">
              <a:lnSpc>
                <a:spcPct val="107000"/>
              </a:lnSpc>
              <a:spcAft>
                <a:spcPts val="800"/>
              </a:spcAft>
              <a:buSzPct val="100000"/>
              <a:buChar char="•"/>
            </a:pPr>
            <a:r>
              <a:rPr lang="en-US" sz="1080" dirty="0">
                <a:solidFill>
                  <a:srgbClr val="4A5568"/>
                </a:solidFill>
                <a:latin typeface="Calibri" pitchFamily="34" charset="0"/>
                <a:ea typeface="Calibri" pitchFamily="34" charset="-122"/>
                <a:cs typeface="Calibri" pitchFamily="34" charset="-120"/>
              </a:rPr>
              <a:t>Kickoff workshop with both teams</a:t>
            </a:r>
            <a:endParaRPr lang="en-US" sz="1080" dirty="0"/>
          </a:p>
          <a:p>
            <a:pPr marL="165100" indent="-165100">
              <a:lnSpc>
                <a:spcPct val="107000"/>
              </a:lnSpc>
              <a:spcAft>
                <a:spcPts val="800"/>
              </a:spcAft>
              <a:buSzPct val="100000"/>
              <a:buChar char="•"/>
            </a:pPr>
            <a:r>
              <a:rPr lang="en-US" sz="1080" dirty="0">
                <a:solidFill>
                  <a:srgbClr val="4A5568"/>
                </a:solidFill>
                <a:latin typeface="Calibri" pitchFamily="34" charset="0"/>
                <a:ea typeface="Calibri" pitchFamily="34" charset="-122"/>
                <a:cs typeface="Calibri" pitchFamily="34" charset="-120"/>
              </a:rPr>
              <a:t>Brand assets, CMS access and cloud accounts handed over</a:t>
            </a:r>
            <a:endParaRPr lang="en-US" sz="1080" dirty="0"/>
          </a:p>
          <a:p>
            <a:pPr marL="165100" indent="-165100">
              <a:lnSpc>
                <a:spcPct val="107000"/>
              </a:lnSpc>
              <a:spcAft>
                <a:spcPts val="800"/>
              </a:spcAft>
              <a:buSzPct val="100000"/>
              <a:buChar char="•"/>
            </a:pPr>
            <a:r>
              <a:rPr lang="en-US" sz="1080" dirty="0">
                <a:solidFill>
                  <a:srgbClr val="4A5568"/>
                </a:solidFill>
                <a:latin typeface="Calibri" pitchFamily="34" charset="0"/>
                <a:ea typeface="Calibri" pitchFamily="34" charset="-122"/>
                <a:cs typeface="Calibri" pitchFamily="34" charset="-120"/>
              </a:rPr>
              <a:t>Environments provisioned; week 1 discovery begins</a:t>
            </a:r>
            <a:endParaRPr lang="en-US" sz="1080" dirty="0"/>
          </a:p>
        </p:txBody>
      </p:sp>
      <p:sp>
        <p:nvSpPr>
          <p:cNvPr id="29" name="Shape 27"/>
          <p:cNvSpPr/>
          <p:nvPr/>
        </p:nvSpPr>
        <p:spPr>
          <a:xfrm>
            <a:off x="8887968" y="3200400"/>
            <a:ext cx="118872" cy="219456"/>
          </a:xfrm>
          <a:prstGeom prst="rightArrow">
            <a:avLst/>
          </a:prstGeom>
          <a:solidFill>
            <a:srgbClr val="C3CDDF"/>
          </a:solidFill>
          <a:ln/>
        </p:spPr>
        <p:txBody>
          <a:bodyPr/>
          <a:lstStyle/>
          <a:p>
            <a:endParaRPr lang="en-AE"/>
          </a:p>
        </p:txBody>
      </p:sp>
      <p:sp>
        <p:nvSpPr>
          <p:cNvPr id="30" name="Shape 28"/>
          <p:cNvSpPr/>
          <p:nvPr/>
        </p:nvSpPr>
        <p:spPr>
          <a:xfrm>
            <a:off x="9043416" y="1664208"/>
            <a:ext cx="2615184" cy="3291840"/>
          </a:xfrm>
          <a:prstGeom prst="roundRect">
            <a:avLst>
              <a:gd name="adj" fmla="val 4196"/>
            </a:avLst>
          </a:prstGeom>
          <a:solidFill>
            <a:srgbClr val="0F1E3D"/>
          </a:solidFill>
          <a:ln/>
          <a:effectLst>
            <a:outerShdw blurRad="127000" dist="25400" dir="5400000" algn="bl" rotWithShape="0">
              <a:srgbClr val="0F1E3D">
                <a:alpha val="10000"/>
              </a:srgbClr>
            </a:outerShdw>
          </a:effectLst>
        </p:spPr>
        <p:txBody>
          <a:bodyPr/>
          <a:lstStyle/>
          <a:p>
            <a:endParaRPr lang="en-AE"/>
          </a:p>
        </p:txBody>
      </p:sp>
      <p:sp>
        <p:nvSpPr>
          <p:cNvPr id="31" name="Shape 29"/>
          <p:cNvSpPr/>
          <p:nvPr/>
        </p:nvSpPr>
        <p:spPr>
          <a:xfrm>
            <a:off x="9262872" y="1865376"/>
            <a:ext cx="512064" cy="512064"/>
          </a:xfrm>
          <a:prstGeom prst="ellipse">
            <a:avLst/>
          </a:prstGeom>
          <a:solidFill>
            <a:srgbClr val="F0A81C"/>
          </a:solidFill>
          <a:ln/>
        </p:spPr>
        <p:txBody>
          <a:bodyPr/>
          <a:lstStyle/>
          <a:p>
            <a:endParaRPr lang="en-AE"/>
          </a:p>
        </p:txBody>
      </p:sp>
      <p:sp>
        <p:nvSpPr>
          <p:cNvPr id="32" name="Text 30"/>
          <p:cNvSpPr txBox="1"/>
          <p:nvPr/>
        </p:nvSpPr>
        <p:spPr>
          <a:xfrm>
            <a:off x="9262872" y="1865376"/>
            <a:ext cx="512064" cy="512064"/>
          </a:xfrm>
          <a:prstGeom prst="rect">
            <a:avLst/>
          </a:prstGeom>
          <a:noFill/>
          <a:ln/>
        </p:spPr>
        <p:txBody>
          <a:bodyPr wrap="square" lIns="0" tIns="0" rIns="0" bIns="0" rtlCol="0" anchor="ctr"/>
          <a:lstStyle/>
          <a:p>
            <a:pPr marL="0" indent="0" algn="ctr">
              <a:buNone/>
            </a:pPr>
            <a:r>
              <a:rPr lang="en-US" sz="1800" b="1" dirty="0">
                <a:solidFill>
                  <a:srgbClr val="0F1E3D"/>
                </a:solidFill>
                <a:latin typeface="Cambria" pitchFamily="34" charset="0"/>
                <a:ea typeface="Cambria" pitchFamily="34" charset="-122"/>
                <a:cs typeface="Cambria" pitchFamily="34" charset="-120"/>
              </a:rPr>
              <a:t>4</a:t>
            </a:r>
            <a:endParaRPr lang="en-US" sz="1800" dirty="0"/>
          </a:p>
        </p:txBody>
      </p:sp>
      <p:sp>
        <p:nvSpPr>
          <p:cNvPr id="33" name="Text 31"/>
          <p:cNvSpPr txBox="1"/>
          <p:nvPr/>
        </p:nvSpPr>
        <p:spPr>
          <a:xfrm>
            <a:off x="9884664" y="1975104"/>
            <a:ext cx="1645920" cy="274320"/>
          </a:xfrm>
          <a:prstGeom prst="rect">
            <a:avLst/>
          </a:prstGeom>
          <a:noFill/>
          <a:ln/>
        </p:spPr>
        <p:txBody>
          <a:bodyPr wrap="square" lIns="0" tIns="0" rIns="0" bIns="0" rtlCol="0" anchor="ctr"/>
          <a:lstStyle/>
          <a:p>
            <a:pPr marL="0" indent="0">
              <a:buNone/>
            </a:pPr>
            <a:r>
              <a:rPr lang="en-US" sz="880" b="1" kern="0" spc="120" dirty="0">
                <a:solidFill>
                  <a:srgbClr val="F0A81C"/>
                </a:solidFill>
                <a:latin typeface="Calibri" pitchFamily="34" charset="0"/>
                <a:ea typeface="Calibri" pitchFamily="34" charset="-122"/>
                <a:cs typeface="Calibri" pitchFamily="34" charset="-120"/>
              </a:rPr>
              <a:t>WEEK 8</a:t>
            </a:r>
            <a:endParaRPr lang="en-US" sz="880" dirty="0"/>
          </a:p>
        </p:txBody>
      </p:sp>
      <p:sp>
        <p:nvSpPr>
          <p:cNvPr id="34" name="Text 32"/>
          <p:cNvSpPr txBox="1"/>
          <p:nvPr/>
        </p:nvSpPr>
        <p:spPr>
          <a:xfrm>
            <a:off x="9262872" y="2468880"/>
            <a:ext cx="2194560" cy="310896"/>
          </a:xfrm>
          <a:prstGeom prst="rect">
            <a:avLst/>
          </a:prstGeom>
          <a:noFill/>
          <a:ln/>
        </p:spPr>
        <p:txBody>
          <a:bodyPr wrap="square" lIns="0" tIns="0" rIns="0" bIns="0" rtlCol="0" anchor="t"/>
          <a:lstStyle/>
          <a:p>
            <a:pPr marL="0" indent="0">
              <a:buNone/>
            </a:pPr>
            <a:r>
              <a:rPr lang="en-US" sz="1450" b="1" dirty="0">
                <a:solidFill>
                  <a:srgbClr val="FFFFFF"/>
                </a:solidFill>
                <a:latin typeface="Cambria" pitchFamily="34" charset="0"/>
                <a:ea typeface="Cambria" pitchFamily="34" charset="-122"/>
                <a:cs typeface="Cambria" pitchFamily="34" charset="-120"/>
              </a:rPr>
              <a:t>Launch</a:t>
            </a:r>
            <a:endParaRPr lang="en-US" sz="1450" dirty="0"/>
          </a:p>
        </p:txBody>
      </p:sp>
      <p:sp>
        <p:nvSpPr>
          <p:cNvPr id="35" name="Text 33"/>
          <p:cNvSpPr txBox="1"/>
          <p:nvPr/>
        </p:nvSpPr>
        <p:spPr>
          <a:xfrm>
            <a:off x="9262872" y="2926080"/>
            <a:ext cx="2176272" cy="1828800"/>
          </a:xfrm>
          <a:prstGeom prst="rect">
            <a:avLst/>
          </a:prstGeom>
          <a:noFill/>
          <a:ln/>
        </p:spPr>
        <p:txBody>
          <a:bodyPr wrap="square" lIns="0" tIns="0" rIns="0" bIns="0" rtlCol="0" anchor="t"/>
          <a:lstStyle/>
          <a:p>
            <a:pPr marL="165100" indent="-165100">
              <a:lnSpc>
                <a:spcPct val="107000"/>
              </a:lnSpc>
              <a:spcAft>
                <a:spcPts val="800"/>
              </a:spcAft>
              <a:buSzPct val="100000"/>
              <a:buChar char="•"/>
            </a:pPr>
            <a:r>
              <a:rPr lang="en-US" sz="1080" dirty="0">
                <a:solidFill>
                  <a:srgbClr val="C6D2E6"/>
                </a:solidFill>
                <a:latin typeface="Calibri" pitchFamily="34" charset="0"/>
                <a:ea typeface="Calibri" pitchFamily="34" charset="-122"/>
                <a:cs typeface="Calibri" pitchFamily="34" charset="-120"/>
              </a:rPr>
              <a:t>Apps submitted to both stores; web and PWA live</a:t>
            </a:r>
            <a:endParaRPr lang="en-US" sz="1080" dirty="0"/>
          </a:p>
          <a:p>
            <a:pPr marL="165100" indent="-165100">
              <a:lnSpc>
                <a:spcPct val="107000"/>
              </a:lnSpc>
              <a:spcAft>
                <a:spcPts val="800"/>
              </a:spcAft>
              <a:buSzPct val="100000"/>
              <a:buChar char="•"/>
            </a:pPr>
            <a:r>
              <a:rPr lang="en-US" sz="1080" dirty="0">
                <a:solidFill>
                  <a:srgbClr val="C6D2E6"/>
                </a:solidFill>
                <a:latin typeface="Calibri" pitchFamily="34" charset="0"/>
                <a:ea typeface="Calibri" pitchFamily="34" charset="-122"/>
                <a:cs typeface="Calibri" pitchFamily="34" charset="-120"/>
              </a:rPr>
              <a:t>Editors trained and publishing unaided</a:t>
            </a:r>
            <a:endParaRPr lang="en-US" sz="1080" dirty="0"/>
          </a:p>
          <a:p>
            <a:pPr marL="165100" indent="-165100">
              <a:lnSpc>
                <a:spcPct val="107000"/>
              </a:lnSpc>
              <a:spcAft>
                <a:spcPts val="800"/>
              </a:spcAft>
              <a:buSzPct val="100000"/>
              <a:buChar char="•"/>
            </a:pPr>
            <a:r>
              <a:rPr lang="en-US" sz="1080" dirty="0">
                <a:solidFill>
                  <a:srgbClr val="C6D2E6"/>
                </a:solidFill>
                <a:latin typeface="Calibri" pitchFamily="34" charset="0"/>
                <a:ea typeface="Calibri" pitchFamily="34" charset="-122"/>
                <a:cs typeface="Calibri" pitchFamily="34" charset="-120"/>
              </a:rPr>
              <a:t>Hypercare starts, AMC decision taken</a:t>
            </a:r>
            <a:endParaRPr lang="en-US" sz="1080" dirty="0"/>
          </a:p>
        </p:txBody>
      </p:sp>
      <p:sp>
        <p:nvSpPr>
          <p:cNvPr id="36" name="Shape 34"/>
          <p:cNvSpPr/>
          <p:nvPr/>
        </p:nvSpPr>
        <p:spPr>
          <a:xfrm>
            <a:off x="566928" y="5193792"/>
            <a:ext cx="11057839" cy="822960"/>
          </a:xfrm>
          <a:prstGeom prst="roundRect">
            <a:avLst>
              <a:gd name="adj" fmla="val 13333"/>
            </a:avLst>
          </a:prstGeom>
          <a:solidFill>
            <a:srgbClr val="F4F7FC"/>
          </a:solidFill>
          <a:ln/>
        </p:spPr>
        <p:txBody>
          <a:bodyPr/>
          <a:lstStyle/>
          <a:p>
            <a:endParaRPr lang="en-AE"/>
          </a:p>
        </p:txBody>
      </p:sp>
      <p:sp>
        <p:nvSpPr>
          <p:cNvPr id="37" name="Text 35"/>
          <p:cNvSpPr txBox="1"/>
          <p:nvPr/>
        </p:nvSpPr>
        <p:spPr>
          <a:xfrm>
            <a:off x="859536" y="5193792"/>
            <a:ext cx="10472623" cy="822960"/>
          </a:xfrm>
          <a:prstGeom prst="rect">
            <a:avLst/>
          </a:prstGeom>
          <a:noFill/>
          <a:ln/>
        </p:spPr>
        <p:txBody>
          <a:bodyPr wrap="square" lIns="0" tIns="0" rIns="0" bIns="0" rtlCol="0" anchor="ctr"/>
          <a:lstStyle/>
          <a:p>
            <a:pPr marL="0" indent="0">
              <a:lnSpc>
                <a:spcPct val="110000"/>
              </a:lnSpc>
              <a:buNone/>
            </a:pPr>
            <a:r>
              <a:rPr lang="en-US" sz="1200" b="1" dirty="0">
                <a:solidFill>
                  <a:srgbClr val="0F1E3D"/>
                </a:solidFill>
                <a:latin typeface="Calibri" pitchFamily="34" charset="0"/>
                <a:ea typeface="Calibri" pitchFamily="34" charset="-122"/>
                <a:cs typeface="Calibri" pitchFamily="34" charset="-120"/>
              </a:rPr>
              <a:t>What we need from you to hold the eight-week date:  </a:t>
            </a:r>
            <a:r>
              <a:rPr lang="en-US" sz="1200" dirty="0">
                <a:solidFill>
                  <a:srgbClr val="4A5568"/>
                </a:solidFill>
                <a:latin typeface="Calibri" pitchFamily="34" charset="0"/>
                <a:ea typeface="Calibri" pitchFamily="34" charset="-122"/>
                <a:cs typeface="Calibri" pitchFamily="34" charset="-120"/>
              </a:rPr>
              <a:t>a nominated product owner with decision authority, brand assets and CMS access in week 1, feedback within three business days at each gate, and your store and cloud accounts ready before kickoff.</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E3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58368" y="1810512"/>
            <a:ext cx="7315200" cy="274320"/>
          </a:xfrm>
          <a:prstGeom prst="rect">
            <a:avLst/>
          </a:prstGeom>
          <a:noFill/>
          <a:ln/>
        </p:spPr>
        <p:txBody>
          <a:bodyPr wrap="square" lIns="0" tIns="0" rIns="0" bIns="0" rtlCol="0" anchor="ctr"/>
          <a:lstStyle/>
          <a:p>
            <a:pPr marL="0" indent="0">
              <a:buNone/>
            </a:pPr>
            <a:r>
              <a:rPr lang="en-US" sz="1100" b="1" kern="0" spc="320" dirty="0">
                <a:solidFill>
                  <a:srgbClr val="F0A81C"/>
                </a:solidFill>
                <a:latin typeface="Calibri" pitchFamily="34" charset="0"/>
                <a:ea typeface="Calibri" pitchFamily="34" charset="-122"/>
                <a:cs typeface="Calibri" pitchFamily="34" charset="-120"/>
              </a:rPr>
              <a:t>LET'S BUILD IT</a:t>
            </a:r>
            <a:endParaRPr lang="en-US" sz="1100" dirty="0"/>
          </a:p>
        </p:txBody>
      </p:sp>
      <p:sp>
        <p:nvSpPr>
          <p:cNvPr id="4" name="Text 1"/>
          <p:cNvSpPr txBox="1"/>
          <p:nvPr/>
        </p:nvSpPr>
        <p:spPr>
          <a:xfrm>
            <a:off x="658368" y="2176272"/>
            <a:ext cx="7498080" cy="1554480"/>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Karnataka's news,</a:t>
            </a:r>
            <a:endParaRPr lang="en-US" sz="4000" dirty="0"/>
          </a:p>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in every reader's pocket.</a:t>
            </a:r>
            <a:endParaRPr lang="en-US" sz="4000" dirty="0"/>
          </a:p>
        </p:txBody>
      </p:sp>
      <p:sp>
        <p:nvSpPr>
          <p:cNvPr id="5" name="Text 2"/>
          <p:cNvSpPr txBox="1"/>
          <p:nvPr/>
        </p:nvSpPr>
        <p:spPr>
          <a:xfrm>
            <a:off x="658368" y="3822192"/>
            <a:ext cx="7498080" cy="365760"/>
          </a:xfrm>
          <a:prstGeom prst="rect">
            <a:avLst/>
          </a:prstGeom>
          <a:noFill/>
          <a:ln/>
        </p:spPr>
        <p:txBody>
          <a:bodyPr wrap="square" lIns="0" tIns="0" rIns="0" bIns="0" rtlCol="0" anchor="ctr"/>
          <a:lstStyle/>
          <a:p>
            <a:pPr marL="0" indent="0">
              <a:buNone/>
            </a:pPr>
            <a:r>
              <a:rPr lang="en-US" sz="1500" dirty="0">
                <a:solidFill>
                  <a:srgbClr val="C9D6EC"/>
                </a:solidFill>
                <a:latin typeface="Calibri" pitchFamily="34" charset="0"/>
                <a:ea typeface="Calibri" pitchFamily="34" charset="-122"/>
                <a:cs typeface="Calibri" pitchFamily="34" charset="-120"/>
              </a:rPr>
              <a:t>Three platforms · Two languages · One AI-ranked, hyperlocal feed · Eight weeks</a:t>
            </a:r>
            <a:endParaRPr lang="en-US" sz="1500" dirty="0"/>
          </a:p>
        </p:txBody>
      </p:sp>
      <p:sp>
        <p:nvSpPr>
          <p:cNvPr id="6" name="Shape 3"/>
          <p:cNvSpPr/>
          <p:nvPr/>
        </p:nvSpPr>
        <p:spPr>
          <a:xfrm>
            <a:off x="658368" y="4535424"/>
            <a:ext cx="5029200" cy="1280160"/>
          </a:xfrm>
          <a:prstGeom prst="roundRect">
            <a:avLst>
              <a:gd name="adj" fmla="val 8571"/>
            </a:avLst>
          </a:prstGeom>
          <a:solidFill>
            <a:srgbClr val="FFFFFF">
              <a:alpha val="10000"/>
            </a:srgbClr>
          </a:solidFill>
          <a:ln w="12700">
            <a:solidFill>
              <a:srgbClr val="FFFFFF">
                <a:alpha val="22000"/>
              </a:srgbClr>
            </a:solidFill>
            <a:prstDash val="solid"/>
          </a:ln>
        </p:spPr>
        <p:txBody>
          <a:bodyPr/>
          <a:lstStyle/>
          <a:p>
            <a:endParaRPr lang="en-AE"/>
          </a:p>
        </p:txBody>
      </p:sp>
      <p:sp>
        <p:nvSpPr>
          <p:cNvPr id="7" name="Text 4"/>
          <p:cNvSpPr txBox="1"/>
          <p:nvPr/>
        </p:nvSpPr>
        <p:spPr>
          <a:xfrm>
            <a:off x="950976" y="4718304"/>
            <a:ext cx="3108960" cy="329184"/>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Opus Infinite</a:t>
            </a:r>
            <a:endParaRPr lang="en-US" sz="1900" dirty="0"/>
          </a:p>
        </p:txBody>
      </p:sp>
      <p:sp>
        <p:nvSpPr>
          <p:cNvPr id="8" name="Text 5"/>
          <p:cNvSpPr txBox="1"/>
          <p:nvPr/>
        </p:nvSpPr>
        <p:spPr>
          <a:xfrm>
            <a:off x="950976" y="5029200"/>
            <a:ext cx="3657600" cy="237744"/>
          </a:xfrm>
          <a:prstGeom prst="rect">
            <a:avLst/>
          </a:prstGeom>
          <a:noFill/>
          <a:ln/>
        </p:spPr>
        <p:txBody>
          <a:bodyPr wrap="square" lIns="0" tIns="0" rIns="0" bIns="0" rtlCol="0" anchor="ctr"/>
          <a:lstStyle/>
          <a:p>
            <a:pPr marL="0" indent="0">
              <a:buNone/>
            </a:pPr>
            <a:r>
              <a:rPr lang="en-US" sz="1050" dirty="0">
                <a:solidFill>
                  <a:srgbClr val="B9C8E2"/>
                </a:solidFill>
                <a:latin typeface="Calibri" pitchFamily="34" charset="0"/>
                <a:ea typeface="Calibri" pitchFamily="34" charset="-122"/>
                <a:cs typeface="Calibri" pitchFamily="34" charset="-120"/>
              </a:rPr>
              <a:t>Product engineering &amp; applied AI</a:t>
            </a:r>
            <a:endParaRPr lang="en-US" sz="1050" dirty="0"/>
          </a:p>
        </p:txBody>
      </p:sp>
      <p:pic>
        <p:nvPicPr>
          <p:cNvPr id="9" name="Image 1" descr="preencoded.png"/>
          <p:cNvPicPr>
            <a:picLocks noChangeAspect="1"/>
          </p:cNvPicPr>
          <p:nvPr/>
        </p:nvPicPr>
        <p:blipFill>
          <a:blip r:embed="rId4"/>
          <a:stretch>
            <a:fillRect/>
          </a:stretch>
        </p:blipFill>
        <p:spPr>
          <a:xfrm>
            <a:off x="950976" y="5394960"/>
            <a:ext cx="155448" cy="155448"/>
          </a:xfrm>
          <a:prstGeom prst="rect">
            <a:avLst/>
          </a:prstGeom>
        </p:spPr>
      </p:pic>
      <p:pic>
        <p:nvPicPr>
          <p:cNvPr id="11" name="Image 2" descr="preencoded.png"/>
          <p:cNvPicPr>
            <a:picLocks noChangeAspect="1"/>
          </p:cNvPicPr>
          <p:nvPr/>
        </p:nvPicPr>
        <p:blipFill>
          <a:blip r:embed="rId5"/>
          <a:stretch>
            <a:fillRect/>
          </a:stretch>
        </p:blipFill>
        <p:spPr>
          <a:xfrm>
            <a:off x="3493008" y="5394960"/>
            <a:ext cx="155448" cy="155448"/>
          </a:xfrm>
          <a:prstGeom prst="rect">
            <a:avLst/>
          </a:prstGeom>
        </p:spPr>
      </p:pic>
      <p:sp>
        <p:nvSpPr>
          <p:cNvPr id="12" name="Text 7"/>
          <p:cNvSpPr txBox="1"/>
          <p:nvPr/>
        </p:nvSpPr>
        <p:spPr>
          <a:xfrm>
            <a:off x="3730752" y="5330952"/>
            <a:ext cx="182880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+91 __________</a:t>
            </a:r>
            <a:endParaRPr lang="en-US" sz="1150" dirty="0"/>
          </a:p>
        </p:txBody>
      </p:sp>
      <p:sp>
        <p:nvSpPr>
          <p:cNvPr id="13" name="Shape 8"/>
          <p:cNvSpPr/>
          <p:nvPr/>
        </p:nvSpPr>
        <p:spPr>
          <a:xfrm>
            <a:off x="8686800" y="2322576"/>
            <a:ext cx="274320" cy="274320"/>
          </a:xfrm>
          <a:prstGeom prst="ellipse">
            <a:avLst/>
          </a:prstGeom>
          <a:solidFill>
            <a:srgbClr val="C8102E"/>
          </a:solidFill>
          <a:ln/>
        </p:spPr>
        <p:txBody>
          <a:bodyPr/>
          <a:lstStyle/>
          <a:p>
            <a:endParaRPr lang="en-AE"/>
          </a:p>
        </p:txBody>
      </p:sp>
      <p:pic>
        <p:nvPicPr>
          <p:cNvPr id="14" name="Image 3" descr="preencoded.png"/>
          <p:cNvPicPr>
            <a:picLocks noChangeAspect="1"/>
          </p:cNvPicPr>
          <p:nvPr/>
        </p:nvPicPr>
        <p:blipFill>
          <a:blip r:embed="rId6"/>
          <a:stretch>
            <a:fillRect/>
          </a:stretch>
        </p:blipFill>
        <p:spPr>
          <a:xfrm>
            <a:off x="8755380" y="2391156"/>
            <a:ext cx="137160" cy="137160"/>
          </a:xfrm>
          <a:prstGeom prst="rect">
            <a:avLst/>
          </a:prstGeom>
        </p:spPr>
      </p:pic>
      <p:sp>
        <p:nvSpPr>
          <p:cNvPr id="15" name="Text 9"/>
          <p:cNvSpPr txBox="1"/>
          <p:nvPr/>
        </p:nvSpPr>
        <p:spPr>
          <a:xfrm>
            <a:off x="9107424" y="2286000"/>
            <a:ext cx="2560320" cy="34747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Walkthrough call this week</a:t>
            </a:r>
            <a:endParaRPr lang="en-US" sz="1250" dirty="0"/>
          </a:p>
        </p:txBody>
      </p:sp>
      <p:sp>
        <p:nvSpPr>
          <p:cNvPr id="16" name="Shape 10"/>
          <p:cNvSpPr/>
          <p:nvPr/>
        </p:nvSpPr>
        <p:spPr>
          <a:xfrm>
            <a:off x="8686800" y="2926080"/>
            <a:ext cx="274320" cy="274320"/>
          </a:xfrm>
          <a:prstGeom prst="ellipse">
            <a:avLst/>
          </a:prstGeom>
          <a:solidFill>
            <a:srgbClr val="C8102E"/>
          </a:solidFill>
          <a:ln/>
        </p:spPr>
        <p:txBody>
          <a:bodyPr/>
          <a:lstStyle/>
          <a:p>
            <a:endParaRPr lang="en-AE"/>
          </a:p>
        </p:txBody>
      </p:sp>
      <p:pic>
        <p:nvPicPr>
          <p:cNvPr id="17" name="Image 4" descr="preencoded.png"/>
          <p:cNvPicPr>
            <a:picLocks noChangeAspect="1"/>
          </p:cNvPicPr>
          <p:nvPr/>
        </p:nvPicPr>
        <p:blipFill>
          <a:blip r:embed="rId6"/>
          <a:stretch>
            <a:fillRect/>
          </a:stretch>
        </p:blipFill>
        <p:spPr>
          <a:xfrm>
            <a:off x="8755380" y="2994660"/>
            <a:ext cx="137160" cy="137160"/>
          </a:xfrm>
          <a:prstGeom prst="rect">
            <a:avLst/>
          </a:prstGeom>
        </p:spPr>
      </p:pic>
      <p:sp>
        <p:nvSpPr>
          <p:cNvPr id="18" name="Text 11"/>
          <p:cNvSpPr txBox="1"/>
          <p:nvPr/>
        </p:nvSpPr>
        <p:spPr>
          <a:xfrm>
            <a:off x="9107424" y="2889504"/>
            <a:ext cx="2560320" cy="34747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Revised proposal within a week</a:t>
            </a:r>
            <a:endParaRPr lang="en-US" sz="1250" dirty="0"/>
          </a:p>
        </p:txBody>
      </p:sp>
      <p:sp>
        <p:nvSpPr>
          <p:cNvPr id="19" name="Shape 12"/>
          <p:cNvSpPr/>
          <p:nvPr/>
        </p:nvSpPr>
        <p:spPr>
          <a:xfrm>
            <a:off x="8686800" y="3529584"/>
            <a:ext cx="274320" cy="274320"/>
          </a:xfrm>
          <a:prstGeom prst="ellipse">
            <a:avLst/>
          </a:prstGeom>
          <a:solidFill>
            <a:srgbClr val="C8102E"/>
          </a:solidFill>
          <a:ln/>
        </p:spPr>
        <p:txBody>
          <a:bodyPr/>
          <a:lstStyle/>
          <a:p>
            <a:endParaRPr lang="en-AE"/>
          </a:p>
        </p:txBody>
      </p:sp>
      <p:pic>
        <p:nvPicPr>
          <p:cNvPr id="20" name="Image 5" descr="preencoded.png"/>
          <p:cNvPicPr>
            <a:picLocks noChangeAspect="1"/>
          </p:cNvPicPr>
          <p:nvPr/>
        </p:nvPicPr>
        <p:blipFill>
          <a:blip r:embed="rId6"/>
          <a:stretch>
            <a:fillRect/>
          </a:stretch>
        </p:blipFill>
        <p:spPr>
          <a:xfrm>
            <a:off x="8755380" y="3598164"/>
            <a:ext cx="137160" cy="137160"/>
          </a:xfrm>
          <a:prstGeom prst="rect">
            <a:avLst/>
          </a:prstGeom>
        </p:spPr>
      </p:pic>
      <p:sp>
        <p:nvSpPr>
          <p:cNvPr id="21" name="Text 13"/>
          <p:cNvSpPr txBox="1"/>
          <p:nvPr/>
        </p:nvSpPr>
        <p:spPr>
          <a:xfrm>
            <a:off x="9107424" y="3493008"/>
            <a:ext cx="2560320" cy="347472"/>
          </a:xfrm>
          <a:prstGeom prst="rect">
            <a:avLst/>
          </a:prstGeom>
          <a:noFill/>
          <a:ln/>
        </p:spPr>
        <p:txBody>
          <a:bodyPr wrap="square" lIns="0" tIns="0" rIns="0" bIns="0" rtlCol="0" anchor="ctr"/>
          <a:lstStyle/>
          <a:p>
            <a:pPr marL="0" indent="0">
              <a:buNone/>
            </a:pPr>
            <a:r>
              <a:rPr lang="en-US" sz="1250" dirty="0">
                <a:solidFill>
                  <a:srgbClr val="DCE5F2"/>
                </a:solidFill>
                <a:latin typeface="Calibri" pitchFamily="34" charset="0"/>
                <a:ea typeface="Calibri" pitchFamily="34" charset="-122"/>
                <a:cs typeface="Calibri" pitchFamily="34" charset="-120"/>
              </a:rPr>
              <a:t>Kickoff inside a fortnight</a:t>
            </a:r>
            <a:endParaRPr lang="en-US" sz="1250" dirty="0"/>
          </a:p>
        </p:txBody>
      </p:sp>
      <p:sp>
        <p:nvSpPr>
          <p:cNvPr id="22" name="Text 14"/>
          <p:cNvSpPr txBox="1"/>
          <p:nvPr/>
        </p:nvSpPr>
        <p:spPr>
          <a:xfrm>
            <a:off x="658368" y="6291072"/>
            <a:ext cx="9144000" cy="274320"/>
          </a:xfrm>
          <a:prstGeom prst="rect">
            <a:avLst/>
          </a:prstGeom>
          <a:noFill/>
          <a:ln/>
        </p:spPr>
        <p:txBody>
          <a:bodyPr wrap="square" lIns="0" tIns="0" rIns="0" bIns="0" rtlCol="0" anchor="ctr"/>
          <a:lstStyle/>
          <a:p>
            <a:pPr marL="0" indent="0">
              <a:buNone/>
            </a:pPr>
            <a:r>
              <a:rPr lang="en-US" sz="950" dirty="0">
                <a:solidFill>
                  <a:srgbClr val="8FA0BF"/>
                </a:solidFill>
                <a:latin typeface="Calibri" pitchFamily="34" charset="0"/>
                <a:ea typeface="Calibri" pitchFamily="34" charset="-122"/>
                <a:cs typeface="Calibri" pitchFamily="34" charset="-120"/>
              </a:rPr>
              <a:t>Advanced News Platform  ·  Proposal V1.0  ·  03 September 2026  ·  Confidential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7697</Words>
  <Application>Microsoft Macintosh PowerPoint</Application>
  <PresentationFormat>Widescreen</PresentationFormat>
  <Paragraphs>1208</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Opus Infinite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News Platform — Proposal for News Karnataka</dc:title>
  <dc:subject>Mobile + Web news platform with AI-driven hyperlocal personalisation</dc:subject>
  <dc:creator>Opus Infinite</dc:creator>
  <cp:lastModifiedBy>Alex Pawan</cp:lastModifiedBy>
  <cp:revision>2</cp:revision>
  <dcterms:created xsi:type="dcterms:W3CDTF">2026-09-03T10:22:10Z</dcterms:created>
  <dcterms:modified xsi:type="dcterms:W3CDTF">2026-09-03T20:32:48Z</dcterms:modified>
</cp:coreProperties>
</file>